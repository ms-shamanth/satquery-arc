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E6D6"/>
    <a:srgbClr val="000D16"/>
    <a:srgbClr val="1EABDA"/>
    <a:srgbClr val="01CF7C"/>
    <a:srgbClr val="00E8FD"/>
    <a:srgbClr val="484848"/>
    <a:srgbClr val="0070C0"/>
    <a:srgbClr val="FFFFFF"/>
    <a:srgbClr val="FDFBF7"/>
    <a:srgbClr val="1737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40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3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12.jpeg"/><Relationship Id="rId17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jpeg"/><Relationship Id="rId15" Type="http://schemas.microsoft.com/office/2007/relationships/hdphoto" Target="../media/hdphoto1.wdp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hyperlink" Target="https://satquery-arc.vercel.app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arxiv.org/abs/2211.07044" TargetMode="External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1603.09320" TargetMode="External"/><Relationship Id="rId11" Type="http://schemas.openxmlformats.org/officeDocument/2006/relationships/image" Target="../media/image21.png"/><Relationship Id="rId5" Type="http://schemas.openxmlformats.org/officeDocument/2006/relationships/hyperlink" Target="https://doi.org/10.1016/j.rse.2014.01.011" TargetMode="External"/><Relationship Id="rId10" Type="http://schemas.openxmlformats.org/officeDocument/2006/relationships/image" Target="../media/image20.png"/><Relationship Id="rId4" Type="http://schemas.openxmlformats.org/officeDocument/2006/relationships/hyperlink" Target="https://arxiv.org/abs/2306.11029" TargetMode="External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3969" y="1699410"/>
            <a:ext cx="7908147" cy="4732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SIH26227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Semantic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  Retrieval and Multi-Temporal Change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  Analysis of Satellite Imagery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-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Space Technology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136055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Byte Bandits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AFCCE047-D027-7204-39D0-92C04167D9B9}"/>
              </a:ext>
            </a:extLst>
          </p:cNvPr>
          <p:cNvSpPr/>
          <p:nvPr/>
        </p:nvSpPr>
        <p:spPr>
          <a:xfrm>
            <a:off x="1" y="1117054"/>
            <a:ext cx="12155425" cy="507726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DD56AA8-35D9-1E92-6F83-0ACFFF77E375}"/>
              </a:ext>
            </a:extLst>
          </p:cNvPr>
          <p:cNvSpPr/>
          <p:nvPr/>
        </p:nvSpPr>
        <p:spPr>
          <a:xfrm>
            <a:off x="2" y="-8369"/>
            <a:ext cx="12192000" cy="114300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BD8D8B-6F30-1052-30EC-D26A54A8FF3B}"/>
              </a:ext>
            </a:extLst>
          </p:cNvPr>
          <p:cNvSpPr/>
          <p:nvPr/>
        </p:nvSpPr>
        <p:spPr>
          <a:xfrm>
            <a:off x="0" y="6194323"/>
            <a:ext cx="12192000" cy="662177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450498" y="-34157"/>
            <a:ext cx="10972800" cy="1143000"/>
          </a:xfrm>
        </p:spPr>
        <p:txBody>
          <a:bodyPr/>
          <a:lstStyle/>
          <a:p>
            <a:pPr eaLnBrk="1" hangingPunct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SatQuery ARC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Archive Search &amp; Verified Change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20FA8C71-3B45-CDD7-8A05-EA7A976DF5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236004"/>
            <a:ext cx="1931646" cy="593328"/>
          </a:xfrm>
          <a:prstGeom prst="ellips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Byte Bandits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084AE03-EE91-07F0-37B3-C7EDB9772CCF}"/>
              </a:ext>
            </a:extLst>
          </p:cNvPr>
          <p:cNvSpPr/>
          <p:nvPr/>
        </p:nvSpPr>
        <p:spPr>
          <a:xfrm>
            <a:off x="162064" y="6255411"/>
            <a:ext cx="2126475" cy="540000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9D02958-6A3D-FAB0-6003-1690637C076C}"/>
              </a:ext>
            </a:extLst>
          </p:cNvPr>
          <p:cNvSpPr/>
          <p:nvPr/>
        </p:nvSpPr>
        <p:spPr>
          <a:xfrm>
            <a:off x="2450603" y="6255411"/>
            <a:ext cx="2126475" cy="540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D8C2BA6-3C87-AEA7-97EC-9D86E3FAD587}"/>
              </a:ext>
            </a:extLst>
          </p:cNvPr>
          <p:cNvSpPr/>
          <p:nvPr/>
        </p:nvSpPr>
        <p:spPr>
          <a:xfrm>
            <a:off x="4739142" y="6259469"/>
            <a:ext cx="2126475" cy="540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6B8ABDD-A634-DA09-6B94-F296D1CA9DA4}"/>
              </a:ext>
            </a:extLst>
          </p:cNvPr>
          <p:cNvSpPr/>
          <p:nvPr/>
        </p:nvSpPr>
        <p:spPr>
          <a:xfrm>
            <a:off x="7027681" y="6262280"/>
            <a:ext cx="2126475" cy="540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931E93D-DF27-0D55-F1D6-A31A2DB71B3E}"/>
              </a:ext>
            </a:extLst>
          </p:cNvPr>
          <p:cNvSpPr/>
          <p:nvPr/>
        </p:nvSpPr>
        <p:spPr>
          <a:xfrm>
            <a:off x="9316220" y="6262280"/>
            <a:ext cx="2126475" cy="540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14316C1-CAD0-C90E-7760-F923582A389E}"/>
              </a:ext>
            </a:extLst>
          </p:cNvPr>
          <p:cNvSpPr/>
          <p:nvPr/>
        </p:nvSpPr>
        <p:spPr>
          <a:xfrm>
            <a:off x="11628377" y="6281879"/>
            <a:ext cx="504000" cy="504000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6AD1999E-1D20-CE51-1E53-91111B1A2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486" y="6352756"/>
            <a:ext cx="285135" cy="365125"/>
          </a:xfrm>
        </p:spPr>
        <p:txBody>
          <a:bodyPr/>
          <a:lstStyle/>
          <a:p>
            <a:fld id="{677C3CE7-23F7-4828-823C-E0205DF2CF97}" type="slidenum">
              <a:rPr lang="en-US" sz="1800" b="1" smtClean="0">
                <a:solidFill>
                  <a:schemeClr val="tx1"/>
                </a:solidFill>
              </a:rPr>
              <a:pPr/>
              <a:t>2</a:t>
            </a:fld>
            <a:endParaRPr lang="en-US" sz="1600" b="1" dirty="0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B2DF39A-0DE3-3941-564F-575412DE66B7}"/>
              </a:ext>
            </a:extLst>
          </p:cNvPr>
          <p:cNvGrpSpPr/>
          <p:nvPr/>
        </p:nvGrpSpPr>
        <p:grpSpPr>
          <a:xfrm>
            <a:off x="4066235" y="1287900"/>
            <a:ext cx="4504554" cy="4860000"/>
            <a:chOff x="2181225" y="509587"/>
            <a:chExt cx="4781550" cy="5838825"/>
          </a:xfrm>
          <a:solidFill>
            <a:schemeClr val="bg1"/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DE796A5-F3FB-DC61-F6CC-61C0DFE02CCF}"/>
                </a:ext>
              </a:extLst>
            </p:cNvPr>
            <p:cNvSpPr/>
            <p:nvPr/>
          </p:nvSpPr>
          <p:spPr>
            <a:xfrm>
              <a:off x="2181225" y="509587"/>
              <a:ext cx="4781550" cy="5838825"/>
            </a:xfrm>
            <a:prstGeom prst="rect">
              <a:avLst/>
            </a:prstGeom>
            <a:grpFill/>
            <a:ln>
              <a:noFill/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6" name="Rounded Rectangle 2">
              <a:extLst>
                <a:ext uri="{FF2B5EF4-FFF2-40B4-BE49-F238E27FC236}">
                  <a16:creationId xmlns:a16="http://schemas.microsoft.com/office/drawing/2014/main" id="{F17E5E34-6795-282A-1086-63E3A0B8E43A}"/>
                </a:ext>
              </a:extLst>
            </p:cNvPr>
            <p:cNvSpPr/>
            <p:nvPr/>
          </p:nvSpPr>
          <p:spPr>
            <a:xfrm>
              <a:off x="2618286" y="3174875"/>
              <a:ext cx="1696402" cy="1088707"/>
            </a:xfrm>
            <a:custGeom>
              <a:avLst/>
              <a:gdLst/>
              <a:ahLst/>
              <a:cxnLst/>
              <a:rect l="0" t="0" r="0" b="0"/>
              <a:pathLst>
                <a:path w="1696402" h="1088707">
                  <a:moveTo>
                    <a:pt x="15240" y="459104"/>
                  </a:moveTo>
                  <a:lnTo>
                    <a:pt x="71437" y="471487"/>
                  </a:lnTo>
                  <a:lnTo>
                    <a:pt x="55244" y="539115"/>
                  </a:lnTo>
                  <a:lnTo>
                    <a:pt x="0" y="522922"/>
                  </a:lnTo>
                  <a:lnTo>
                    <a:pt x="15240" y="459104"/>
                  </a:lnTo>
                  <a:moveTo>
                    <a:pt x="55244" y="539115"/>
                  </a:moveTo>
                  <a:lnTo>
                    <a:pt x="140969" y="290512"/>
                  </a:lnTo>
                  <a:lnTo>
                    <a:pt x="83819" y="279082"/>
                  </a:lnTo>
                  <a:lnTo>
                    <a:pt x="0" y="522922"/>
                  </a:lnTo>
                  <a:lnTo>
                    <a:pt x="55244" y="539115"/>
                  </a:lnTo>
                  <a:moveTo>
                    <a:pt x="83819" y="279082"/>
                  </a:moveTo>
                  <a:lnTo>
                    <a:pt x="140969" y="290512"/>
                  </a:lnTo>
                  <a:lnTo>
                    <a:pt x="105727" y="784860"/>
                  </a:lnTo>
                  <a:lnTo>
                    <a:pt x="49530" y="778192"/>
                  </a:lnTo>
                  <a:lnTo>
                    <a:pt x="83819" y="279082"/>
                  </a:lnTo>
                  <a:moveTo>
                    <a:pt x="105727" y="784860"/>
                  </a:moveTo>
                  <a:lnTo>
                    <a:pt x="207644" y="182879"/>
                  </a:lnTo>
                  <a:lnTo>
                    <a:pt x="150494" y="178117"/>
                  </a:lnTo>
                  <a:lnTo>
                    <a:pt x="49530" y="778192"/>
                  </a:lnTo>
                  <a:lnTo>
                    <a:pt x="105727" y="784860"/>
                  </a:lnTo>
                  <a:moveTo>
                    <a:pt x="150494" y="178117"/>
                  </a:moveTo>
                  <a:lnTo>
                    <a:pt x="207644" y="182879"/>
                  </a:lnTo>
                  <a:lnTo>
                    <a:pt x="201930" y="455295"/>
                  </a:lnTo>
                  <a:lnTo>
                    <a:pt x="144780" y="447675"/>
                  </a:lnTo>
                  <a:lnTo>
                    <a:pt x="150494" y="178117"/>
                  </a:lnTo>
                  <a:moveTo>
                    <a:pt x="201930" y="455295"/>
                  </a:moveTo>
                  <a:lnTo>
                    <a:pt x="280987" y="123825"/>
                  </a:lnTo>
                  <a:lnTo>
                    <a:pt x="223837" y="115252"/>
                  </a:lnTo>
                  <a:lnTo>
                    <a:pt x="144780" y="447675"/>
                  </a:lnTo>
                  <a:lnTo>
                    <a:pt x="201930" y="455295"/>
                  </a:lnTo>
                  <a:moveTo>
                    <a:pt x="223837" y="115252"/>
                  </a:moveTo>
                  <a:lnTo>
                    <a:pt x="280987" y="123825"/>
                  </a:lnTo>
                  <a:lnTo>
                    <a:pt x="268605" y="332422"/>
                  </a:lnTo>
                  <a:lnTo>
                    <a:pt x="212407" y="322897"/>
                  </a:lnTo>
                  <a:lnTo>
                    <a:pt x="223837" y="115252"/>
                  </a:lnTo>
                  <a:moveTo>
                    <a:pt x="268605" y="332422"/>
                  </a:moveTo>
                  <a:lnTo>
                    <a:pt x="338137" y="74295"/>
                  </a:lnTo>
                  <a:lnTo>
                    <a:pt x="281939" y="64770"/>
                  </a:lnTo>
                  <a:lnTo>
                    <a:pt x="212407" y="322897"/>
                  </a:lnTo>
                  <a:lnTo>
                    <a:pt x="268605" y="332422"/>
                  </a:lnTo>
                  <a:moveTo>
                    <a:pt x="281939" y="64770"/>
                  </a:moveTo>
                  <a:lnTo>
                    <a:pt x="338137" y="74295"/>
                  </a:lnTo>
                  <a:lnTo>
                    <a:pt x="328612" y="242887"/>
                  </a:lnTo>
                  <a:lnTo>
                    <a:pt x="271462" y="232410"/>
                  </a:lnTo>
                  <a:lnTo>
                    <a:pt x="281939" y="64770"/>
                  </a:lnTo>
                  <a:moveTo>
                    <a:pt x="328612" y="242887"/>
                  </a:moveTo>
                  <a:lnTo>
                    <a:pt x="389572" y="56197"/>
                  </a:lnTo>
                  <a:lnTo>
                    <a:pt x="332422" y="47625"/>
                  </a:lnTo>
                  <a:lnTo>
                    <a:pt x="271462" y="232410"/>
                  </a:lnTo>
                  <a:lnTo>
                    <a:pt x="328612" y="242887"/>
                  </a:lnTo>
                  <a:moveTo>
                    <a:pt x="332422" y="47625"/>
                  </a:moveTo>
                  <a:lnTo>
                    <a:pt x="333375" y="199072"/>
                  </a:lnTo>
                  <a:lnTo>
                    <a:pt x="390525" y="209550"/>
                  </a:lnTo>
                  <a:lnTo>
                    <a:pt x="389572" y="56197"/>
                  </a:lnTo>
                  <a:lnTo>
                    <a:pt x="332422" y="47625"/>
                  </a:lnTo>
                  <a:moveTo>
                    <a:pt x="390525" y="209550"/>
                  </a:moveTo>
                  <a:lnTo>
                    <a:pt x="451485" y="49529"/>
                  </a:lnTo>
                  <a:lnTo>
                    <a:pt x="393382" y="41910"/>
                  </a:lnTo>
                  <a:lnTo>
                    <a:pt x="333375" y="199072"/>
                  </a:lnTo>
                  <a:lnTo>
                    <a:pt x="390525" y="209550"/>
                  </a:lnTo>
                  <a:moveTo>
                    <a:pt x="393382" y="41910"/>
                  </a:moveTo>
                  <a:lnTo>
                    <a:pt x="403860" y="165735"/>
                  </a:lnTo>
                  <a:lnTo>
                    <a:pt x="461010" y="172402"/>
                  </a:lnTo>
                  <a:lnTo>
                    <a:pt x="451485" y="49529"/>
                  </a:lnTo>
                  <a:lnTo>
                    <a:pt x="393382" y="41910"/>
                  </a:lnTo>
                  <a:moveTo>
                    <a:pt x="461010" y="172402"/>
                  </a:moveTo>
                  <a:lnTo>
                    <a:pt x="505777" y="35242"/>
                  </a:lnTo>
                  <a:lnTo>
                    <a:pt x="449580" y="25717"/>
                  </a:lnTo>
                  <a:lnTo>
                    <a:pt x="403860" y="165735"/>
                  </a:lnTo>
                  <a:lnTo>
                    <a:pt x="461010" y="172402"/>
                  </a:lnTo>
                  <a:moveTo>
                    <a:pt x="449580" y="25717"/>
                  </a:moveTo>
                  <a:lnTo>
                    <a:pt x="505777" y="35242"/>
                  </a:lnTo>
                  <a:lnTo>
                    <a:pt x="500062" y="181927"/>
                  </a:lnTo>
                  <a:lnTo>
                    <a:pt x="443864" y="165735"/>
                  </a:lnTo>
                  <a:lnTo>
                    <a:pt x="449580" y="25717"/>
                  </a:lnTo>
                  <a:moveTo>
                    <a:pt x="500062" y="181927"/>
                  </a:moveTo>
                  <a:lnTo>
                    <a:pt x="594360" y="24765"/>
                  </a:lnTo>
                  <a:lnTo>
                    <a:pt x="536257" y="8572"/>
                  </a:lnTo>
                  <a:lnTo>
                    <a:pt x="443864" y="165735"/>
                  </a:lnTo>
                  <a:lnTo>
                    <a:pt x="500062" y="181927"/>
                  </a:lnTo>
                  <a:moveTo>
                    <a:pt x="536257" y="8572"/>
                  </a:moveTo>
                  <a:lnTo>
                    <a:pt x="538162" y="148590"/>
                  </a:lnTo>
                  <a:lnTo>
                    <a:pt x="595312" y="160972"/>
                  </a:lnTo>
                  <a:lnTo>
                    <a:pt x="594360" y="24765"/>
                  </a:lnTo>
                  <a:lnTo>
                    <a:pt x="536257" y="8572"/>
                  </a:lnTo>
                  <a:moveTo>
                    <a:pt x="595312" y="160972"/>
                  </a:moveTo>
                  <a:lnTo>
                    <a:pt x="655320" y="35242"/>
                  </a:lnTo>
                  <a:lnTo>
                    <a:pt x="600075" y="18097"/>
                  </a:lnTo>
                  <a:lnTo>
                    <a:pt x="538162" y="148590"/>
                  </a:lnTo>
                  <a:lnTo>
                    <a:pt x="595312" y="160972"/>
                  </a:lnTo>
                  <a:moveTo>
                    <a:pt x="600075" y="18097"/>
                  </a:moveTo>
                  <a:lnTo>
                    <a:pt x="655320" y="35242"/>
                  </a:lnTo>
                  <a:lnTo>
                    <a:pt x="635317" y="171450"/>
                  </a:lnTo>
                  <a:lnTo>
                    <a:pt x="580072" y="154304"/>
                  </a:lnTo>
                  <a:lnTo>
                    <a:pt x="600075" y="18097"/>
                  </a:lnTo>
                  <a:moveTo>
                    <a:pt x="635317" y="171450"/>
                  </a:moveTo>
                  <a:lnTo>
                    <a:pt x="711517" y="20002"/>
                  </a:lnTo>
                  <a:lnTo>
                    <a:pt x="653415" y="7620"/>
                  </a:lnTo>
                  <a:lnTo>
                    <a:pt x="580072" y="154304"/>
                  </a:lnTo>
                  <a:lnTo>
                    <a:pt x="635317" y="171450"/>
                  </a:lnTo>
                  <a:moveTo>
                    <a:pt x="653415" y="7620"/>
                  </a:moveTo>
                  <a:lnTo>
                    <a:pt x="658177" y="144779"/>
                  </a:lnTo>
                  <a:lnTo>
                    <a:pt x="715327" y="156210"/>
                  </a:lnTo>
                  <a:lnTo>
                    <a:pt x="711517" y="20002"/>
                  </a:lnTo>
                  <a:lnTo>
                    <a:pt x="653415" y="7620"/>
                  </a:lnTo>
                  <a:moveTo>
                    <a:pt x="715327" y="156210"/>
                  </a:moveTo>
                  <a:lnTo>
                    <a:pt x="777240" y="16192"/>
                  </a:lnTo>
                  <a:lnTo>
                    <a:pt x="720090" y="3810"/>
                  </a:lnTo>
                  <a:lnTo>
                    <a:pt x="658177" y="144779"/>
                  </a:lnTo>
                  <a:lnTo>
                    <a:pt x="715327" y="156210"/>
                  </a:lnTo>
                  <a:moveTo>
                    <a:pt x="720090" y="3810"/>
                  </a:moveTo>
                  <a:lnTo>
                    <a:pt x="717232" y="160972"/>
                  </a:lnTo>
                  <a:lnTo>
                    <a:pt x="773430" y="174307"/>
                  </a:lnTo>
                  <a:lnTo>
                    <a:pt x="777240" y="16192"/>
                  </a:lnTo>
                  <a:lnTo>
                    <a:pt x="720090" y="3810"/>
                  </a:lnTo>
                  <a:moveTo>
                    <a:pt x="773430" y="174307"/>
                  </a:moveTo>
                  <a:lnTo>
                    <a:pt x="838200" y="35242"/>
                  </a:lnTo>
                  <a:lnTo>
                    <a:pt x="782002" y="20002"/>
                  </a:lnTo>
                  <a:lnTo>
                    <a:pt x="717232" y="160972"/>
                  </a:lnTo>
                  <a:lnTo>
                    <a:pt x="773430" y="174307"/>
                  </a:lnTo>
                  <a:moveTo>
                    <a:pt x="782002" y="20002"/>
                  </a:moveTo>
                  <a:lnTo>
                    <a:pt x="838200" y="35242"/>
                  </a:lnTo>
                  <a:lnTo>
                    <a:pt x="827722" y="169545"/>
                  </a:lnTo>
                  <a:lnTo>
                    <a:pt x="771525" y="156210"/>
                  </a:lnTo>
                  <a:lnTo>
                    <a:pt x="782002" y="20002"/>
                  </a:lnTo>
                  <a:moveTo>
                    <a:pt x="827722" y="169545"/>
                  </a:moveTo>
                  <a:lnTo>
                    <a:pt x="893445" y="13335"/>
                  </a:lnTo>
                  <a:lnTo>
                    <a:pt x="836295" y="1904"/>
                  </a:lnTo>
                  <a:lnTo>
                    <a:pt x="771525" y="156210"/>
                  </a:lnTo>
                  <a:lnTo>
                    <a:pt x="827722" y="169545"/>
                  </a:lnTo>
                  <a:moveTo>
                    <a:pt x="836295" y="1904"/>
                  </a:moveTo>
                  <a:lnTo>
                    <a:pt x="893445" y="13335"/>
                  </a:lnTo>
                  <a:lnTo>
                    <a:pt x="893445" y="163829"/>
                  </a:lnTo>
                  <a:lnTo>
                    <a:pt x="836295" y="151447"/>
                  </a:lnTo>
                  <a:lnTo>
                    <a:pt x="836295" y="1904"/>
                  </a:lnTo>
                  <a:moveTo>
                    <a:pt x="893445" y="163829"/>
                  </a:moveTo>
                  <a:lnTo>
                    <a:pt x="960120" y="17145"/>
                  </a:lnTo>
                  <a:lnTo>
                    <a:pt x="902970" y="2857"/>
                  </a:lnTo>
                  <a:lnTo>
                    <a:pt x="836295" y="151447"/>
                  </a:lnTo>
                  <a:lnTo>
                    <a:pt x="893445" y="163829"/>
                  </a:lnTo>
                  <a:moveTo>
                    <a:pt x="902970" y="2857"/>
                  </a:moveTo>
                  <a:lnTo>
                    <a:pt x="960120" y="17145"/>
                  </a:lnTo>
                  <a:lnTo>
                    <a:pt x="951547" y="169545"/>
                  </a:lnTo>
                  <a:lnTo>
                    <a:pt x="895350" y="155257"/>
                  </a:lnTo>
                  <a:lnTo>
                    <a:pt x="902970" y="2857"/>
                  </a:lnTo>
                  <a:moveTo>
                    <a:pt x="951547" y="169545"/>
                  </a:moveTo>
                  <a:lnTo>
                    <a:pt x="1024890" y="13335"/>
                  </a:lnTo>
                  <a:lnTo>
                    <a:pt x="967740" y="952"/>
                  </a:lnTo>
                  <a:lnTo>
                    <a:pt x="895350" y="155257"/>
                  </a:lnTo>
                  <a:lnTo>
                    <a:pt x="951547" y="169545"/>
                  </a:lnTo>
                  <a:moveTo>
                    <a:pt x="967740" y="952"/>
                  </a:moveTo>
                  <a:lnTo>
                    <a:pt x="969645" y="161925"/>
                  </a:lnTo>
                  <a:lnTo>
                    <a:pt x="1026795" y="172402"/>
                  </a:lnTo>
                  <a:lnTo>
                    <a:pt x="1024890" y="13335"/>
                  </a:lnTo>
                  <a:lnTo>
                    <a:pt x="967740" y="952"/>
                  </a:lnTo>
                  <a:moveTo>
                    <a:pt x="1026795" y="172402"/>
                  </a:moveTo>
                  <a:lnTo>
                    <a:pt x="1084897" y="24765"/>
                  </a:lnTo>
                  <a:lnTo>
                    <a:pt x="1027747" y="13335"/>
                  </a:lnTo>
                  <a:lnTo>
                    <a:pt x="969645" y="161925"/>
                  </a:lnTo>
                  <a:lnTo>
                    <a:pt x="1026795" y="172402"/>
                  </a:lnTo>
                  <a:moveTo>
                    <a:pt x="1027747" y="13335"/>
                  </a:moveTo>
                  <a:lnTo>
                    <a:pt x="1084897" y="24765"/>
                  </a:lnTo>
                  <a:lnTo>
                    <a:pt x="1083945" y="155257"/>
                  </a:lnTo>
                  <a:lnTo>
                    <a:pt x="1026795" y="139065"/>
                  </a:lnTo>
                  <a:lnTo>
                    <a:pt x="1027747" y="13335"/>
                  </a:lnTo>
                  <a:moveTo>
                    <a:pt x="1083945" y="155257"/>
                  </a:moveTo>
                  <a:lnTo>
                    <a:pt x="1167765" y="17145"/>
                  </a:lnTo>
                  <a:lnTo>
                    <a:pt x="1111567" y="0"/>
                  </a:lnTo>
                  <a:lnTo>
                    <a:pt x="1026795" y="139065"/>
                  </a:lnTo>
                  <a:lnTo>
                    <a:pt x="1083945" y="155257"/>
                  </a:lnTo>
                  <a:moveTo>
                    <a:pt x="1111567" y="0"/>
                  </a:moveTo>
                  <a:lnTo>
                    <a:pt x="1103947" y="159067"/>
                  </a:lnTo>
                  <a:lnTo>
                    <a:pt x="1160145" y="172402"/>
                  </a:lnTo>
                  <a:lnTo>
                    <a:pt x="1167765" y="17145"/>
                  </a:lnTo>
                  <a:lnTo>
                    <a:pt x="1111567" y="0"/>
                  </a:lnTo>
                  <a:moveTo>
                    <a:pt x="1160145" y="172402"/>
                  </a:moveTo>
                  <a:lnTo>
                    <a:pt x="1222057" y="37147"/>
                  </a:lnTo>
                  <a:lnTo>
                    <a:pt x="1166812" y="20002"/>
                  </a:lnTo>
                  <a:lnTo>
                    <a:pt x="1103947" y="159067"/>
                  </a:lnTo>
                  <a:lnTo>
                    <a:pt x="1160145" y="172402"/>
                  </a:lnTo>
                  <a:moveTo>
                    <a:pt x="1166812" y="20002"/>
                  </a:moveTo>
                  <a:lnTo>
                    <a:pt x="1222057" y="37147"/>
                  </a:lnTo>
                  <a:lnTo>
                    <a:pt x="1200150" y="162877"/>
                  </a:lnTo>
                  <a:lnTo>
                    <a:pt x="1145857" y="141922"/>
                  </a:lnTo>
                  <a:lnTo>
                    <a:pt x="1166812" y="20002"/>
                  </a:lnTo>
                  <a:moveTo>
                    <a:pt x="1200150" y="162877"/>
                  </a:moveTo>
                  <a:lnTo>
                    <a:pt x="1286827" y="24765"/>
                  </a:lnTo>
                  <a:lnTo>
                    <a:pt x="1230630" y="7620"/>
                  </a:lnTo>
                  <a:lnTo>
                    <a:pt x="1145857" y="141922"/>
                  </a:lnTo>
                  <a:lnTo>
                    <a:pt x="1200150" y="162877"/>
                  </a:lnTo>
                  <a:moveTo>
                    <a:pt x="1230630" y="7620"/>
                  </a:moveTo>
                  <a:lnTo>
                    <a:pt x="1224915" y="161925"/>
                  </a:lnTo>
                  <a:lnTo>
                    <a:pt x="1282065" y="171450"/>
                  </a:lnTo>
                  <a:lnTo>
                    <a:pt x="1286827" y="24765"/>
                  </a:lnTo>
                  <a:lnTo>
                    <a:pt x="1230630" y="7620"/>
                  </a:lnTo>
                  <a:moveTo>
                    <a:pt x="1282065" y="171450"/>
                  </a:moveTo>
                  <a:lnTo>
                    <a:pt x="1325880" y="32385"/>
                  </a:lnTo>
                  <a:lnTo>
                    <a:pt x="1268730" y="25717"/>
                  </a:lnTo>
                  <a:lnTo>
                    <a:pt x="1224915" y="161925"/>
                  </a:lnTo>
                  <a:lnTo>
                    <a:pt x="1282065" y="171450"/>
                  </a:lnTo>
                  <a:moveTo>
                    <a:pt x="1268730" y="25717"/>
                  </a:moveTo>
                  <a:lnTo>
                    <a:pt x="1278255" y="192404"/>
                  </a:lnTo>
                  <a:lnTo>
                    <a:pt x="1336357" y="200977"/>
                  </a:lnTo>
                  <a:lnTo>
                    <a:pt x="1325880" y="32385"/>
                  </a:lnTo>
                  <a:lnTo>
                    <a:pt x="1268730" y="25717"/>
                  </a:lnTo>
                  <a:moveTo>
                    <a:pt x="1336357" y="200977"/>
                  </a:moveTo>
                  <a:lnTo>
                    <a:pt x="1391602" y="64770"/>
                  </a:lnTo>
                  <a:lnTo>
                    <a:pt x="1335405" y="51435"/>
                  </a:lnTo>
                  <a:lnTo>
                    <a:pt x="1278255" y="192404"/>
                  </a:lnTo>
                  <a:lnTo>
                    <a:pt x="1336357" y="200977"/>
                  </a:lnTo>
                  <a:moveTo>
                    <a:pt x="1335405" y="51435"/>
                  </a:moveTo>
                  <a:lnTo>
                    <a:pt x="1321117" y="194310"/>
                  </a:lnTo>
                  <a:lnTo>
                    <a:pt x="1376362" y="217170"/>
                  </a:lnTo>
                  <a:lnTo>
                    <a:pt x="1391602" y="64770"/>
                  </a:lnTo>
                  <a:lnTo>
                    <a:pt x="1335405" y="51435"/>
                  </a:lnTo>
                  <a:moveTo>
                    <a:pt x="1376362" y="217170"/>
                  </a:moveTo>
                  <a:lnTo>
                    <a:pt x="1471612" y="100012"/>
                  </a:lnTo>
                  <a:lnTo>
                    <a:pt x="1417320" y="77152"/>
                  </a:lnTo>
                  <a:lnTo>
                    <a:pt x="1321117" y="194310"/>
                  </a:lnTo>
                  <a:lnTo>
                    <a:pt x="1376362" y="217170"/>
                  </a:lnTo>
                  <a:moveTo>
                    <a:pt x="1417320" y="77152"/>
                  </a:moveTo>
                  <a:lnTo>
                    <a:pt x="1396365" y="269557"/>
                  </a:lnTo>
                  <a:lnTo>
                    <a:pt x="1451610" y="288607"/>
                  </a:lnTo>
                  <a:lnTo>
                    <a:pt x="1471612" y="100012"/>
                  </a:lnTo>
                  <a:lnTo>
                    <a:pt x="1417320" y="77152"/>
                  </a:lnTo>
                  <a:moveTo>
                    <a:pt x="1451610" y="288607"/>
                  </a:moveTo>
                  <a:lnTo>
                    <a:pt x="1529715" y="156210"/>
                  </a:lnTo>
                  <a:lnTo>
                    <a:pt x="1472565" y="140017"/>
                  </a:lnTo>
                  <a:lnTo>
                    <a:pt x="1396365" y="269557"/>
                  </a:lnTo>
                  <a:lnTo>
                    <a:pt x="1451610" y="288607"/>
                  </a:lnTo>
                  <a:moveTo>
                    <a:pt x="1472565" y="140017"/>
                  </a:moveTo>
                  <a:lnTo>
                    <a:pt x="1466850" y="322897"/>
                  </a:lnTo>
                  <a:lnTo>
                    <a:pt x="1524000" y="338137"/>
                  </a:lnTo>
                  <a:lnTo>
                    <a:pt x="1529715" y="156210"/>
                  </a:lnTo>
                  <a:lnTo>
                    <a:pt x="1472565" y="140017"/>
                  </a:lnTo>
                  <a:moveTo>
                    <a:pt x="1524000" y="338137"/>
                  </a:moveTo>
                  <a:lnTo>
                    <a:pt x="1587817" y="219075"/>
                  </a:lnTo>
                  <a:lnTo>
                    <a:pt x="1529715" y="206692"/>
                  </a:lnTo>
                  <a:lnTo>
                    <a:pt x="1466850" y="322897"/>
                  </a:lnTo>
                  <a:lnTo>
                    <a:pt x="1524000" y="338137"/>
                  </a:lnTo>
                  <a:moveTo>
                    <a:pt x="1529715" y="206692"/>
                  </a:moveTo>
                  <a:lnTo>
                    <a:pt x="1535430" y="310515"/>
                  </a:lnTo>
                  <a:lnTo>
                    <a:pt x="1593532" y="340995"/>
                  </a:lnTo>
                  <a:lnTo>
                    <a:pt x="1587817" y="219075"/>
                  </a:lnTo>
                  <a:lnTo>
                    <a:pt x="1529715" y="206692"/>
                  </a:lnTo>
                  <a:moveTo>
                    <a:pt x="1593532" y="340995"/>
                  </a:moveTo>
                  <a:lnTo>
                    <a:pt x="1632585" y="316229"/>
                  </a:lnTo>
                  <a:lnTo>
                    <a:pt x="1587817" y="277177"/>
                  </a:lnTo>
                  <a:lnTo>
                    <a:pt x="1535430" y="310515"/>
                  </a:lnTo>
                  <a:lnTo>
                    <a:pt x="1593532" y="340995"/>
                  </a:lnTo>
                  <a:moveTo>
                    <a:pt x="1587817" y="277177"/>
                  </a:moveTo>
                  <a:lnTo>
                    <a:pt x="1632585" y="316229"/>
                  </a:lnTo>
                  <a:lnTo>
                    <a:pt x="1624965" y="332422"/>
                  </a:lnTo>
                  <a:lnTo>
                    <a:pt x="1573530" y="307657"/>
                  </a:lnTo>
                  <a:lnTo>
                    <a:pt x="1587817" y="277177"/>
                  </a:lnTo>
                  <a:moveTo>
                    <a:pt x="124777" y="626745"/>
                  </a:moveTo>
                  <a:lnTo>
                    <a:pt x="126682" y="868679"/>
                  </a:lnTo>
                  <a:lnTo>
                    <a:pt x="183832" y="882015"/>
                  </a:lnTo>
                  <a:lnTo>
                    <a:pt x="181927" y="625792"/>
                  </a:lnTo>
                  <a:lnTo>
                    <a:pt x="124777" y="626745"/>
                  </a:lnTo>
                  <a:moveTo>
                    <a:pt x="183832" y="882015"/>
                  </a:moveTo>
                  <a:lnTo>
                    <a:pt x="248602" y="751522"/>
                  </a:lnTo>
                  <a:lnTo>
                    <a:pt x="191452" y="739140"/>
                  </a:lnTo>
                  <a:lnTo>
                    <a:pt x="126682" y="868679"/>
                  </a:lnTo>
                  <a:lnTo>
                    <a:pt x="183832" y="882015"/>
                  </a:lnTo>
                  <a:moveTo>
                    <a:pt x="191452" y="739140"/>
                  </a:moveTo>
                  <a:lnTo>
                    <a:pt x="196214" y="925829"/>
                  </a:lnTo>
                  <a:lnTo>
                    <a:pt x="254317" y="939165"/>
                  </a:lnTo>
                  <a:lnTo>
                    <a:pt x="248602" y="751522"/>
                  </a:lnTo>
                  <a:lnTo>
                    <a:pt x="191452" y="739140"/>
                  </a:lnTo>
                  <a:moveTo>
                    <a:pt x="254317" y="939165"/>
                  </a:moveTo>
                  <a:lnTo>
                    <a:pt x="308610" y="834390"/>
                  </a:lnTo>
                  <a:lnTo>
                    <a:pt x="251460" y="820102"/>
                  </a:lnTo>
                  <a:lnTo>
                    <a:pt x="196214" y="925829"/>
                  </a:lnTo>
                  <a:lnTo>
                    <a:pt x="254317" y="939165"/>
                  </a:lnTo>
                  <a:moveTo>
                    <a:pt x="251460" y="820102"/>
                  </a:moveTo>
                  <a:lnTo>
                    <a:pt x="246697" y="989647"/>
                  </a:lnTo>
                  <a:lnTo>
                    <a:pt x="302895" y="1005840"/>
                  </a:lnTo>
                  <a:lnTo>
                    <a:pt x="308610" y="834390"/>
                  </a:lnTo>
                  <a:lnTo>
                    <a:pt x="251460" y="820102"/>
                  </a:lnTo>
                  <a:moveTo>
                    <a:pt x="302895" y="1005840"/>
                  </a:moveTo>
                  <a:lnTo>
                    <a:pt x="379095" y="875347"/>
                  </a:lnTo>
                  <a:lnTo>
                    <a:pt x="323850" y="856297"/>
                  </a:lnTo>
                  <a:lnTo>
                    <a:pt x="246697" y="989647"/>
                  </a:lnTo>
                  <a:lnTo>
                    <a:pt x="302895" y="1005840"/>
                  </a:lnTo>
                  <a:moveTo>
                    <a:pt x="323850" y="856297"/>
                  </a:moveTo>
                  <a:lnTo>
                    <a:pt x="302895" y="1016317"/>
                  </a:lnTo>
                  <a:lnTo>
                    <a:pt x="358139" y="1031557"/>
                  </a:lnTo>
                  <a:lnTo>
                    <a:pt x="379095" y="875347"/>
                  </a:lnTo>
                  <a:lnTo>
                    <a:pt x="323850" y="856297"/>
                  </a:lnTo>
                  <a:moveTo>
                    <a:pt x="358139" y="1031557"/>
                  </a:moveTo>
                  <a:lnTo>
                    <a:pt x="415289" y="895350"/>
                  </a:lnTo>
                  <a:lnTo>
                    <a:pt x="357187" y="886777"/>
                  </a:lnTo>
                  <a:lnTo>
                    <a:pt x="302895" y="1016317"/>
                  </a:lnTo>
                  <a:lnTo>
                    <a:pt x="358139" y="1031557"/>
                  </a:lnTo>
                  <a:moveTo>
                    <a:pt x="357187" y="886777"/>
                  </a:moveTo>
                  <a:lnTo>
                    <a:pt x="370522" y="1037272"/>
                  </a:lnTo>
                  <a:lnTo>
                    <a:pt x="428625" y="1045845"/>
                  </a:lnTo>
                  <a:lnTo>
                    <a:pt x="415289" y="895350"/>
                  </a:lnTo>
                  <a:lnTo>
                    <a:pt x="357187" y="886777"/>
                  </a:lnTo>
                  <a:moveTo>
                    <a:pt x="428625" y="1045845"/>
                  </a:moveTo>
                  <a:lnTo>
                    <a:pt x="476250" y="920115"/>
                  </a:lnTo>
                  <a:lnTo>
                    <a:pt x="419100" y="909637"/>
                  </a:lnTo>
                  <a:lnTo>
                    <a:pt x="370522" y="1037272"/>
                  </a:lnTo>
                  <a:lnTo>
                    <a:pt x="428625" y="1045845"/>
                  </a:lnTo>
                  <a:moveTo>
                    <a:pt x="419100" y="909637"/>
                  </a:moveTo>
                  <a:lnTo>
                    <a:pt x="476250" y="920115"/>
                  </a:lnTo>
                  <a:lnTo>
                    <a:pt x="475297" y="1056322"/>
                  </a:lnTo>
                  <a:lnTo>
                    <a:pt x="418147" y="1038225"/>
                  </a:lnTo>
                  <a:lnTo>
                    <a:pt x="419100" y="909637"/>
                  </a:lnTo>
                  <a:moveTo>
                    <a:pt x="475297" y="1056322"/>
                  </a:moveTo>
                  <a:lnTo>
                    <a:pt x="563880" y="930592"/>
                  </a:lnTo>
                  <a:lnTo>
                    <a:pt x="508635" y="909637"/>
                  </a:lnTo>
                  <a:lnTo>
                    <a:pt x="418147" y="1038225"/>
                  </a:lnTo>
                  <a:lnTo>
                    <a:pt x="475297" y="1056322"/>
                  </a:lnTo>
                  <a:moveTo>
                    <a:pt x="508635" y="909637"/>
                  </a:moveTo>
                  <a:lnTo>
                    <a:pt x="493395" y="1070610"/>
                  </a:lnTo>
                  <a:lnTo>
                    <a:pt x="549592" y="1086802"/>
                  </a:lnTo>
                  <a:lnTo>
                    <a:pt x="563880" y="930592"/>
                  </a:lnTo>
                  <a:lnTo>
                    <a:pt x="508635" y="909637"/>
                  </a:lnTo>
                  <a:moveTo>
                    <a:pt x="549592" y="1086802"/>
                  </a:moveTo>
                  <a:lnTo>
                    <a:pt x="627697" y="933450"/>
                  </a:lnTo>
                  <a:lnTo>
                    <a:pt x="571500" y="918210"/>
                  </a:lnTo>
                  <a:lnTo>
                    <a:pt x="493395" y="1070610"/>
                  </a:lnTo>
                  <a:lnTo>
                    <a:pt x="549592" y="1086802"/>
                  </a:lnTo>
                  <a:moveTo>
                    <a:pt x="571500" y="918210"/>
                  </a:moveTo>
                  <a:lnTo>
                    <a:pt x="627697" y="933450"/>
                  </a:lnTo>
                  <a:lnTo>
                    <a:pt x="621030" y="1066800"/>
                  </a:lnTo>
                  <a:lnTo>
                    <a:pt x="563880" y="1051560"/>
                  </a:lnTo>
                  <a:lnTo>
                    <a:pt x="571500" y="918210"/>
                  </a:lnTo>
                  <a:moveTo>
                    <a:pt x="621030" y="1066800"/>
                  </a:moveTo>
                  <a:lnTo>
                    <a:pt x="687705" y="932497"/>
                  </a:lnTo>
                  <a:lnTo>
                    <a:pt x="631507" y="915352"/>
                  </a:lnTo>
                  <a:lnTo>
                    <a:pt x="563880" y="1051560"/>
                  </a:lnTo>
                  <a:lnTo>
                    <a:pt x="621030" y="1066800"/>
                  </a:lnTo>
                  <a:moveTo>
                    <a:pt x="631507" y="915352"/>
                  </a:moveTo>
                  <a:lnTo>
                    <a:pt x="611505" y="1070610"/>
                  </a:lnTo>
                  <a:lnTo>
                    <a:pt x="666750" y="1088707"/>
                  </a:lnTo>
                  <a:lnTo>
                    <a:pt x="687705" y="932497"/>
                  </a:lnTo>
                  <a:lnTo>
                    <a:pt x="631507" y="915352"/>
                  </a:lnTo>
                  <a:moveTo>
                    <a:pt x="666750" y="1088707"/>
                  </a:moveTo>
                  <a:lnTo>
                    <a:pt x="750570" y="937260"/>
                  </a:lnTo>
                  <a:lnTo>
                    <a:pt x="696277" y="918210"/>
                  </a:lnTo>
                  <a:lnTo>
                    <a:pt x="611505" y="1070610"/>
                  </a:lnTo>
                  <a:lnTo>
                    <a:pt x="666750" y="1088707"/>
                  </a:lnTo>
                  <a:moveTo>
                    <a:pt x="696277" y="918210"/>
                  </a:moveTo>
                  <a:lnTo>
                    <a:pt x="750570" y="937260"/>
                  </a:lnTo>
                  <a:lnTo>
                    <a:pt x="726757" y="1074420"/>
                  </a:lnTo>
                  <a:lnTo>
                    <a:pt x="671512" y="1057275"/>
                  </a:lnTo>
                  <a:lnTo>
                    <a:pt x="696277" y="918210"/>
                  </a:lnTo>
                  <a:moveTo>
                    <a:pt x="726757" y="1074420"/>
                  </a:moveTo>
                  <a:lnTo>
                    <a:pt x="790575" y="931545"/>
                  </a:lnTo>
                  <a:lnTo>
                    <a:pt x="732472" y="922020"/>
                  </a:lnTo>
                  <a:lnTo>
                    <a:pt x="671512" y="1057275"/>
                  </a:lnTo>
                  <a:lnTo>
                    <a:pt x="726757" y="1074420"/>
                  </a:lnTo>
                  <a:moveTo>
                    <a:pt x="732472" y="922020"/>
                  </a:moveTo>
                  <a:lnTo>
                    <a:pt x="747712" y="1058227"/>
                  </a:lnTo>
                  <a:lnTo>
                    <a:pt x="805815" y="1064895"/>
                  </a:lnTo>
                  <a:lnTo>
                    <a:pt x="790575" y="931545"/>
                  </a:lnTo>
                  <a:lnTo>
                    <a:pt x="732472" y="922020"/>
                  </a:lnTo>
                  <a:moveTo>
                    <a:pt x="805815" y="1064895"/>
                  </a:moveTo>
                  <a:lnTo>
                    <a:pt x="859154" y="919162"/>
                  </a:lnTo>
                  <a:lnTo>
                    <a:pt x="802957" y="906779"/>
                  </a:lnTo>
                  <a:lnTo>
                    <a:pt x="747712" y="1058227"/>
                  </a:lnTo>
                  <a:lnTo>
                    <a:pt x="805815" y="1064895"/>
                  </a:lnTo>
                  <a:moveTo>
                    <a:pt x="802957" y="906779"/>
                  </a:moveTo>
                  <a:lnTo>
                    <a:pt x="794385" y="1050607"/>
                  </a:lnTo>
                  <a:lnTo>
                    <a:pt x="849629" y="1070610"/>
                  </a:lnTo>
                  <a:lnTo>
                    <a:pt x="859154" y="919162"/>
                  </a:lnTo>
                  <a:lnTo>
                    <a:pt x="802957" y="906779"/>
                  </a:lnTo>
                  <a:moveTo>
                    <a:pt x="849629" y="1070610"/>
                  </a:moveTo>
                  <a:lnTo>
                    <a:pt x="940117" y="943927"/>
                  </a:lnTo>
                  <a:lnTo>
                    <a:pt x="884872" y="922020"/>
                  </a:lnTo>
                  <a:lnTo>
                    <a:pt x="794385" y="1050607"/>
                  </a:lnTo>
                  <a:lnTo>
                    <a:pt x="849629" y="1070610"/>
                  </a:lnTo>
                  <a:moveTo>
                    <a:pt x="884872" y="922020"/>
                  </a:moveTo>
                  <a:lnTo>
                    <a:pt x="940117" y="943927"/>
                  </a:lnTo>
                  <a:lnTo>
                    <a:pt x="917257" y="1088707"/>
                  </a:lnTo>
                  <a:lnTo>
                    <a:pt x="862012" y="1070610"/>
                  </a:lnTo>
                  <a:lnTo>
                    <a:pt x="884872" y="922020"/>
                  </a:lnTo>
                  <a:moveTo>
                    <a:pt x="917257" y="1088707"/>
                  </a:moveTo>
                  <a:lnTo>
                    <a:pt x="996315" y="936307"/>
                  </a:lnTo>
                  <a:lnTo>
                    <a:pt x="940117" y="921067"/>
                  </a:lnTo>
                  <a:lnTo>
                    <a:pt x="862012" y="1070610"/>
                  </a:lnTo>
                  <a:lnTo>
                    <a:pt x="917257" y="1088707"/>
                  </a:lnTo>
                  <a:moveTo>
                    <a:pt x="940117" y="921067"/>
                  </a:moveTo>
                  <a:lnTo>
                    <a:pt x="996315" y="936307"/>
                  </a:lnTo>
                  <a:lnTo>
                    <a:pt x="990600" y="1080135"/>
                  </a:lnTo>
                  <a:lnTo>
                    <a:pt x="934402" y="1067752"/>
                  </a:lnTo>
                  <a:lnTo>
                    <a:pt x="940117" y="921067"/>
                  </a:lnTo>
                  <a:moveTo>
                    <a:pt x="990600" y="1080135"/>
                  </a:moveTo>
                  <a:lnTo>
                    <a:pt x="1052512" y="930592"/>
                  </a:lnTo>
                  <a:lnTo>
                    <a:pt x="995362" y="920115"/>
                  </a:lnTo>
                  <a:lnTo>
                    <a:pt x="934402" y="1067752"/>
                  </a:lnTo>
                  <a:lnTo>
                    <a:pt x="990600" y="1080135"/>
                  </a:lnTo>
                  <a:moveTo>
                    <a:pt x="995362" y="920115"/>
                  </a:moveTo>
                  <a:lnTo>
                    <a:pt x="998220" y="1067752"/>
                  </a:lnTo>
                  <a:lnTo>
                    <a:pt x="1055370" y="1078230"/>
                  </a:lnTo>
                  <a:lnTo>
                    <a:pt x="1052512" y="930592"/>
                  </a:lnTo>
                  <a:lnTo>
                    <a:pt x="995362" y="920115"/>
                  </a:lnTo>
                  <a:moveTo>
                    <a:pt x="1055370" y="1078230"/>
                  </a:moveTo>
                  <a:lnTo>
                    <a:pt x="1114425" y="920115"/>
                  </a:lnTo>
                  <a:lnTo>
                    <a:pt x="1057275" y="909637"/>
                  </a:lnTo>
                  <a:lnTo>
                    <a:pt x="998220" y="1067752"/>
                  </a:lnTo>
                  <a:lnTo>
                    <a:pt x="1055370" y="1078230"/>
                  </a:lnTo>
                  <a:moveTo>
                    <a:pt x="1057275" y="909637"/>
                  </a:moveTo>
                  <a:lnTo>
                    <a:pt x="1057275" y="1068705"/>
                  </a:lnTo>
                  <a:lnTo>
                    <a:pt x="1114425" y="1082040"/>
                  </a:lnTo>
                  <a:lnTo>
                    <a:pt x="1114425" y="920115"/>
                  </a:lnTo>
                  <a:lnTo>
                    <a:pt x="1057275" y="909637"/>
                  </a:lnTo>
                  <a:moveTo>
                    <a:pt x="1114425" y="1082040"/>
                  </a:moveTo>
                  <a:lnTo>
                    <a:pt x="1186815" y="930592"/>
                  </a:lnTo>
                  <a:lnTo>
                    <a:pt x="1131570" y="914400"/>
                  </a:lnTo>
                  <a:lnTo>
                    <a:pt x="1057275" y="1068705"/>
                  </a:lnTo>
                  <a:lnTo>
                    <a:pt x="1114425" y="1082040"/>
                  </a:lnTo>
                  <a:moveTo>
                    <a:pt x="1131570" y="914400"/>
                  </a:moveTo>
                  <a:lnTo>
                    <a:pt x="1186815" y="930592"/>
                  </a:lnTo>
                  <a:lnTo>
                    <a:pt x="1172527" y="1079182"/>
                  </a:lnTo>
                  <a:lnTo>
                    <a:pt x="1116330" y="1063942"/>
                  </a:lnTo>
                  <a:lnTo>
                    <a:pt x="1131570" y="914400"/>
                  </a:lnTo>
                  <a:moveTo>
                    <a:pt x="1172527" y="1079182"/>
                  </a:moveTo>
                  <a:lnTo>
                    <a:pt x="1249680" y="922020"/>
                  </a:lnTo>
                  <a:lnTo>
                    <a:pt x="1191577" y="908685"/>
                  </a:lnTo>
                  <a:lnTo>
                    <a:pt x="1116330" y="1063942"/>
                  </a:lnTo>
                  <a:lnTo>
                    <a:pt x="1172527" y="1079182"/>
                  </a:lnTo>
                  <a:moveTo>
                    <a:pt x="1191577" y="908685"/>
                  </a:moveTo>
                  <a:lnTo>
                    <a:pt x="1193482" y="1050607"/>
                  </a:lnTo>
                  <a:lnTo>
                    <a:pt x="1250632" y="1060132"/>
                  </a:lnTo>
                  <a:lnTo>
                    <a:pt x="1249680" y="922020"/>
                  </a:lnTo>
                  <a:lnTo>
                    <a:pt x="1191577" y="908685"/>
                  </a:lnTo>
                  <a:moveTo>
                    <a:pt x="1250632" y="1060132"/>
                  </a:moveTo>
                  <a:lnTo>
                    <a:pt x="1302067" y="915352"/>
                  </a:lnTo>
                  <a:lnTo>
                    <a:pt x="1245870" y="902970"/>
                  </a:lnTo>
                  <a:lnTo>
                    <a:pt x="1193482" y="1050607"/>
                  </a:lnTo>
                  <a:lnTo>
                    <a:pt x="1250632" y="1060132"/>
                  </a:lnTo>
                  <a:moveTo>
                    <a:pt x="1245870" y="902970"/>
                  </a:moveTo>
                  <a:lnTo>
                    <a:pt x="1302067" y="915352"/>
                  </a:lnTo>
                  <a:lnTo>
                    <a:pt x="1286827" y="1055370"/>
                  </a:lnTo>
                  <a:lnTo>
                    <a:pt x="1230630" y="1037272"/>
                  </a:lnTo>
                  <a:lnTo>
                    <a:pt x="1245870" y="902970"/>
                  </a:lnTo>
                  <a:moveTo>
                    <a:pt x="1286827" y="1055370"/>
                  </a:moveTo>
                  <a:lnTo>
                    <a:pt x="1378267" y="894397"/>
                  </a:lnTo>
                  <a:lnTo>
                    <a:pt x="1323022" y="877252"/>
                  </a:lnTo>
                  <a:lnTo>
                    <a:pt x="1230630" y="1037272"/>
                  </a:lnTo>
                  <a:lnTo>
                    <a:pt x="1286827" y="1055370"/>
                  </a:lnTo>
                  <a:moveTo>
                    <a:pt x="1323022" y="877252"/>
                  </a:moveTo>
                  <a:lnTo>
                    <a:pt x="1378267" y="894397"/>
                  </a:lnTo>
                  <a:lnTo>
                    <a:pt x="1366837" y="1031557"/>
                  </a:lnTo>
                  <a:lnTo>
                    <a:pt x="1310640" y="1021079"/>
                  </a:lnTo>
                  <a:lnTo>
                    <a:pt x="1323022" y="877252"/>
                  </a:lnTo>
                  <a:moveTo>
                    <a:pt x="1366837" y="1031557"/>
                  </a:moveTo>
                  <a:lnTo>
                    <a:pt x="1425892" y="836295"/>
                  </a:lnTo>
                  <a:lnTo>
                    <a:pt x="1367790" y="830579"/>
                  </a:lnTo>
                  <a:lnTo>
                    <a:pt x="1310640" y="1021079"/>
                  </a:lnTo>
                  <a:lnTo>
                    <a:pt x="1366837" y="1031557"/>
                  </a:lnTo>
                  <a:moveTo>
                    <a:pt x="1367790" y="830579"/>
                  </a:moveTo>
                  <a:lnTo>
                    <a:pt x="1382077" y="998220"/>
                  </a:lnTo>
                  <a:lnTo>
                    <a:pt x="1440180" y="1003935"/>
                  </a:lnTo>
                  <a:lnTo>
                    <a:pt x="1425892" y="836295"/>
                  </a:lnTo>
                  <a:lnTo>
                    <a:pt x="1367790" y="830579"/>
                  </a:lnTo>
                  <a:moveTo>
                    <a:pt x="1440180" y="1003935"/>
                  </a:moveTo>
                  <a:lnTo>
                    <a:pt x="1500187" y="781050"/>
                  </a:lnTo>
                  <a:lnTo>
                    <a:pt x="1443990" y="771525"/>
                  </a:lnTo>
                  <a:lnTo>
                    <a:pt x="1382077" y="998220"/>
                  </a:lnTo>
                  <a:lnTo>
                    <a:pt x="1440180" y="1003935"/>
                  </a:lnTo>
                  <a:moveTo>
                    <a:pt x="1443990" y="771525"/>
                  </a:moveTo>
                  <a:lnTo>
                    <a:pt x="1500187" y="781050"/>
                  </a:lnTo>
                  <a:lnTo>
                    <a:pt x="1488757" y="960120"/>
                  </a:lnTo>
                  <a:lnTo>
                    <a:pt x="1431607" y="951547"/>
                  </a:lnTo>
                  <a:lnTo>
                    <a:pt x="1443990" y="771525"/>
                  </a:lnTo>
                  <a:moveTo>
                    <a:pt x="1488757" y="960120"/>
                  </a:moveTo>
                  <a:lnTo>
                    <a:pt x="1575435" y="607695"/>
                  </a:lnTo>
                  <a:lnTo>
                    <a:pt x="1518285" y="600075"/>
                  </a:lnTo>
                  <a:lnTo>
                    <a:pt x="1431607" y="951547"/>
                  </a:lnTo>
                  <a:lnTo>
                    <a:pt x="1488757" y="960120"/>
                  </a:lnTo>
                  <a:moveTo>
                    <a:pt x="1518285" y="600075"/>
                  </a:moveTo>
                  <a:lnTo>
                    <a:pt x="1575435" y="607695"/>
                  </a:lnTo>
                  <a:lnTo>
                    <a:pt x="1562100" y="903922"/>
                  </a:lnTo>
                  <a:lnTo>
                    <a:pt x="1505902" y="898207"/>
                  </a:lnTo>
                  <a:lnTo>
                    <a:pt x="1518285" y="600075"/>
                  </a:lnTo>
                  <a:moveTo>
                    <a:pt x="1562100" y="903922"/>
                  </a:moveTo>
                  <a:lnTo>
                    <a:pt x="1629727" y="482917"/>
                  </a:lnTo>
                  <a:lnTo>
                    <a:pt x="1572577" y="478154"/>
                  </a:lnTo>
                  <a:lnTo>
                    <a:pt x="1505902" y="898207"/>
                  </a:lnTo>
                  <a:lnTo>
                    <a:pt x="1562100" y="903922"/>
                  </a:lnTo>
                  <a:moveTo>
                    <a:pt x="1572577" y="478154"/>
                  </a:moveTo>
                  <a:lnTo>
                    <a:pt x="1629727" y="482917"/>
                  </a:lnTo>
                  <a:lnTo>
                    <a:pt x="1629727" y="829627"/>
                  </a:lnTo>
                  <a:lnTo>
                    <a:pt x="1572577" y="823912"/>
                  </a:lnTo>
                  <a:lnTo>
                    <a:pt x="1572577" y="478154"/>
                  </a:lnTo>
                  <a:moveTo>
                    <a:pt x="1629727" y="829627"/>
                  </a:moveTo>
                  <a:lnTo>
                    <a:pt x="1696402" y="523875"/>
                  </a:lnTo>
                  <a:lnTo>
                    <a:pt x="1640205" y="516254"/>
                  </a:lnTo>
                  <a:lnTo>
                    <a:pt x="1572577" y="823912"/>
                  </a:lnTo>
                  <a:lnTo>
                    <a:pt x="1629727" y="829627"/>
                  </a:lnTo>
                  <a:moveTo>
                    <a:pt x="1640205" y="516254"/>
                  </a:moveTo>
                  <a:lnTo>
                    <a:pt x="1696402" y="523875"/>
                  </a:lnTo>
                  <a:lnTo>
                    <a:pt x="1691640" y="611504"/>
                  </a:lnTo>
                  <a:lnTo>
                    <a:pt x="1634490" y="608647"/>
                  </a:lnTo>
                  <a:lnTo>
                    <a:pt x="1640205" y="516254"/>
                  </a:lnTo>
                </a:path>
              </a:pathLst>
            </a:custGeom>
            <a:grpFill/>
            <a:ln>
              <a:noFill/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7" name="Rounded Rectangle 3">
              <a:extLst>
                <a:ext uri="{FF2B5EF4-FFF2-40B4-BE49-F238E27FC236}">
                  <a16:creationId xmlns:a16="http://schemas.microsoft.com/office/drawing/2014/main" id="{0D97F398-0519-AB28-57EF-13E21E8C58A5}"/>
                </a:ext>
              </a:extLst>
            </p:cNvPr>
            <p:cNvSpPr/>
            <p:nvPr/>
          </p:nvSpPr>
          <p:spPr>
            <a:xfrm>
              <a:off x="2637336" y="3171065"/>
              <a:ext cx="1677352" cy="1097280"/>
            </a:xfrm>
            <a:custGeom>
              <a:avLst/>
              <a:gdLst/>
              <a:ahLst/>
              <a:cxnLst/>
              <a:rect l="0" t="0" r="0" b="0"/>
              <a:pathLst>
                <a:path w="1677352" h="1097280">
                  <a:moveTo>
                    <a:pt x="0" y="547054"/>
                  </a:moveTo>
                  <a:cubicBezTo>
                    <a:pt x="0" y="840242"/>
                    <a:pt x="237674" y="1077917"/>
                    <a:pt x="530862" y="1077917"/>
                  </a:cubicBezTo>
                  <a:lnTo>
                    <a:pt x="1137562" y="1077917"/>
                  </a:lnTo>
                  <a:cubicBezTo>
                    <a:pt x="1154614" y="1077917"/>
                    <a:pt x="1171479" y="1077113"/>
                    <a:pt x="1188120" y="1075541"/>
                  </a:cubicBezTo>
                  <a:cubicBezTo>
                    <a:pt x="1241070" y="1070538"/>
                    <a:pt x="1291755" y="1057758"/>
                    <a:pt x="1339022" y="1038356"/>
                  </a:cubicBezTo>
                  <a:cubicBezTo>
                    <a:pt x="1532306" y="959015"/>
                    <a:pt x="1668424" y="768931"/>
                    <a:pt x="1668424" y="547054"/>
                  </a:cubicBezTo>
                  <a:cubicBezTo>
                    <a:pt x="1668424" y="521319"/>
                    <a:pt x="1666593" y="496011"/>
                    <a:pt x="1663054" y="471254"/>
                  </a:cubicBezTo>
                  <a:cubicBezTo>
                    <a:pt x="1610148" y="471989"/>
                    <a:pt x="1559863" y="483558"/>
                    <a:pt x="1514314" y="503843"/>
                  </a:cubicBezTo>
                  <a:cubicBezTo>
                    <a:pt x="1515923" y="518024"/>
                    <a:pt x="1516749" y="532443"/>
                    <a:pt x="1516749" y="547054"/>
                  </a:cubicBezTo>
                  <a:cubicBezTo>
                    <a:pt x="1516749" y="701601"/>
                    <a:pt x="1424292" y="834553"/>
                    <a:pt x="1291673" y="893617"/>
                  </a:cubicBezTo>
                  <a:cubicBezTo>
                    <a:pt x="1246123" y="913901"/>
                    <a:pt x="1195838" y="925470"/>
                    <a:pt x="1142932" y="926205"/>
                  </a:cubicBezTo>
                  <a:cubicBezTo>
                    <a:pt x="938997" y="929035"/>
                    <a:pt x="734819" y="926242"/>
                    <a:pt x="530862" y="926242"/>
                  </a:cubicBezTo>
                  <a:cubicBezTo>
                    <a:pt x="321443" y="926242"/>
                    <a:pt x="151674" y="756473"/>
                    <a:pt x="151674" y="547054"/>
                  </a:cubicBezTo>
                  <a:cubicBezTo>
                    <a:pt x="151674" y="337636"/>
                    <a:pt x="321443" y="167867"/>
                    <a:pt x="530862" y="167867"/>
                  </a:cubicBezTo>
                  <a:lnTo>
                    <a:pt x="1137562" y="167867"/>
                  </a:lnTo>
                  <a:cubicBezTo>
                    <a:pt x="1278582" y="167867"/>
                    <a:pt x="1401622" y="244847"/>
                    <a:pt x="1466952" y="359079"/>
                  </a:cubicBezTo>
                  <a:cubicBezTo>
                    <a:pt x="1514489" y="339525"/>
                    <a:pt x="1565146" y="326841"/>
                    <a:pt x="1618435" y="321865"/>
                  </a:cubicBezTo>
                  <a:cubicBezTo>
                    <a:pt x="1533713" y="141262"/>
                    <a:pt x="1350243" y="16192"/>
                    <a:pt x="1137562" y="16192"/>
                  </a:cubicBezTo>
                  <a:lnTo>
                    <a:pt x="530862" y="16192"/>
                  </a:lnTo>
                  <a:cubicBezTo>
                    <a:pt x="237674" y="16192"/>
                    <a:pt x="0" y="253867"/>
                    <a:pt x="0" y="547054"/>
                  </a:cubicBezTo>
                  <a:close/>
                  <a:moveTo>
                    <a:pt x="0" y="546734"/>
                  </a:moveTo>
                  <a:cubicBezTo>
                    <a:pt x="6667" y="409575"/>
                    <a:pt x="60959" y="291464"/>
                    <a:pt x="138112" y="189547"/>
                  </a:cubicBezTo>
                  <a:cubicBezTo>
                    <a:pt x="224789" y="74295"/>
                    <a:pt x="376237" y="0"/>
                    <a:pt x="530542" y="16192"/>
                  </a:cubicBezTo>
                  <a:cubicBezTo>
                    <a:pt x="732472" y="37147"/>
                    <a:pt x="935354" y="23812"/>
                    <a:pt x="1137285" y="16192"/>
                  </a:cubicBezTo>
                  <a:cubicBezTo>
                    <a:pt x="1349692" y="8572"/>
                    <a:pt x="1529715" y="142875"/>
                    <a:pt x="1618297" y="321945"/>
                  </a:cubicBezTo>
                  <a:cubicBezTo>
                    <a:pt x="1564957" y="327659"/>
                    <a:pt x="1515427" y="340995"/>
                    <a:pt x="1466850" y="359092"/>
                  </a:cubicBezTo>
                  <a:cubicBezTo>
                    <a:pt x="1409700" y="240982"/>
                    <a:pt x="1277302" y="150495"/>
                    <a:pt x="1137285" y="167639"/>
                  </a:cubicBezTo>
                  <a:cubicBezTo>
                    <a:pt x="1045845" y="179070"/>
                    <a:pt x="951547" y="179070"/>
                    <a:pt x="860107" y="167639"/>
                  </a:cubicBezTo>
                  <a:cubicBezTo>
                    <a:pt x="751522" y="154304"/>
                    <a:pt x="641032" y="165734"/>
                    <a:pt x="530542" y="167639"/>
                  </a:cubicBezTo>
                  <a:cubicBezTo>
                    <a:pt x="321945" y="171450"/>
                    <a:pt x="143827" y="338137"/>
                    <a:pt x="151447" y="546734"/>
                  </a:cubicBezTo>
                  <a:cubicBezTo>
                    <a:pt x="160019" y="756284"/>
                    <a:pt x="321945" y="942975"/>
                    <a:pt x="530542" y="925829"/>
                  </a:cubicBezTo>
                  <a:cubicBezTo>
                    <a:pt x="734377" y="910589"/>
                    <a:pt x="939165" y="925829"/>
                    <a:pt x="1143000" y="925829"/>
                  </a:cubicBezTo>
                  <a:cubicBezTo>
                    <a:pt x="1195387" y="926782"/>
                    <a:pt x="1248727" y="919162"/>
                    <a:pt x="1291590" y="893445"/>
                  </a:cubicBezTo>
                  <a:cubicBezTo>
                    <a:pt x="1415415" y="818197"/>
                    <a:pt x="1505902" y="701039"/>
                    <a:pt x="1516380" y="546734"/>
                  </a:cubicBezTo>
                  <a:cubicBezTo>
                    <a:pt x="1517332" y="532447"/>
                    <a:pt x="1521142" y="516254"/>
                    <a:pt x="1514475" y="503872"/>
                  </a:cubicBezTo>
                  <a:cubicBezTo>
                    <a:pt x="1561147" y="487679"/>
                    <a:pt x="1609725" y="471487"/>
                    <a:pt x="1663065" y="471487"/>
                  </a:cubicBezTo>
                  <a:cubicBezTo>
                    <a:pt x="1662112" y="496252"/>
                    <a:pt x="1677352" y="522922"/>
                    <a:pt x="1668780" y="546734"/>
                  </a:cubicBezTo>
                  <a:cubicBezTo>
                    <a:pt x="1626870" y="661034"/>
                    <a:pt x="1627822" y="779145"/>
                    <a:pt x="1559242" y="868679"/>
                  </a:cubicBezTo>
                  <a:cubicBezTo>
                    <a:pt x="1503045" y="943927"/>
                    <a:pt x="1424940" y="998220"/>
                    <a:pt x="1339215" y="1038225"/>
                  </a:cubicBezTo>
                  <a:cubicBezTo>
                    <a:pt x="1292542" y="1060132"/>
                    <a:pt x="1240155" y="1066800"/>
                    <a:pt x="1187767" y="1075372"/>
                  </a:cubicBezTo>
                  <a:cubicBezTo>
                    <a:pt x="1171575" y="1078230"/>
                    <a:pt x="1154430" y="1074420"/>
                    <a:pt x="1137285" y="1078230"/>
                  </a:cubicBezTo>
                  <a:cubicBezTo>
                    <a:pt x="1045845" y="1097280"/>
                    <a:pt x="950595" y="1071562"/>
                    <a:pt x="857250" y="1078230"/>
                  </a:cubicBezTo>
                  <a:cubicBezTo>
                    <a:pt x="748665" y="1084897"/>
                    <a:pt x="638175" y="1095375"/>
                    <a:pt x="530542" y="1078230"/>
                  </a:cubicBezTo>
                  <a:cubicBezTo>
                    <a:pt x="240982" y="1031557"/>
                    <a:pt x="1905" y="840104"/>
                    <a:pt x="0" y="546734"/>
                  </a:cubicBezTo>
                </a:path>
              </a:pathLst>
            </a:custGeom>
            <a:grpFill/>
            <a:ln w="37918">
              <a:solidFill>
                <a:srgbClr val="402019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4">
              <a:extLst>
                <a:ext uri="{FF2B5EF4-FFF2-40B4-BE49-F238E27FC236}">
                  <a16:creationId xmlns:a16="http://schemas.microsoft.com/office/drawing/2014/main" id="{C7A0A5FE-FACA-71C8-E6D2-7C34501C3F76}"/>
                </a:ext>
              </a:extLst>
            </p:cNvPr>
            <p:cNvSpPr/>
            <p:nvPr/>
          </p:nvSpPr>
          <p:spPr>
            <a:xfrm>
              <a:off x="3774899" y="3481087"/>
              <a:ext cx="1675447" cy="1082040"/>
            </a:xfrm>
            <a:custGeom>
              <a:avLst/>
              <a:gdLst/>
              <a:ahLst/>
              <a:cxnLst/>
              <a:rect l="0" t="0" r="0" b="0"/>
              <a:pathLst>
                <a:path w="1675447" h="1082040">
                  <a:moveTo>
                    <a:pt x="1675447" y="515302"/>
                  </a:moveTo>
                  <a:lnTo>
                    <a:pt x="1667827" y="454342"/>
                  </a:lnTo>
                  <a:lnTo>
                    <a:pt x="1609725" y="446722"/>
                  </a:lnTo>
                  <a:lnTo>
                    <a:pt x="1619250" y="521970"/>
                  </a:lnTo>
                  <a:lnTo>
                    <a:pt x="1675447" y="515302"/>
                  </a:lnTo>
                  <a:moveTo>
                    <a:pt x="1609725" y="446722"/>
                  </a:moveTo>
                  <a:lnTo>
                    <a:pt x="1553527" y="588645"/>
                  </a:lnTo>
                  <a:lnTo>
                    <a:pt x="1610677" y="600075"/>
                  </a:lnTo>
                  <a:lnTo>
                    <a:pt x="1667827" y="454342"/>
                  </a:lnTo>
                  <a:lnTo>
                    <a:pt x="1609725" y="446722"/>
                  </a:lnTo>
                  <a:moveTo>
                    <a:pt x="1610677" y="600075"/>
                  </a:moveTo>
                  <a:lnTo>
                    <a:pt x="1607820" y="246697"/>
                  </a:lnTo>
                  <a:lnTo>
                    <a:pt x="1550670" y="240982"/>
                  </a:lnTo>
                  <a:lnTo>
                    <a:pt x="1553527" y="588645"/>
                  </a:lnTo>
                  <a:lnTo>
                    <a:pt x="1610677" y="600075"/>
                  </a:lnTo>
                  <a:moveTo>
                    <a:pt x="1550670" y="240982"/>
                  </a:moveTo>
                  <a:lnTo>
                    <a:pt x="1503045" y="489584"/>
                  </a:lnTo>
                  <a:lnTo>
                    <a:pt x="1560195" y="493395"/>
                  </a:lnTo>
                  <a:lnTo>
                    <a:pt x="1607820" y="246697"/>
                  </a:lnTo>
                  <a:lnTo>
                    <a:pt x="1550670" y="240982"/>
                  </a:lnTo>
                  <a:moveTo>
                    <a:pt x="1560195" y="493395"/>
                  </a:moveTo>
                  <a:lnTo>
                    <a:pt x="1544002" y="176212"/>
                  </a:lnTo>
                  <a:lnTo>
                    <a:pt x="1486852" y="168592"/>
                  </a:lnTo>
                  <a:lnTo>
                    <a:pt x="1503045" y="489584"/>
                  </a:lnTo>
                  <a:lnTo>
                    <a:pt x="1560195" y="493395"/>
                  </a:lnTo>
                  <a:moveTo>
                    <a:pt x="1486852" y="168592"/>
                  </a:moveTo>
                  <a:lnTo>
                    <a:pt x="1433512" y="325754"/>
                  </a:lnTo>
                  <a:lnTo>
                    <a:pt x="1491615" y="332422"/>
                  </a:lnTo>
                  <a:lnTo>
                    <a:pt x="1544002" y="176212"/>
                  </a:lnTo>
                  <a:lnTo>
                    <a:pt x="1486852" y="168592"/>
                  </a:lnTo>
                  <a:moveTo>
                    <a:pt x="1491615" y="332422"/>
                  </a:moveTo>
                  <a:lnTo>
                    <a:pt x="1471612" y="116204"/>
                  </a:lnTo>
                  <a:lnTo>
                    <a:pt x="1413509" y="106679"/>
                  </a:lnTo>
                  <a:lnTo>
                    <a:pt x="1433512" y="325754"/>
                  </a:lnTo>
                  <a:lnTo>
                    <a:pt x="1491615" y="332422"/>
                  </a:lnTo>
                  <a:moveTo>
                    <a:pt x="1413509" y="106679"/>
                  </a:moveTo>
                  <a:lnTo>
                    <a:pt x="1357312" y="232409"/>
                  </a:lnTo>
                  <a:lnTo>
                    <a:pt x="1415415" y="241934"/>
                  </a:lnTo>
                  <a:lnTo>
                    <a:pt x="1471612" y="116204"/>
                  </a:lnTo>
                  <a:lnTo>
                    <a:pt x="1413509" y="106679"/>
                  </a:lnTo>
                  <a:moveTo>
                    <a:pt x="1415415" y="241934"/>
                  </a:moveTo>
                  <a:lnTo>
                    <a:pt x="1398270" y="76200"/>
                  </a:lnTo>
                  <a:lnTo>
                    <a:pt x="1340167" y="66675"/>
                  </a:lnTo>
                  <a:lnTo>
                    <a:pt x="1357312" y="232409"/>
                  </a:lnTo>
                  <a:lnTo>
                    <a:pt x="1415415" y="241934"/>
                  </a:lnTo>
                  <a:moveTo>
                    <a:pt x="1340167" y="66675"/>
                  </a:moveTo>
                  <a:lnTo>
                    <a:pt x="1287780" y="187642"/>
                  </a:lnTo>
                  <a:lnTo>
                    <a:pt x="1343977" y="200025"/>
                  </a:lnTo>
                  <a:lnTo>
                    <a:pt x="1398270" y="76200"/>
                  </a:lnTo>
                  <a:lnTo>
                    <a:pt x="1340167" y="66675"/>
                  </a:lnTo>
                  <a:moveTo>
                    <a:pt x="1343977" y="200025"/>
                  </a:moveTo>
                  <a:lnTo>
                    <a:pt x="1345882" y="64770"/>
                  </a:lnTo>
                  <a:lnTo>
                    <a:pt x="1288732" y="51434"/>
                  </a:lnTo>
                  <a:lnTo>
                    <a:pt x="1287780" y="187642"/>
                  </a:lnTo>
                  <a:lnTo>
                    <a:pt x="1343977" y="200025"/>
                  </a:lnTo>
                  <a:moveTo>
                    <a:pt x="1288732" y="51434"/>
                  </a:moveTo>
                  <a:lnTo>
                    <a:pt x="1231582" y="172402"/>
                  </a:lnTo>
                  <a:lnTo>
                    <a:pt x="1288732" y="184784"/>
                  </a:lnTo>
                  <a:lnTo>
                    <a:pt x="1345882" y="64770"/>
                  </a:lnTo>
                  <a:lnTo>
                    <a:pt x="1288732" y="51434"/>
                  </a:lnTo>
                  <a:moveTo>
                    <a:pt x="1288732" y="184784"/>
                  </a:moveTo>
                  <a:lnTo>
                    <a:pt x="1284922" y="39052"/>
                  </a:lnTo>
                  <a:lnTo>
                    <a:pt x="1227772" y="26670"/>
                  </a:lnTo>
                  <a:lnTo>
                    <a:pt x="1231582" y="172402"/>
                  </a:lnTo>
                  <a:lnTo>
                    <a:pt x="1288732" y="184784"/>
                  </a:lnTo>
                  <a:moveTo>
                    <a:pt x="1227772" y="26670"/>
                  </a:moveTo>
                  <a:lnTo>
                    <a:pt x="1170622" y="145732"/>
                  </a:lnTo>
                  <a:lnTo>
                    <a:pt x="1226820" y="160020"/>
                  </a:lnTo>
                  <a:lnTo>
                    <a:pt x="1284922" y="39052"/>
                  </a:lnTo>
                  <a:lnTo>
                    <a:pt x="1227772" y="26670"/>
                  </a:lnTo>
                  <a:moveTo>
                    <a:pt x="1226820" y="160020"/>
                  </a:moveTo>
                  <a:lnTo>
                    <a:pt x="1235392" y="34290"/>
                  </a:lnTo>
                  <a:lnTo>
                    <a:pt x="1179195" y="14287"/>
                  </a:lnTo>
                  <a:lnTo>
                    <a:pt x="1170622" y="145732"/>
                  </a:lnTo>
                  <a:lnTo>
                    <a:pt x="1226820" y="160020"/>
                  </a:lnTo>
                  <a:moveTo>
                    <a:pt x="1179195" y="14287"/>
                  </a:moveTo>
                  <a:lnTo>
                    <a:pt x="1093470" y="137159"/>
                  </a:lnTo>
                  <a:lnTo>
                    <a:pt x="1150620" y="155257"/>
                  </a:lnTo>
                  <a:lnTo>
                    <a:pt x="1235392" y="34290"/>
                  </a:lnTo>
                  <a:lnTo>
                    <a:pt x="1179195" y="14287"/>
                  </a:lnTo>
                  <a:moveTo>
                    <a:pt x="1150620" y="155257"/>
                  </a:moveTo>
                  <a:lnTo>
                    <a:pt x="1149667" y="8572"/>
                  </a:lnTo>
                  <a:lnTo>
                    <a:pt x="1092517" y="0"/>
                  </a:lnTo>
                  <a:lnTo>
                    <a:pt x="1093470" y="137159"/>
                  </a:lnTo>
                  <a:lnTo>
                    <a:pt x="1150620" y="155257"/>
                  </a:lnTo>
                  <a:moveTo>
                    <a:pt x="1092517" y="0"/>
                  </a:moveTo>
                  <a:lnTo>
                    <a:pt x="1051559" y="142875"/>
                  </a:lnTo>
                  <a:lnTo>
                    <a:pt x="1109662" y="146684"/>
                  </a:lnTo>
                  <a:lnTo>
                    <a:pt x="1149667" y="8572"/>
                  </a:lnTo>
                  <a:lnTo>
                    <a:pt x="1092517" y="0"/>
                  </a:lnTo>
                  <a:moveTo>
                    <a:pt x="1109662" y="146684"/>
                  </a:moveTo>
                  <a:lnTo>
                    <a:pt x="1092517" y="21907"/>
                  </a:lnTo>
                  <a:lnTo>
                    <a:pt x="1034415" y="13334"/>
                  </a:lnTo>
                  <a:lnTo>
                    <a:pt x="1051559" y="142875"/>
                  </a:lnTo>
                  <a:lnTo>
                    <a:pt x="1109662" y="146684"/>
                  </a:lnTo>
                  <a:moveTo>
                    <a:pt x="1034415" y="13334"/>
                  </a:moveTo>
                  <a:lnTo>
                    <a:pt x="975359" y="140017"/>
                  </a:lnTo>
                  <a:lnTo>
                    <a:pt x="1031557" y="155257"/>
                  </a:lnTo>
                  <a:lnTo>
                    <a:pt x="1092517" y="21907"/>
                  </a:lnTo>
                  <a:lnTo>
                    <a:pt x="1034415" y="13334"/>
                  </a:lnTo>
                  <a:moveTo>
                    <a:pt x="1031557" y="155257"/>
                  </a:moveTo>
                  <a:lnTo>
                    <a:pt x="975359" y="140017"/>
                  </a:lnTo>
                  <a:lnTo>
                    <a:pt x="988695" y="4762"/>
                  </a:lnTo>
                  <a:lnTo>
                    <a:pt x="1044892" y="18097"/>
                  </a:lnTo>
                  <a:lnTo>
                    <a:pt x="1031557" y="155257"/>
                  </a:lnTo>
                  <a:moveTo>
                    <a:pt x="988695" y="4762"/>
                  </a:moveTo>
                  <a:lnTo>
                    <a:pt x="933450" y="160020"/>
                  </a:lnTo>
                  <a:lnTo>
                    <a:pt x="991552" y="168592"/>
                  </a:lnTo>
                  <a:lnTo>
                    <a:pt x="1044892" y="18097"/>
                  </a:lnTo>
                  <a:lnTo>
                    <a:pt x="988695" y="4762"/>
                  </a:lnTo>
                  <a:moveTo>
                    <a:pt x="991552" y="168592"/>
                  </a:moveTo>
                  <a:lnTo>
                    <a:pt x="981075" y="18097"/>
                  </a:lnTo>
                  <a:lnTo>
                    <a:pt x="922972" y="8572"/>
                  </a:lnTo>
                  <a:lnTo>
                    <a:pt x="933450" y="160020"/>
                  </a:lnTo>
                  <a:lnTo>
                    <a:pt x="991552" y="168592"/>
                  </a:lnTo>
                  <a:moveTo>
                    <a:pt x="922972" y="8572"/>
                  </a:moveTo>
                  <a:lnTo>
                    <a:pt x="867727" y="141922"/>
                  </a:lnTo>
                  <a:lnTo>
                    <a:pt x="926782" y="148590"/>
                  </a:lnTo>
                  <a:lnTo>
                    <a:pt x="981075" y="18097"/>
                  </a:lnTo>
                  <a:lnTo>
                    <a:pt x="922972" y="8572"/>
                  </a:lnTo>
                  <a:moveTo>
                    <a:pt x="926782" y="148590"/>
                  </a:moveTo>
                  <a:lnTo>
                    <a:pt x="902970" y="6667"/>
                  </a:lnTo>
                  <a:lnTo>
                    <a:pt x="843915" y="2857"/>
                  </a:lnTo>
                  <a:lnTo>
                    <a:pt x="867727" y="141922"/>
                  </a:lnTo>
                  <a:lnTo>
                    <a:pt x="926782" y="148590"/>
                  </a:lnTo>
                  <a:moveTo>
                    <a:pt x="843915" y="2857"/>
                  </a:moveTo>
                  <a:lnTo>
                    <a:pt x="796290" y="150495"/>
                  </a:lnTo>
                  <a:lnTo>
                    <a:pt x="854392" y="156209"/>
                  </a:lnTo>
                  <a:lnTo>
                    <a:pt x="902970" y="6667"/>
                  </a:lnTo>
                  <a:lnTo>
                    <a:pt x="843915" y="2857"/>
                  </a:lnTo>
                  <a:moveTo>
                    <a:pt x="854392" y="156209"/>
                  </a:moveTo>
                  <a:lnTo>
                    <a:pt x="839152" y="23812"/>
                  </a:lnTo>
                  <a:lnTo>
                    <a:pt x="780097" y="15240"/>
                  </a:lnTo>
                  <a:lnTo>
                    <a:pt x="796290" y="150495"/>
                  </a:lnTo>
                  <a:lnTo>
                    <a:pt x="854392" y="156209"/>
                  </a:lnTo>
                  <a:moveTo>
                    <a:pt x="780097" y="15240"/>
                  </a:moveTo>
                  <a:lnTo>
                    <a:pt x="723900" y="153352"/>
                  </a:lnTo>
                  <a:lnTo>
                    <a:pt x="780097" y="165734"/>
                  </a:lnTo>
                  <a:lnTo>
                    <a:pt x="839152" y="23812"/>
                  </a:lnTo>
                  <a:lnTo>
                    <a:pt x="780097" y="15240"/>
                  </a:lnTo>
                  <a:moveTo>
                    <a:pt x="780097" y="165734"/>
                  </a:moveTo>
                  <a:lnTo>
                    <a:pt x="723900" y="153352"/>
                  </a:lnTo>
                  <a:lnTo>
                    <a:pt x="729615" y="16192"/>
                  </a:lnTo>
                  <a:lnTo>
                    <a:pt x="786765" y="27622"/>
                  </a:lnTo>
                  <a:lnTo>
                    <a:pt x="780097" y="165734"/>
                  </a:lnTo>
                  <a:moveTo>
                    <a:pt x="729615" y="16192"/>
                  </a:moveTo>
                  <a:lnTo>
                    <a:pt x="681037" y="147637"/>
                  </a:lnTo>
                  <a:lnTo>
                    <a:pt x="740092" y="153352"/>
                  </a:lnTo>
                  <a:lnTo>
                    <a:pt x="786765" y="27622"/>
                  </a:lnTo>
                  <a:lnTo>
                    <a:pt x="729615" y="16192"/>
                  </a:lnTo>
                  <a:moveTo>
                    <a:pt x="740092" y="153352"/>
                  </a:moveTo>
                  <a:lnTo>
                    <a:pt x="721995" y="26670"/>
                  </a:lnTo>
                  <a:lnTo>
                    <a:pt x="663892" y="20002"/>
                  </a:lnTo>
                  <a:lnTo>
                    <a:pt x="681037" y="147637"/>
                  </a:lnTo>
                  <a:lnTo>
                    <a:pt x="740092" y="153352"/>
                  </a:lnTo>
                  <a:moveTo>
                    <a:pt x="663892" y="20002"/>
                  </a:moveTo>
                  <a:lnTo>
                    <a:pt x="610552" y="164782"/>
                  </a:lnTo>
                  <a:lnTo>
                    <a:pt x="668654" y="172402"/>
                  </a:lnTo>
                  <a:lnTo>
                    <a:pt x="721995" y="26670"/>
                  </a:lnTo>
                  <a:lnTo>
                    <a:pt x="663892" y="20002"/>
                  </a:lnTo>
                  <a:moveTo>
                    <a:pt x="668654" y="172402"/>
                  </a:moveTo>
                  <a:lnTo>
                    <a:pt x="658177" y="25717"/>
                  </a:lnTo>
                  <a:lnTo>
                    <a:pt x="600075" y="13334"/>
                  </a:lnTo>
                  <a:lnTo>
                    <a:pt x="610552" y="164782"/>
                  </a:lnTo>
                  <a:lnTo>
                    <a:pt x="668654" y="172402"/>
                  </a:lnTo>
                  <a:moveTo>
                    <a:pt x="600075" y="13334"/>
                  </a:moveTo>
                  <a:lnTo>
                    <a:pt x="532447" y="141922"/>
                  </a:lnTo>
                  <a:lnTo>
                    <a:pt x="589597" y="155257"/>
                  </a:lnTo>
                  <a:lnTo>
                    <a:pt x="658177" y="25717"/>
                  </a:lnTo>
                  <a:lnTo>
                    <a:pt x="600075" y="13334"/>
                  </a:lnTo>
                  <a:moveTo>
                    <a:pt x="589597" y="155257"/>
                  </a:moveTo>
                  <a:lnTo>
                    <a:pt x="587692" y="32384"/>
                  </a:lnTo>
                  <a:lnTo>
                    <a:pt x="530542" y="21907"/>
                  </a:lnTo>
                  <a:lnTo>
                    <a:pt x="532447" y="141922"/>
                  </a:lnTo>
                  <a:lnTo>
                    <a:pt x="589597" y="155257"/>
                  </a:lnTo>
                  <a:moveTo>
                    <a:pt x="530542" y="21907"/>
                  </a:moveTo>
                  <a:lnTo>
                    <a:pt x="479107" y="150495"/>
                  </a:lnTo>
                  <a:lnTo>
                    <a:pt x="538162" y="158115"/>
                  </a:lnTo>
                  <a:lnTo>
                    <a:pt x="587692" y="32384"/>
                  </a:lnTo>
                  <a:lnTo>
                    <a:pt x="530542" y="21907"/>
                  </a:lnTo>
                  <a:moveTo>
                    <a:pt x="538162" y="158115"/>
                  </a:moveTo>
                  <a:lnTo>
                    <a:pt x="519112" y="14287"/>
                  </a:lnTo>
                  <a:lnTo>
                    <a:pt x="461010" y="9525"/>
                  </a:lnTo>
                  <a:lnTo>
                    <a:pt x="479107" y="150495"/>
                  </a:lnTo>
                  <a:lnTo>
                    <a:pt x="538162" y="158115"/>
                  </a:lnTo>
                  <a:moveTo>
                    <a:pt x="461010" y="9525"/>
                  </a:moveTo>
                  <a:lnTo>
                    <a:pt x="409575" y="169545"/>
                  </a:lnTo>
                  <a:lnTo>
                    <a:pt x="465772" y="179070"/>
                  </a:lnTo>
                  <a:lnTo>
                    <a:pt x="519112" y="14287"/>
                  </a:lnTo>
                  <a:lnTo>
                    <a:pt x="461010" y="9525"/>
                  </a:lnTo>
                  <a:moveTo>
                    <a:pt x="465772" y="179070"/>
                  </a:moveTo>
                  <a:lnTo>
                    <a:pt x="409575" y="169545"/>
                  </a:lnTo>
                  <a:lnTo>
                    <a:pt x="416242" y="15240"/>
                  </a:lnTo>
                  <a:lnTo>
                    <a:pt x="473392" y="28575"/>
                  </a:lnTo>
                  <a:lnTo>
                    <a:pt x="465772" y="179070"/>
                  </a:lnTo>
                  <a:moveTo>
                    <a:pt x="416242" y="15240"/>
                  </a:moveTo>
                  <a:lnTo>
                    <a:pt x="347662" y="180975"/>
                  </a:lnTo>
                  <a:lnTo>
                    <a:pt x="404812" y="190500"/>
                  </a:lnTo>
                  <a:lnTo>
                    <a:pt x="473392" y="28575"/>
                  </a:lnTo>
                  <a:lnTo>
                    <a:pt x="416242" y="15240"/>
                  </a:lnTo>
                  <a:moveTo>
                    <a:pt x="404812" y="190500"/>
                  </a:moveTo>
                  <a:lnTo>
                    <a:pt x="396239" y="43815"/>
                  </a:lnTo>
                  <a:lnTo>
                    <a:pt x="339089" y="38100"/>
                  </a:lnTo>
                  <a:lnTo>
                    <a:pt x="347662" y="180975"/>
                  </a:lnTo>
                  <a:lnTo>
                    <a:pt x="404812" y="190500"/>
                  </a:lnTo>
                  <a:moveTo>
                    <a:pt x="339089" y="38100"/>
                  </a:moveTo>
                  <a:lnTo>
                    <a:pt x="291464" y="212407"/>
                  </a:lnTo>
                  <a:lnTo>
                    <a:pt x="349567" y="217170"/>
                  </a:lnTo>
                  <a:lnTo>
                    <a:pt x="396239" y="43815"/>
                  </a:lnTo>
                  <a:lnTo>
                    <a:pt x="339089" y="38100"/>
                  </a:lnTo>
                  <a:moveTo>
                    <a:pt x="349567" y="217170"/>
                  </a:moveTo>
                  <a:lnTo>
                    <a:pt x="336232" y="55245"/>
                  </a:lnTo>
                  <a:lnTo>
                    <a:pt x="278129" y="50482"/>
                  </a:lnTo>
                  <a:lnTo>
                    <a:pt x="291464" y="212407"/>
                  </a:lnTo>
                  <a:lnTo>
                    <a:pt x="349567" y="217170"/>
                  </a:lnTo>
                  <a:moveTo>
                    <a:pt x="278129" y="50482"/>
                  </a:moveTo>
                  <a:lnTo>
                    <a:pt x="223837" y="260984"/>
                  </a:lnTo>
                  <a:lnTo>
                    <a:pt x="281939" y="266700"/>
                  </a:lnTo>
                  <a:lnTo>
                    <a:pt x="336232" y="55245"/>
                  </a:lnTo>
                  <a:lnTo>
                    <a:pt x="278129" y="50482"/>
                  </a:lnTo>
                  <a:moveTo>
                    <a:pt x="281939" y="266700"/>
                  </a:moveTo>
                  <a:lnTo>
                    <a:pt x="270510" y="102870"/>
                  </a:lnTo>
                  <a:lnTo>
                    <a:pt x="213360" y="99059"/>
                  </a:lnTo>
                  <a:lnTo>
                    <a:pt x="223837" y="260984"/>
                  </a:lnTo>
                  <a:lnTo>
                    <a:pt x="281939" y="266700"/>
                  </a:lnTo>
                  <a:moveTo>
                    <a:pt x="213360" y="99059"/>
                  </a:moveTo>
                  <a:lnTo>
                    <a:pt x="161925" y="332422"/>
                  </a:lnTo>
                  <a:lnTo>
                    <a:pt x="219075" y="339090"/>
                  </a:lnTo>
                  <a:lnTo>
                    <a:pt x="270510" y="102870"/>
                  </a:lnTo>
                  <a:lnTo>
                    <a:pt x="213360" y="99059"/>
                  </a:lnTo>
                  <a:moveTo>
                    <a:pt x="219075" y="339090"/>
                  </a:moveTo>
                  <a:lnTo>
                    <a:pt x="161925" y="332422"/>
                  </a:lnTo>
                  <a:lnTo>
                    <a:pt x="162877" y="147637"/>
                  </a:lnTo>
                  <a:lnTo>
                    <a:pt x="220027" y="151447"/>
                  </a:lnTo>
                  <a:lnTo>
                    <a:pt x="219075" y="339090"/>
                  </a:lnTo>
                  <a:moveTo>
                    <a:pt x="162877" y="147637"/>
                  </a:moveTo>
                  <a:lnTo>
                    <a:pt x="115252" y="516254"/>
                  </a:lnTo>
                  <a:lnTo>
                    <a:pt x="172402" y="519112"/>
                  </a:lnTo>
                  <a:lnTo>
                    <a:pt x="220027" y="151447"/>
                  </a:lnTo>
                  <a:lnTo>
                    <a:pt x="162877" y="147637"/>
                  </a:lnTo>
                  <a:moveTo>
                    <a:pt x="172402" y="519112"/>
                  </a:moveTo>
                  <a:lnTo>
                    <a:pt x="163829" y="211454"/>
                  </a:lnTo>
                  <a:lnTo>
                    <a:pt x="106679" y="209550"/>
                  </a:lnTo>
                  <a:lnTo>
                    <a:pt x="115252" y="516254"/>
                  </a:lnTo>
                  <a:lnTo>
                    <a:pt x="172402" y="519112"/>
                  </a:lnTo>
                  <a:moveTo>
                    <a:pt x="106679" y="209550"/>
                  </a:moveTo>
                  <a:lnTo>
                    <a:pt x="60007" y="595312"/>
                  </a:lnTo>
                  <a:lnTo>
                    <a:pt x="117157" y="598170"/>
                  </a:lnTo>
                  <a:lnTo>
                    <a:pt x="163829" y="211454"/>
                  </a:lnTo>
                  <a:lnTo>
                    <a:pt x="106679" y="209550"/>
                  </a:lnTo>
                  <a:moveTo>
                    <a:pt x="117157" y="598170"/>
                  </a:moveTo>
                  <a:lnTo>
                    <a:pt x="105727" y="298132"/>
                  </a:lnTo>
                  <a:lnTo>
                    <a:pt x="48577" y="294322"/>
                  </a:lnTo>
                  <a:lnTo>
                    <a:pt x="60007" y="595312"/>
                  </a:lnTo>
                  <a:lnTo>
                    <a:pt x="117157" y="598170"/>
                  </a:lnTo>
                  <a:moveTo>
                    <a:pt x="48577" y="294322"/>
                  </a:moveTo>
                  <a:lnTo>
                    <a:pt x="0" y="603884"/>
                  </a:lnTo>
                  <a:lnTo>
                    <a:pt x="57150" y="609600"/>
                  </a:lnTo>
                  <a:lnTo>
                    <a:pt x="105727" y="298132"/>
                  </a:lnTo>
                  <a:lnTo>
                    <a:pt x="48577" y="294322"/>
                  </a:lnTo>
                  <a:moveTo>
                    <a:pt x="57150" y="609600"/>
                  </a:moveTo>
                  <a:lnTo>
                    <a:pt x="0" y="603884"/>
                  </a:lnTo>
                  <a:lnTo>
                    <a:pt x="1904" y="481012"/>
                  </a:lnTo>
                  <a:lnTo>
                    <a:pt x="59054" y="481965"/>
                  </a:lnTo>
                  <a:lnTo>
                    <a:pt x="57150" y="609600"/>
                  </a:lnTo>
                  <a:moveTo>
                    <a:pt x="1609725" y="807720"/>
                  </a:moveTo>
                  <a:lnTo>
                    <a:pt x="1553527" y="796290"/>
                  </a:lnTo>
                  <a:lnTo>
                    <a:pt x="1563052" y="751522"/>
                  </a:lnTo>
                  <a:lnTo>
                    <a:pt x="1617345" y="770572"/>
                  </a:lnTo>
                  <a:lnTo>
                    <a:pt x="1609725" y="807720"/>
                  </a:lnTo>
                  <a:moveTo>
                    <a:pt x="1563052" y="751522"/>
                  </a:moveTo>
                  <a:lnTo>
                    <a:pt x="1502092" y="867727"/>
                  </a:lnTo>
                  <a:lnTo>
                    <a:pt x="1558290" y="883920"/>
                  </a:lnTo>
                  <a:lnTo>
                    <a:pt x="1617345" y="770572"/>
                  </a:lnTo>
                  <a:lnTo>
                    <a:pt x="1563052" y="751522"/>
                  </a:lnTo>
                  <a:moveTo>
                    <a:pt x="1558290" y="883920"/>
                  </a:moveTo>
                  <a:lnTo>
                    <a:pt x="1502092" y="867727"/>
                  </a:lnTo>
                  <a:lnTo>
                    <a:pt x="1513522" y="741045"/>
                  </a:lnTo>
                  <a:lnTo>
                    <a:pt x="1570672" y="751522"/>
                  </a:lnTo>
                  <a:lnTo>
                    <a:pt x="1558290" y="883920"/>
                  </a:lnTo>
                  <a:moveTo>
                    <a:pt x="1513522" y="741045"/>
                  </a:moveTo>
                  <a:lnTo>
                    <a:pt x="1456372" y="934402"/>
                  </a:lnTo>
                  <a:lnTo>
                    <a:pt x="1514475" y="942022"/>
                  </a:lnTo>
                  <a:lnTo>
                    <a:pt x="1570672" y="751522"/>
                  </a:lnTo>
                  <a:lnTo>
                    <a:pt x="1513522" y="741045"/>
                  </a:lnTo>
                  <a:moveTo>
                    <a:pt x="1514475" y="942022"/>
                  </a:moveTo>
                  <a:lnTo>
                    <a:pt x="1506855" y="752475"/>
                  </a:lnTo>
                  <a:lnTo>
                    <a:pt x="1449705" y="743902"/>
                  </a:lnTo>
                  <a:lnTo>
                    <a:pt x="1456372" y="934402"/>
                  </a:lnTo>
                  <a:lnTo>
                    <a:pt x="1514475" y="942022"/>
                  </a:lnTo>
                  <a:moveTo>
                    <a:pt x="1449705" y="743902"/>
                  </a:moveTo>
                  <a:lnTo>
                    <a:pt x="1372552" y="974407"/>
                  </a:lnTo>
                  <a:lnTo>
                    <a:pt x="1428750" y="985837"/>
                  </a:lnTo>
                  <a:lnTo>
                    <a:pt x="1506855" y="752475"/>
                  </a:lnTo>
                  <a:lnTo>
                    <a:pt x="1449705" y="743902"/>
                  </a:lnTo>
                  <a:moveTo>
                    <a:pt x="1428750" y="985837"/>
                  </a:moveTo>
                  <a:lnTo>
                    <a:pt x="1372552" y="974407"/>
                  </a:lnTo>
                  <a:lnTo>
                    <a:pt x="1385887" y="824865"/>
                  </a:lnTo>
                  <a:lnTo>
                    <a:pt x="1442084" y="836295"/>
                  </a:lnTo>
                  <a:lnTo>
                    <a:pt x="1428750" y="985837"/>
                  </a:lnTo>
                  <a:moveTo>
                    <a:pt x="1385887" y="824865"/>
                  </a:moveTo>
                  <a:lnTo>
                    <a:pt x="1324927" y="1017270"/>
                  </a:lnTo>
                  <a:lnTo>
                    <a:pt x="1382077" y="1025842"/>
                  </a:lnTo>
                  <a:lnTo>
                    <a:pt x="1442084" y="836295"/>
                  </a:lnTo>
                  <a:lnTo>
                    <a:pt x="1385887" y="824865"/>
                  </a:lnTo>
                  <a:moveTo>
                    <a:pt x="1382077" y="1025842"/>
                  </a:moveTo>
                  <a:lnTo>
                    <a:pt x="1380172" y="860107"/>
                  </a:lnTo>
                  <a:lnTo>
                    <a:pt x="1323022" y="851534"/>
                  </a:lnTo>
                  <a:lnTo>
                    <a:pt x="1324927" y="1017270"/>
                  </a:lnTo>
                  <a:lnTo>
                    <a:pt x="1382077" y="1025842"/>
                  </a:lnTo>
                  <a:moveTo>
                    <a:pt x="1323022" y="851534"/>
                  </a:moveTo>
                  <a:lnTo>
                    <a:pt x="1262062" y="1042034"/>
                  </a:lnTo>
                  <a:lnTo>
                    <a:pt x="1319212" y="1050607"/>
                  </a:lnTo>
                  <a:lnTo>
                    <a:pt x="1380172" y="860107"/>
                  </a:lnTo>
                  <a:lnTo>
                    <a:pt x="1323022" y="851534"/>
                  </a:lnTo>
                  <a:moveTo>
                    <a:pt x="1319212" y="1050607"/>
                  </a:moveTo>
                  <a:lnTo>
                    <a:pt x="1314450" y="887729"/>
                  </a:lnTo>
                  <a:lnTo>
                    <a:pt x="1256347" y="881062"/>
                  </a:lnTo>
                  <a:lnTo>
                    <a:pt x="1262062" y="1042034"/>
                  </a:lnTo>
                  <a:lnTo>
                    <a:pt x="1319212" y="1050607"/>
                  </a:lnTo>
                  <a:moveTo>
                    <a:pt x="1256347" y="881062"/>
                  </a:moveTo>
                  <a:lnTo>
                    <a:pt x="1206817" y="1060132"/>
                  </a:lnTo>
                  <a:lnTo>
                    <a:pt x="1264920" y="1064895"/>
                  </a:lnTo>
                  <a:lnTo>
                    <a:pt x="1314450" y="887729"/>
                  </a:lnTo>
                  <a:lnTo>
                    <a:pt x="1256347" y="881062"/>
                  </a:lnTo>
                  <a:moveTo>
                    <a:pt x="1264920" y="1064895"/>
                  </a:moveTo>
                  <a:lnTo>
                    <a:pt x="1246822" y="903922"/>
                  </a:lnTo>
                  <a:lnTo>
                    <a:pt x="1188720" y="898207"/>
                  </a:lnTo>
                  <a:lnTo>
                    <a:pt x="1206817" y="1060132"/>
                  </a:lnTo>
                  <a:lnTo>
                    <a:pt x="1264920" y="1064895"/>
                  </a:lnTo>
                  <a:moveTo>
                    <a:pt x="1188720" y="898207"/>
                  </a:moveTo>
                  <a:lnTo>
                    <a:pt x="1131570" y="1070609"/>
                  </a:lnTo>
                  <a:lnTo>
                    <a:pt x="1189672" y="1077277"/>
                  </a:lnTo>
                  <a:lnTo>
                    <a:pt x="1246822" y="903922"/>
                  </a:lnTo>
                  <a:lnTo>
                    <a:pt x="1188720" y="898207"/>
                  </a:lnTo>
                  <a:moveTo>
                    <a:pt x="1189672" y="1077277"/>
                  </a:moveTo>
                  <a:lnTo>
                    <a:pt x="1178242" y="916304"/>
                  </a:lnTo>
                  <a:lnTo>
                    <a:pt x="1120140" y="912495"/>
                  </a:lnTo>
                  <a:lnTo>
                    <a:pt x="1131570" y="1070609"/>
                  </a:lnTo>
                  <a:lnTo>
                    <a:pt x="1189672" y="1077277"/>
                  </a:lnTo>
                  <a:moveTo>
                    <a:pt x="1120140" y="912495"/>
                  </a:moveTo>
                  <a:lnTo>
                    <a:pt x="1087755" y="1065847"/>
                  </a:lnTo>
                  <a:lnTo>
                    <a:pt x="1144905" y="1070609"/>
                  </a:lnTo>
                  <a:lnTo>
                    <a:pt x="1178242" y="916304"/>
                  </a:lnTo>
                  <a:lnTo>
                    <a:pt x="1120140" y="912495"/>
                  </a:lnTo>
                  <a:moveTo>
                    <a:pt x="1144905" y="1070609"/>
                  </a:moveTo>
                  <a:lnTo>
                    <a:pt x="1142047" y="939165"/>
                  </a:lnTo>
                  <a:lnTo>
                    <a:pt x="1084897" y="923925"/>
                  </a:lnTo>
                  <a:lnTo>
                    <a:pt x="1087755" y="1065847"/>
                  </a:lnTo>
                  <a:lnTo>
                    <a:pt x="1144905" y="1070609"/>
                  </a:lnTo>
                  <a:moveTo>
                    <a:pt x="1084897" y="923925"/>
                  </a:moveTo>
                  <a:lnTo>
                    <a:pt x="1013459" y="1046797"/>
                  </a:lnTo>
                  <a:lnTo>
                    <a:pt x="1071562" y="1062037"/>
                  </a:lnTo>
                  <a:lnTo>
                    <a:pt x="1142047" y="939165"/>
                  </a:lnTo>
                  <a:lnTo>
                    <a:pt x="1084897" y="923925"/>
                  </a:lnTo>
                  <a:moveTo>
                    <a:pt x="1071562" y="1062037"/>
                  </a:moveTo>
                  <a:lnTo>
                    <a:pt x="1066800" y="937259"/>
                  </a:lnTo>
                  <a:lnTo>
                    <a:pt x="1008697" y="926782"/>
                  </a:lnTo>
                  <a:lnTo>
                    <a:pt x="1013459" y="1046797"/>
                  </a:lnTo>
                  <a:lnTo>
                    <a:pt x="1071562" y="1062037"/>
                  </a:lnTo>
                  <a:moveTo>
                    <a:pt x="1008697" y="926782"/>
                  </a:moveTo>
                  <a:lnTo>
                    <a:pt x="950595" y="1068705"/>
                  </a:lnTo>
                  <a:lnTo>
                    <a:pt x="1007745" y="1079182"/>
                  </a:lnTo>
                  <a:lnTo>
                    <a:pt x="1066800" y="937259"/>
                  </a:lnTo>
                  <a:lnTo>
                    <a:pt x="1008697" y="926782"/>
                  </a:lnTo>
                  <a:moveTo>
                    <a:pt x="1007745" y="1079182"/>
                  </a:moveTo>
                  <a:lnTo>
                    <a:pt x="1002982" y="937259"/>
                  </a:lnTo>
                  <a:lnTo>
                    <a:pt x="944879" y="925829"/>
                  </a:lnTo>
                  <a:lnTo>
                    <a:pt x="950595" y="1068705"/>
                  </a:lnTo>
                  <a:lnTo>
                    <a:pt x="1007745" y="1079182"/>
                  </a:lnTo>
                  <a:moveTo>
                    <a:pt x="944879" y="925829"/>
                  </a:moveTo>
                  <a:lnTo>
                    <a:pt x="882967" y="1063942"/>
                  </a:lnTo>
                  <a:lnTo>
                    <a:pt x="940117" y="1075372"/>
                  </a:lnTo>
                  <a:lnTo>
                    <a:pt x="1002982" y="937259"/>
                  </a:lnTo>
                  <a:lnTo>
                    <a:pt x="944879" y="925829"/>
                  </a:lnTo>
                  <a:moveTo>
                    <a:pt x="940117" y="1075372"/>
                  </a:moveTo>
                  <a:lnTo>
                    <a:pt x="939165" y="927734"/>
                  </a:lnTo>
                  <a:lnTo>
                    <a:pt x="882015" y="919162"/>
                  </a:lnTo>
                  <a:lnTo>
                    <a:pt x="882967" y="1063942"/>
                  </a:lnTo>
                  <a:lnTo>
                    <a:pt x="940117" y="1075372"/>
                  </a:lnTo>
                  <a:moveTo>
                    <a:pt x="882015" y="919162"/>
                  </a:moveTo>
                  <a:lnTo>
                    <a:pt x="835342" y="1072515"/>
                  </a:lnTo>
                  <a:lnTo>
                    <a:pt x="893445" y="1076325"/>
                  </a:lnTo>
                  <a:lnTo>
                    <a:pt x="939165" y="927734"/>
                  </a:lnTo>
                  <a:lnTo>
                    <a:pt x="882015" y="919162"/>
                  </a:lnTo>
                  <a:moveTo>
                    <a:pt x="893445" y="1076325"/>
                  </a:moveTo>
                  <a:lnTo>
                    <a:pt x="873442" y="930592"/>
                  </a:lnTo>
                  <a:lnTo>
                    <a:pt x="814387" y="922972"/>
                  </a:lnTo>
                  <a:lnTo>
                    <a:pt x="835342" y="1072515"/>
                  </a:lnTo>
                  <a:lnTo>
                    <a:pt x="893445" y="1076325"/>
                  </a:lnTo>
                  <a:moveTo>
                    <a:pt x="814387" y="922972"/>
                  </a:moveTo>
                  <a:lnTo>
                    <a:pt x="751522" y="1066800"/>
                  </a:lnTo>
                  <a:lnTo>
                    <a:pt x="807720" y="1082040"/>
                  </a:lnTo>
                  <a:lnTo>
                    <a:pt x="873442" y="930592"/>
                  </a:lnTo>
                  <a:lnTo>
                    <a:pt x="814387" y="922972"/>
                  </a:lnTo>
                  <a:moveTo>
                    <a:pt x="807720" y="1082040"/>
                  </a:moveTo>
                  <a:lnTo>
                    <a:pt x="751522" y="1066800"/>
                  </a:lnTo>
                  <a:lnTo>
                    <a:pt x="769620" y="925829"/>
                  </a:lnTo>
                  <a:lnTo>
                    <a:pt x="824865" y="944879"/>
                  </a:lnTo>
                  <a:lnTo>
                    <a:pt x="807720" y="1082040"/>
                  </a:lnTo>
                  <a:moveTo>
                    <a:pt x="769620" y="925829"/>
                  </a:moveTo>
                  <a:lnTo>
                    <a:pt x="694372" y="1052512"/>
                  </a:lnTo>
                  <a:lnTo>
                    <a:pt x="750570" y="1070609"/>
                  </a:lnTo>
                  <a:lnTo>
                    <a:pt x="824865" y="944879"/>
                  </a:lnTo>
                  <a:lnTo>
                    <a:pt x="769620" y="925829"/>
                  </a:lnTo>
                  <a:moveTo>
                    <a:pt x="750570" y="1070609"/>
                  </a:moveTo>
                  <a:lnTo>
                    <a:pt x="694372" y="1052512"/>
                  </a:lnTo>
                  <a:lnTo>
                    <a:pt x="705802" y="906779"/>
                  </a:lnTo>
                  <a:lnTo>
                    <a:pt x="762000" y="921067"/>
                  </a:lnTo>
                  <a:lnTo>
                    <a:pt x="750570" y="1070609"/>
                  </a:lnTo>
                  <a:moveTo>
                    <a:pt x="705802" y="906779"/>
                  </a:moveTo>
                  <a:lnTo>
                    <a:pt x="637222" y="1068705"/>
                  </a:lnTo>
                  <a:lnTo>
                    <a:pt x="694372" y="1080134"/>
                  </a:lnTo>
                  <a:lnTo>
                    <a:pt x="762000" y="921067"/>
                  </a:lnTo>
                  <a:lnTo>
                    <a:pt x="705802" y="906779"/>
                  </a:lnTo>
                  <a:moveTo>
                    <a:pt x="694372" y="1080134"/>
                  </a:moveTo>
                  <a:lnTo>
                    <a:pt x="637222" y="1068705"/>
                  </a:lnTo>
                  <a:lnTo>
                    <a:pt x="637222" y="908684"/>
                  </a:lnTo>
                  <a:lnTo>
                    <a:pt x="694372" y="919162"/>
                  </a:lnTo>
                  <a:lnTo>
                    <a:pt x="694372" y="1080134"/>
                  </a:lnTo>
                  <a:moveTo>
                    <a:pt x="637222" y="908684"/>
                  </a:moveTo>
                  <a:lnTo>
                    <a:pt x="581977" y="1053465"/>
                  </a:lnTo>
                  <a:lnTo>
                    <a:pt x="640079" y="1062037"/>
                  </a:lnTo>
                  <a:lnTo>
                    <a:pt x="694372" y="919162"/>
                  </a:lnTo>
                  <a:lnTo>
                    <a:pt x="637222" y="908684"/>
                  </a:lnTo>
                  <a:moveTo>
                    <a:pt x="640079" y="1062037"/>
                  </a:moveTo>
                  <a:lnTo>
                    <a:pt x="632460" y="918209"/>
                  </a:lnTo>
                  <a:lnTo>
                    <a:pt x="574357" y="907732"/>
                  </a:lnTo>
                  <a:lnTo>
                    <a:pt x="581977" y="1053465"/>
                  </a:lnTo>
                  <a:lnTo>
                    <a:pt x="640079" y="1062037"/>
                  </a:lnTo>
                  <a:moveTo>
                    <a:pt x="574357" y="907732"/>
                  </a:moveTo>
                  <a:lnTo>
                    <a:pt x="512445" y="1056322"/>
                  </a:lnTo>
                  <a:lnTo>
                    <a:pt x="570547" y="1064895"/>
                  </a:lnTo>
                  <a:lnTo>
                    <a:pt x="632460" y="918209"/>
                  </a:lnTo>
                  <a:lnTo>
                    <a:pt x="574357" y="907732"/>
                  </a:lnTo>
                  <a:moveTo>
                    <a:pt x="570547" y="1064895"/>
                  </a:moveTo>
                  <a:lnTo>
                    <a:pt x="557212" y="929640"/>
                  </a:lnTo>
                  <a:lnTo>
                    <a:pt x="499110" y="921067"/>
                  </a:lnTo>
                  <a:lnTo>
                    <a:pt x="512445" y="1056322"/>
                  </a:lnTo>
                  <a:lnTo>
                    <a:pt x="570547" y="1064895"/>
                  </a:lnTo>
                  <a:moveTo>
                    <a:pt x="499110" y="921067"/>
                  </a:moveTo>
                  <a:lnTo>
                    <a:pt x="441007" y="1062990"/>
                  </a:lnTo>
                  <a:lnTo>
                    <a:pt x="498157" y="1076325"/>
                  </a:lnTo>
                  <a:lnTo>
                    <a:pt x="557212" y="929640"/>
                  </a:lnTo>
                  <a:lnTo>
                    <a:pt x="499110" y="921067"/>
                  </a:lnTo>
                  <a:moveTo>
                    <a:pt x="498157" y="1076325"/>
                  </a:moveTo>
                  <a:lnTo>
                    <a:pt x="505777" y="925829"/>
                  </a:lnTo>
                  <a:lnTo>
                    <a:pt x="449579" y="913447"/>
                  </a:lnTo>
                  <a:lnTo>
                    <a:pt x="441007" y="1062990"/>
                  </a:lnTo>
                  <a:lnTo>
                    <a:pt x="498157" y="1076325"/>
                  </a:lnTo>
                  <a:moveTo>
                    <a:pt x="449579" y="913447"/>
                  </a:moveTo>
                  <a:lnTo>
                    <a:pt x="395287" y="1048702"/>
                  </a:lnTo>
                  <a:lnTo>
                    <a:pt x="453389" y="1056322"/>
                  </a:lnTo>
                  <a:lnTo>
                    <a:pt x="505777" y="925829"/>
                  </a:lnTo>
                  <a:lnTo>
                    <a:pt x="449579" y="913447"/>
                  </a:lnTo>
                  <a:moveTo>
                    <a:pt x="453389" y="1056322"/>
                  </a:moveTo>
                  <a:lnTo>
                    <a:pt x="438150" y="900112"/>
                  </a:lnTo>
                  <a:lnTo>
                    <a:pt x="379095" y="889634"/>
                  </a:lnTo>
                  <a:lnTo>
                    <a:pt x="395287" y="1048702"/>
                  </a:lnTo>
                  <a:lnTo>
                    <a:pt x="453389" y="1056322"/>
                  </a:lnTo>
                  <a:moveTo>
                    <a:pt x="379095" y="889634"/>
                  </a:moveTo>
                  <a:lnTo>
                    <a:pt x="320039" y="1015365"/>
                  </a:lnTo>
                  <a:lnTo>
                    <a:pt x="379095" y="1024890"/>
                  </a:lnTo>
                  <a:lnTo>
                    <a:pt x="438150" y="900112"/>
                  </a:lnTo>
                  <a:lnTo>
                    <a:pt x="379095" y="889634"/>
                  </a:lnTo>
                  <a:moveTo>
                    <a:pt x="379095" y="1024890"/>
                  </a:moveTo>
                  <a:lnTo>
                    <a:pt x="360045" y="881062"/>
                  </a:lnTo>
                  <a:lnTo>
                    <a:pt x="300989" y="874395"/>
                  </a:lnTo>
                  <a:lnTo>
                    <a:pt x="320039" y="1015365"/>
                  </a:lnTo>
                  <a:lnTo>
                    <a:pt x="379095" y="1024890"/>
                  </a:lnTo>
                  <a:moveTo>
                    <a:pt x="300989" y="874395"/>
                  </a:moveTo>
                  <a:lnTo>
                    <a:pt x="251460" y="1002982"/>
                  </a:lnTo>
                  <a:lnTo>
                    <a:pt x="308610" y="1013459"/>
                  </a:lnTo>
                  <a:lnTo>
                    <a:pt x="360045" y="881062"/>
                  </a:lnTo>
                  <a:lnTo>
                    <a:pt x="300989" y="874395"/>
                  </a:lnTo>
                  <a:moveTo>
                    <a:pt x="308610" y="1013459"/>
                  </a:moveTo>
                  <a:lnTo>
                    <a:pt x="310514" y="840104"/>
                  </a:lnTo>
                  <a:lnTo>
                    <a:pt x="253364" y="825817"/>
                  </a:lnTo>
                  <a:lnTo>
                    <a:pt x="251460" y="1002982"/>
                  </a:lnTo>
                  <a:lnTo>
                    <a:pt x="308610" y="1013459"/>
                  </a:lnTo>
                  <a:moveTo>
                    <a:pt x="253364" y="825817"/>
                  </a:moveTo>
                  <a:lnTo>
                    <a:pt x="187642" y="957262"/>
                  </a:lnTo>
                  <a:lnTo>
                    <a:pt x="245745" y="968692"/>
                  </a:lnTo>
                  <a:lnTo>
                    <a:pt x="310514" y="840104"/>
                  </a:lnTo>
                  <a:lnTo>
                    <a:pt x="253364" y="825817"/>
                  </a:lnTo>
                  <a:moveTo>
                    <a:pt x="245745" y="968692"/>
                  </a:moveTo>
                  <a:lnTo>
                    <a:pt x="233362" y="762952"/>
                  </a:lnTo>
                  <a:lnTo>
                    <a:pt x="175260" y="751522"/>
                  </a:lnTo>
                  <a:lnTo>
                    <a:pt x="187642" y="957262"/>
                  </a:lnTo>
                  <a:lnTo>
                    <a:pt x="245745" y="968692"/>
                  </a:lnTo>
                  <a:moveTo>
                    <a:pt x="175260" y="751522"/>
                  </a:moveTo>
                  <a:lnTo>
                    <a:pt x="114300" y="881062"/>
                  </a:lnTo>
                  <a:lnTo>
                    <a:pt x="170497" y="895350"/>
                  </a:lnTo>
                  <a:lnTo>
                    <a:pt x="233362" y="762952"/>
                  </a:lnTo>
                  <a:lnTo>
                    <a:pt x="175260" y="751522"/>
                  </a:lnTo>
                  <a:moveTo>
                    <a:pt x="170497" y="895350"/>
                  </a:moveTo>
                  <a:lnTo>
                    <a:pt x="179070" y="771525"/>
                  </a:lnTo>
                  <a:lnTo>
                    <a:pt x="123825" y="746759"/>
                  </a:lnTo>
                  <a:lnTo>
                    <a:pt x="114300" y="881062"/>
                  </a:lnTo>
                  <a:lnTo>
                    <a:pt x="170497" y="895350"/>
                  </a:lnTo>
                  <a:moveTo>
                    <a:pt x="123825" y="746759"/>
                  </a:moveTo>
                  <a:lnTo>
                    <a:pt x="63817" y="811529"/>
                  </a:lnTo>
                  <a:lnTo>
                    <a:pt x="126682" y="827722"/>
                  </a:lnTo>
                  <a:lnTo>
                    <a:pt x="179070" y="771525"/>
                  </a:lnTo>
                  <a:lnTo>
                    <a:pt x="123825" y="746759"/>
                  </a:lnTo>
                  <a:moveTo>
                    <a:pt x="126682" y="827722"/>
                  </a:moveTo>
                  <a:lnTo>
                    <a:pt x="109537" y="758190"/>
                  </a:lnTo>
                  <a:lnTo>
                    <a:pt x="54292" y="771525"/>
                  </a:lnTo>
                  <a:lnTo>
                    <a:pt x="63817" y="811529"/>
                  </a:lnTo>
                  <a:lnTo>
                    <a:pt x="126682" y="827722"/>
                  </a:lnTo>
                </a:path>
              </a:pathLst>
            </a:custGeom>
            <a:grpFill/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ed Rectangle 5">
              <a:extLst>
                <a:ext uri="{FF2B5EF4-FFF2-40B4-BE49-F238E27FC236}">
                  <a16:creationId xmlns:a16="http://schemas.microsoft.com/office/drawing/2014/main" id="{AAEE99FF-7A4D-D7D2-661F-E8457E5C6283}"/>
                </a:ext>
              </a:extLst>
            </p:cNvPr>
            <p:cNvSpPr/>
            <p:nvPr/>
          </p:nvSpPr>
          <p:spPr>
            <a:xfrm>
              <a:off x="3773947" y="3479182"/>
              <a:ext cx="1669732" cy="1088707"/>
            </a:xfrm>
            <a:custGeom>
              <a:avLst/>
              <a:gdLst/>
              <a:ahLst/>
              <a:cxnLst/>
              <a:rect l="0" t="0" r="0" b="0"/>
              <a:pathLst>
                <a:path w="1669732" h="1088707">
                  <a:moveTo>
                    <a:pt x="531814" y="921479"/>
                  </a:moveTo>
                  <a:cubicBezTo>
                    <a:pt x="390785" y="921479"/>
                    <a:pt x="267737" y="844488"/>
                    <a:pt x="202412" y="730244"/>
                  </a:cubicBezTo>
                  <a:cubicBezTo>
                    <a:pt x="155145" y="749646"/>
                    <a:pt x="104460" y="762425"/>
                    <a:pt x="51510" y="767428"/>
                  </a:cubicBezTo>
                  <a:lnTo>
                    <a:pt x="50918" y="767428"/>
                  </a:lnTo>
                  <a:cubicBezTo>
                    <a:pt x="135627" y="948060"/>
                    <a:pt x="319112" y="1073154"/>
                    <a:pt x="531814" y="1073154"/>
                  </a:cubicBezTo>
                  <a:lnTo>
                    <a:pt x="835164" y="1073154"/>
                  </a:lnTo>
                  <a:lnTo>
                    <a:pt x="1138514" y="1073154"/>
                  </a:lnTo>
                  <a:cubicBezTo>
                    <a:pt x="1351217" y="1073154"/>
                    <a:pt x="1534702" y="948060"/>
                    <a:pt x="1619413" y="767428"/>
                  </a:cubicBezTo>
                  <a:lnTo>
                    <a:pt x="1618819" y="767428"/>
                  </a:lnTo>
                  <a:cubicBezTo>
                    <a:pt x="1565869" y="762425"/>
                    <a:pt x="1515184" y="749646"/>
                    <a:pt x="1467917" y="730244"/>
                  </a:cubicBezTo>
                  <a:cubicBezTo>
                    <a:pt x="1402592" y="844488"/>
                    <a:pt x="1279544" y="921479"/>
                    <a:pt x="1138514" y="921479"/>
                  </a:cubicBezTo>
                  <a:lnTo>
                    <a:pt x="835164" y="921479"/>
                  </a:lnTo>
                  <a:close/>
                  <a:moveTo>
                    <a:pt x="6323" y="618093"/>
                  </a:moveTo>
                  <a:cubicBezTo>
                    <a:pt x="59228" y="617357"/>
                    <a:pt x="109513" y="605788"/>
                    <a:pt x="155063" y="585504"/>
                  </a:cubicBezTo>
                  <a:cubicBezTo>
                    <a:pt x="153454" y="571323"/>
                    <a:pt x="152627" y="556903"/>
                    <a:pt x="152627" y="542292"/>
                  </a:cubicBezTo>
                  <a:cubicBezTo>
                    <a:pt x="152627" y="387745"/>
                    <a:pt x="245084" y="254793"/>
                    <a:pt x="377704" y="195731"/>
                  </a:cubicBezTo>
                  <a:cubicBezTo>
                    <a:pt x="423253" y="175446"/>
                    <a:pt x="473538" y="163877"/>
                    <a:pt x="526444" y="163141"/>
                  </a:cubicBezTo>
                  <a:cubicBezTo>
                    <a:pt x="629306" y="161714"/>
                    <a:pt x="732239" y="161901"/>
                    <a:pt x="835164" y="162327"/>
                  </a:cubicBezTo>
                  <a:cubicBezTo>
                    <a:pt x="938090" y="161901"/>
                    <a:pt x="1041023" y="161714"/>
                    <a:pt x="1143885" y="163141"/>
                  </a:cubicBezTo>
                  <a:cubicBezTo>
                    <a:pt x="1196790" y="163877"/>
                    <a:pt x="1247076" y="175446"/>
                    <a:pt x="1292625" y="195731"/>
                  </a:cubicBezTo>
                  <a:cubicBezTo>
                    <a:pt x="1425245" y="254793"/>
                    <a:pt x="1517702" y="387745"/>
                    <a:pt x="1517702" y="542292"/>
                  </a:cubicBezTo>
                  <a:cubicBezTo>
                    <a:pt x="1517702" y="556903"/>
                    <a:pt x="1516875" y="571323"/>
                    <a:pt x="1515266" y="585504"/>
                  </a:cubicBezTo>
                  <a:cubicBezTo>
                    <a:pt x="1560816" y="605788"/>
                    <a:pt x="1611101" y="617357"/>
                    <a:pt x="1664006" y="618093"/>
                  </a:cubicBezTo>
                  <a:cubicBezTo>
                    <a:pt x="1667545" y="593336"/>
                    <a:pt x="1669377" y="568027"/>
                    <a:pt x="1669377" y="542292"/>
                  </a:cubicBezTo>
                  <a:cubicBezTo>
                    <a:pt x="1669377" y="320552"/>
                    <a:pt x="1533083" y="130395"/>
                    <a:pt x="1339987" y="50966"/>
                  </a:cubicBezTo>
                  <a:cubicBezTo>
                    <a:pt x="1292449" y="31413"/>
                    <a:pt x="1241792" y="18729"/>
                    <a:pt x="1188504" y="13753"/>
                  </a:cubicBezTo>
                  <a:cubicBezTo>
                    <a:pt x="1172047" y="12216"/>
                    <a:pt x="1155373" y="11429"/>
                    <a:pt x="1138514" y="11429"/>
                  </a:cubicBezTo>
                  <a:lnTo>
                    <a:pt x="835164" y="11429"/>
                  </a:lnTo>
                  <a:lnTo>
                    <a:pt x="531814" y="11429"/>
                  </a:lnTo>
                  <a:cubicBezTo>
                    <a:pt x="514956" y="11429"/>
                    <a:pt x="498282" y="12216"/>
                    <a:pt x="481825" y="13753"/>
                  </a:cubicBezTo>
                  <a:cubicBezTo>
                    <a:pt x="428536" y="18729"/>
                    <a:pt x="377880" y="31413"/>
                    <a:pt x="330342" y="50966"/>
                  </a:cubicBezTo>
                  <a:cubicBezTo>
                    <a:pt x="137246" y="130395"/>
                    <a:pt x="952" y="320552"/>
                    <a:pt x="952" y="542292"/>
                  </a:cubicBezTo>
                  <a:cubicBezTo>
                    <a:pt x="952" y="568027"/>
                    <a:pt x="2783" y="593336"/>
                    <a:pt x="6323" y="618093"/>
                  </a:cubicBezTo>
                  <a:close/>
                  <a:moveTo>
                    <a:pt x="952" y="618129"/>
                  </a:moveTo>
                  <a:cubicBezTo>
                    <a:pt x="2746" y="618129"/>
                    <a:pt x="4535" y="618117"/>
                    <a:pt x="6323" y="618093"/>
                  </a:cubicBezTo>
                  <a:moveTo>
                    <a:pt x="1664006" y="618093"/>
                  </a:moveTo>
                  <a:cubicBezTo>
                    <a:pt x="1665794" y="618117"/>
                    <a:pt x="1667583" y="618129"/>
                    <a:pt x="1669377" y="618129"/>
                  </a:cubicBezTo>
                  <a:moveTo>
                    <a:pt x="531494" y="921067"/>
                  </a:moveTo>
                  <a:cubicBezTo>
                    <a:pt x="390525" y="926782"/>
                    <a:pt x="264794" y="845820"/>
                    <a:pt x="202882" y="730567"/>
                  </a:cubicBezTo>
                  <a:cubicBezTo>
                    <a:pt x="158114" y="755332"/>
                    <a:pt x="104775" y="762952"/>
                    <a:pt x="51435" y="767714"/>
                  </a:cubicBezTo>
                  <a:cubicBezTo>
                    <a:pt x="145732" y="942975"/>
                    <a:pt x="319087" y="1081087"/>
                    <a:pt x="531494" y="1073467"/>
                  </a:cubicBezTo>
                  <a:cubicBezTo>
                    <a:pt x="632460" y="1069657"/>
                    <a:pt x="735329" y="1088707"/>
                    <a:pt x="835342" y="1073467"/>
                  </a:cubicBezTo>
                  <a:cubicBezTo>
                    <a:pt x="935355" y="1058227"/>
                    <a:pt x="1038224" y="1086802"/>
                    <a:pt x="1138237" y="1073467"/>
                  </a:cubicBezTo>
                  <a:cubicBezTo>
                    <a:pt x="1348740" y="1042987"/>
                    <a:pt x="1544955" y="952500"/>
                    <a:pt x="1619249" y="767714"/>
                  </a:cubicBezTo>
                  <a:cubicBezTo>
                    <a:pt x="1566862" y="755332"/>
                    <a:pt x="1516380" y="746759"/>
                    <a:pt x="1467802" y="730567"/>
                  </a:cubicBezTo>
                  <a:cubicBezTo>
                    <a:pt x="1396365" y="840104"/>
                    <a:pt x="1279207" y="933450"/>
                    <a:pt x="1138237" y="921067"/>
                  </a:cubicBezTo>
                  <a:cubicBezTo>
                    <a:pt x="1037272" y="913447"/>
                    <a:pt x="936307" y="920114"/>
                    <a:pt x="835342" y="921067"/>
                  </a:cubicBezTo>
                  <a:cubicBezTo>
                    <a:pt x="734377" y="922972"/>
                    <a:pt x="632460" y="909637"/>
                    <a:pt x="531494" y="921067"/>
                  </a:cubicBezTo>
                  <a:moveTo>
                    <a:pt x="6667" y="618172"/>
                  </a:moveTo>
                  <a:cubicBezTo>
                    <a:pt x="5714" y="593407"/>
                    <a:pt x="952" y="567689"/>
                    <a:pt x="952" y="541972"/>
                  </a:cubicBezTo>
                  <a:cubicBezTo>
                    <a:pt x="0" y="320992"/>
                    <a:pt x="135254" y="124777"/>
                    <a:pt x="330517" y="51434"/>
                  </a:cubicBezTo>
                  <a:cubicBezTo>
                    <a:pt x="378142" y="32384"/>
                    <a:pt x="428625" y="20954"/>
                    <a:pt x="481964" y="13334"/>
                  </a:cubicBezTo>
                  <a:cubicBezTo>
                    <a:pt x="498157" y="11429"/>
                    <a:pt x="515302" y="11429"/>
                    <a:pt x="531494" y="11429"/>
                  </a:cubicBezTo>
                  <a:cubicBezTo>
                    <a:pt x="632460" y="13334"/>
                    <a:pt x="734377" y="22859"/>
                    <a:pt x="835342" y="11429"/>
                  </a:cubicBezTo>
                  <a:cubicBezTo>
                    <a:pt x="935355" y="0"/>
                    <a:pt x="1037272" y="10477"/>
                    <a:pt x="1138237" y="11429"/>
                  </a:cubicBezTo>
                  <a:cubicBezTo>
                    <a:pt x="1155382" y="11429"/>
                    <a:pt x="1171574" y="14287"/>
                    <a:pt x="1188719" y="13334"/>
                  </a:cubicBezTo>
                  <a:cubicBezTo>
                    <a:pt x="1242060" y="12382"/>
                    <a:pt x="1290637" y="37147"/>
                    <a:pt x="1340167" y="51434"/>
                  </a:cubicBezTo>
                  <a:cubicBezTo>
                    <a:pt x="1541144" y="107632"/>
                    <a:pt x="1666874" y="320992"/>
                    <a:pt x="1669732" y="541972"/>
                  </a:cubicBezTo>
                  <a:cubicBezTo>
                    <a:pt x="1669732" y="567689"/>
                    <a:pt x="1662112" y="593407"/>
                    <a:pt x="1664017" y="618172"/>
                  </a:cubicBezTo>
                  <a:cubicBezTo>
                    <a:pt x="1611630" y="624839"/>
                    <a:pt x="1562099" y="602932"/>
                    <a:pt x="1515427" y="585787"/>
                  </a:cubicBezTo>
                  <a:cubicBezTo>
                    <a:pt x="1513522" y="571500"/>
                    <a:pt x="1517332" y="557212"/>
                    <a:pt x="1517332" y="541972"/>
                  </a:cubicBezTo>
                  <a:cubicBezTo>
                    <a:pt x="1524952" y="387667"/>
                    <a:pt x="1427797" y="249554"/>
                    <a:pt x="1292542" y="195262"/>
                  </a:cubicBezTo>
                  <a:cubicBezTo>
                    <a:pt x="1245869" y="177164"/>
                    <a:pt x="1196340" y="165734"/>
                    <a:pt x="1143952" y="162877"/>
                  </a:cubicBezTo>
                  <a:cubicBezTo>
                    <a:pt x="1041082" y="157162"/>
                    <a:pt x="938212" y="160972"/>
                    <a:pt x="835342" y="161925"/>
                  </a:cubicBezTo>
                  <a:cubicBezTo>
                    <a:pt x="732472" y="156209"/>
                    <a:pt x="628650" y="151447"/>
                    <a:pt x="526732" y="162877"/>
                  </a:cubicBezTo>
                  <a:cubicBezTo>
                    <a:pt x="474344" y="169545"/>
                    <a:pt x="425767" y="182879"/>
                    <a:pt x="378142" y="195262"/>
                  </a:cubicBezTo>
                  <a:cubicBezTo>
                    <a:pt x="238125" y="234314"/>
                    <a:pt x="162877" y="387667"/>
                    <a:pt x="152400" y="541972"/>
                  </a:cubicBezTo>
                  <a:cubicBezTo>
                    <a:pt x="151447" y="557212"/>
                    <a:pt x="156210" y="571500"/>
                    <a:pt x="155257" y="585787"/>
                  </a:cubicBezTo>
                  <a:cubicBezTo>
                    <a:pt x="109537" y="606742"/>
                    <a:pt x="59054" y="616267"/>
                    <a:pt x="6667" y="618172"/>
                  </a:cubicBezTo>
                  <a:moveTo>
                    <a:pt x="952" y="618172"/>
                  </a:moveTo>
                  <a:cubicBezTo>
                    <a:pt x="2857" y="618172"/>
                    <a:pt x="4762" y="618172"/>
                    <a:pt x="6667" y="618172"/>
                  </a:cubicBezTo>
                  <a:moveTo>
                    <a:pt x="1664017" y="618172"/>
                  </a:moveTo>
                  <a:cubicBezTo>
                    <a:pt x="1665922" y="619125"/>
                    <a:pt x="1667827" y="618172"/>
                    <a:pt x="1669732" y="618172"/>
                  </a:cubicBezTo>
                </a:path>
              </a:pathLst>
            </a:custGeom>
            <a:grpFill/>
            <a:ln w="37918">
              <a:solidFill>
                <a:srgbClr val="402019"/>
              </a:solidFill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2" name="Rounded Rectangle 6">
              <a:extLst>
                <a:ext uri="{FF2B5EF4-FFF2-40B4-BE49-F238E27FC236}">
                  <a16:creationId xmlns:a16="http://schemas.microsoft.com/office/drawing/2014/main" id="{E54A98D9-7BDD-DCDC-15EC-A41235291BE9}"/>
                </a:ext>
              </a:extLst>
            </p:cNvPr>
            <p:cNvSpPr/>
            <p:nvPr/>
          </p:nvSpPr>
          <p:spPr>
            <a:xfrm>
              <a:off x="4903889" y="3178685"/>
              <a:ext cx="1681162" cy="1081087"/>
            </a:xfrm>
            <a:custGeom>
              <a:avLst/>
              <a:gdLst/>
              <a:ahLst/>
              <a:cxnLst/>
              <a:rect l="0" t="0" r="0" b="0"/>
              <a:pathLst>
                <a:path w="1681162" h="1081087">
                  <a:moveTo>
                    <a:pt x="0" y="501014"/>
                  </a:moveTo>
                  <a:lnTo>
                    <a:pt x="8572" y="670559"/>
                  </a:lnTo>
                  <a:lnTo>
                    <a:pt x="65722" y="676275"/>
                  </a:lnTo>
                  <a:lnTo>
                    <a:pt x="57150" y="498157"/>
                  </a:lnTo>
                  <a:close/>
                  <a:moveTo>
                    <a:pt x="65722" y="676275"/>
                  </a:moveTo>
                  <a:lnTo>
                    <a:pt x="119062" y="472439"/>
                  </a:lnTo>
                  <a:lnTo>
                    <a:pt x="60959" y="465772"/>
                  </a:lnTo>
                  <a:lnTo>
                    <a:pt x="8572" y="670559"/>
                  </a:lnTo>
                  <a:close/>
                  <a:moveTo>
                    <a:pt x="60959" y="465772"/>
                  </a:moveTo>
                  <a:lnTo>
                    <a:pt x="79057" y="816292"/>
                  </a:lnTo>
                  <a:lnTo>
                    <a:pt x="136207" y="822007"/>
                  </a:lnTo>
                  <a:lnTo>
                    <a:pt x="119062" y="472439"/>
                  </a:lnTo>
                  <a:close/>
                  <a:moveTo>
                    <a:pt x="136207" y="822007"/>
                  </a:moveTo>
                  <a:lnTo>
                    <a:pt x="190500" y="620077"/>
                  </a:lnTo>
                  <a:lnTo>
                    <a:pt x="133350" y="612457"/>
                  </a:lnTo>
                  <a:lnTo>
                    <a:pt x="79057" y="816292"/>
                  </a:lnTo>
                  <a:close/>
                  <a:moveTo>
                    <a:pt x="133350" y="612457"/>
                  </a:moveTo>
                  <a:lnTo>
                    <a:pt x="135254" y="909637"/>
                  </a:lnTo>
                  <a:lnTo>
                    <a:pt x="192404" y="922972"/>
                  </a:lnTo>
                  <a:lnTo>
                    <a:pt x="190500" y="620077"/>
                  </a:lnTo>
                  <a:close/>
                  <a:moveTo>
                    <a:pt x="192404" y="922972"/>
                  </a:moveTo>
                  <a:lnTo>
                    <a:pt x="259079" y="788669"/>
                  </a:lnTo>
                  <a:lnTo>
                    <a:pt x="200025" y="778192"/>
                  </a:lnTo>
                  <a:lnTo>
                    <a:pt x="135254" y="909637"/>
                  </a:lnTo>
                  <a:close/>
                  <a:moveTo>
                    <a:pt x="200025" y="778192"/>
                  </a:moveTo>
                  <a:lnTo>
                    <a:pt x="223837" y="968692"/>
                  </a:lnTo>
                  <a:lnTo>
                    <a:pt x="281939" y="973454"/>
                  </a:lnTo>
                  <a:lnTo>
                    <a:pt x="259079" y="788669"/>
                  </a:lnTo>
                  <a:close/>
                  <a:moveTo>
                    <a:pt x="281939" y="973454"/>
                  </a:moveTo>
                  <a:lnTo>
                    <a:pt x="317182" y="839152"/>
                  </a:lnTo>
                  <a:lnTo>
                    <a:pt x="260032" y="833437"/>
                  </a:lnTo>
                  <a:lnTo>
                    <a:pt x="223837" y="968692"/>
                  </a:lnTo>
                  <a:close/>
                  <a:moveTo>
                    <a:pt x="260032" y="833437"/>
                  </a:moveTo>
                  <a:lnTo>
                    <a:pt x="269557" y="994409"/>
                  </a:lnTo>
                  <a:lnTo>
                    <a:pt x="327659" y="1009650"/>
                  </a:lnTo>
                  <a:lnTo>
                    <a:pt x="317182" y="839152"/>
                  </a:lnTo>
                  <a:close/>
                  <a:moveTo>
                    <a:pt x="327659" y="1009650"/>
                  </a:moveTo>
                  <a:lnTo>
                    <a:pt x="401954" y="899159"/>
                  </a:lnTo>
                  <a:lnTo>
                    <a:pt x="344804" y="882014"/>
                  </a:lnTo>
                  <a:lnTo>
                    <a:pt x="269557" y="994409"/>
                  </a:lnTo>
                  <a:close/>
                  <a:moveTo>
                    <a:pt x="344804" y="882014"/>
                  </a:moveTo>
                  <a:lnTo>
                    <a:pt x="344804" y="1038225"/>
                  </a:lnTo>
                  <a:lnTo>
                    <a:pt x="401954" y="1046797"/>
                  </a:lnTo>
                  <a:lnTo>
                    <a:pt x="401954" y="899159"/>
                  </a:lnTo>
                  <a:close/>
                  <a:moveTo>
                    <a:pt x="401954" y="1046797"/>
                  </a:moveTo>
                  <a:lnTo>
                    <a:pt x="443864" y="902017"/>
                  </a:lnTo>
                  <a:lnTo>
                    <a:pt x="385762" y="895350"/>
                  </a:lnTo>
                  <a:lnTo>
                    <a:pt x="344804" y="1038225"/>
                  </a:lnTo>
                  <a:close/>
                  <a:moveTo>
                    <a:pt x="385762" y="895350"/>
                  </a:moveTo>
                  <a:lnTo>
                    <a:pt x="395287" y="1036319"/>
                  </a:lnTo>
                  <a:lnTo>
                    <a:pt x="453389" y="1049655"/>
                  </a:lnTo>
                  <a:lnTo>
                    <a:pt x="443864" y="902017"/>
                  </a:lnTo>
                  <a:close/>
                  <a:moveTo>
                    <a:pt x="453389" y="1049655"/>
                  </a:moveTo>
                  <a:lnTo>
                    <a:pt x="528637" y="914400"/>
                  </a:lnTo>
                  <a:lnTo>
                    <a:pt x="469582" y="902017"/>
                  </a:lnTo>
                  <a:lnTo>
                    <a:pt x="395287" y="1036319"/>
                  </a:lnTo>
                  <a:close/>
                  <a:moveTo>
                    <a:pt x="469582" y="902017"/>
                  </a:moveTo>
                  <a:lnTo>
                    <a:pt x="483869" y="1049655"/>
                  </a:lnTo>
                  <a:lnTo>
                    <a:pt x="541972" y="1058227"/>
                  </a:lnTo>
                  <a:lnTo>
                    <a:pt x="528637" y="914400"/>
                  </a:lnTo>
                  <a:close/>
                  <a:moveTo>
                    <a:pt x="541972" y="1058227"/>
                  </a:moveTo>
                  <a:lnTo>
                    <a:pt x="593407" y="933450"/>
                  </a:lnTo>
                  <a:lnTo>
                    <a:pt x="536257" y="921067"/>
                  </a:lnTo>
                  <a:lnTo>
                    <a:pt x="483869" y="1049655"/>
                  </a:lnTo>
                  <a:close/>
                  <a:moveTo>
                    <a:pt x="536257" y="921067"/>
                  </a:moveTo>
                  <a:lnTo>
                    <a:pt x="527684" y="1068705"/>
                  </a:lnTo>
                  <a:lnTo>
                    <a:pt x="584834" y="1081087"/>
                  </a:lnTo>
                  <a:lnTo>
                    <a:pt x="593407" y="933450"/>
                  </a:lnTo>
                  <a:close/>
                  <a:moveTo>
                    <a:pt x="584834" y="1081087"/>
                  </a:moveTo>
                  <a:lnTo>
                    <a:pt x="640079" y="933450"/>
                  </a:lnTo>
                  <a:lnTo>
                    <a:pt x="581025" y="927734"/>
                  </a:lnTo>
                  <a:lnTo>
                    <a:pt x="527684" y="1068705"/>
                  </a:lnTo>
                  <a:close/>
                  <a:moveTo>
                    <a:pt x="581025" y="927734"/>
                  </a:moveTo>
                  <a:lnTo>
                    <a:pt x="602932" y="1052512"/>
                  </a:lnTo>
                  <a:lnTo>
                    <a:pt x="661987" y="1059180"/>
                  </a:lnTo>
                  <a:lnTo>
                    <a:pt x="640079" y="933450"/>
                  </a:lnTo>
                  <a:close/>
                  <a:moveTo>
                    <a:pt x="661987" y="1059180"/>
                  </a:moveTo>
                  <a:lnTo>
                    <a:pt x="711517" y="934402"/>
                  </a:lnTo>
                  <a:lnTo>
                    <a:pt x="654367" y="923925"/>
                  </a:lnTo>
                  <a:lnTo>
                    <a:pt x="602932" y="1052512"/>
                  </a:lnTo>
                  <a:close/>
                  <a:moveTo>
                    <a:pt x="654367" y="923925"/>
                  </a:moveTo>
                  <a:lnTo>
                    <a:pt x="657225" y="1065847"/>
                  </a:lnTo>
                  <a:lnTo>
                    <a:pt x="714375" y="1078230"/>
                  </a:lnTo>
                  <a:lnTo>
                    <a:pt x="711517" y="934402"/>
                  </a:lnTo>
                  <a:close/>
                  <a:moveTo>
                    <a:pt x="714375" y="1078230"/>
                  </a:moveTo>
                  <a:lnTo>
                    <a:pt x="784859" y="934402"/>
                  </a:lnTo>
                  <a:lnTo>
                    <a:pt x="726757" y="923925"/>
                  </a:lnTo>
                  <a:lnTo>
                    <a:pt x="657225" y="1065847"/>
                  </a:lnTo>
                  <a:close/>
                  <a:moveTo>
                    <a:pt x="726757" y="923925"/>
                  </a:moveTo>
                  <a:lnTo>
                    <a:pt x="737234" y="1059180"/>
                  </a:lnTo>
                  <a:lnTo>
                    <a:pt x="795337" y="1064894"/>
                  </a:lnTo>
                  <a:lnTo>
                    <a:pt x="784859" y="934402"/>
                  </a:lnTo>
                  <a:close/>
                  <a:moveTo>
                    <a:pt x="795337" y="1064894"/>
                  </a:moveTo>
                  <a:lnTo>
                    <a:pt x="834389" y="927734"/>
                  </a:lnTo>
                  <a:lnTo>
                    <a:pt x="776287" y="923925"/>
                  </a:lnTo>
                  <a:lnTo>
                    <a:pt x="737234" y="1059180"/>
                  </a:lnTo>
                  <a:close/>
                  <a:moveTo>
                    <a:pt x="776287" y="923925"/>
                  </a:moveTo>
                  <a:lnTo>
                    <a:pt x="798194" y="1065847"/>
                  </a:lnTo>
                  <a:lnTo>
                    <a:pt x="856297" y="1071562"/>
                  </a:lnTo>
                  <a:lnTo>
                    <a:pt x="834389" y="927734"/>
                  </a:lnTo>
                  <a:close/>
                  <a:moveTo>
                    <a:pt x="856297" y="1071562"/>
                  </a:moveTo>
                  <a:lnTo>
                    <a:pt x="908684" y="922019"/>
                  </a:lnTo>
                  <a:lnTo>
                    <a:pt x="851534" y="912494"/>
                  </a:lnTo>
                  <a:lnTo>
                    <a:pt x="798194" y="1065847"/>
                  </a:lnTo>
                  <a:close/>
                  <a:moveTo>
                    <a:pt x="851534" y="912494"/>
                  </a:moveTo>
                  <a:lnTo>
                    <a:pt x="908684" y="922019"/>
                  </a:lnTo>
                  <a:lnTo>
                    <a:pt x="908684" y="1070609"/>
                  </a:lnTo>
                  <a:lnTo>
                    <a:pt x="851534" y="1062989"/>
                  </a:lnTo>
                  <a:close/>
                  <a:moveTo>
                    <a:pt x="908684" y="1070609"/>
                  </a:moveTo>
                  <a:lnTo>
                    <a:pt x="955357" y="914400"/>
                  </a:lnTo>
                  <a:lnTo>
                    <a:pt x="897254" y="908684"/>
                  </a:lnTo>
                  <a:lnTo>
                    <a:pt x="851534" y="1062989"/>
                  </a:lnTo>
                  <a:close/>
                  <a:moveTo>
                    <a:pt x="897254" y="908684"/>
                  </a:moveTo>
                  <a:lnTo>
                    <a:pt x="909637" y="1064894"/>
                  </a:lnTo>
                  <a:lnTo>
                    <a:pt x="967739" y="1072514"/>
                  </a:lnTo>
                  <a:lnTo>
                    <a:pt x="955357" y="914400"/>
                  </a:lnTo>
                  <a:close/>
                  <a:moveTo>
                    <a:pt x="967739" y="1072514"/>
                  </a:moveTo>
                  <a:lnTo>
                    <a:pt x="1018222" y="932497"/>
                  </a:lnTo>
                  <a:lnTo>
                    <a:pt x="960119" y="924877"/>
                  </a:lnTo>
                  <a:lnTo>
                    <a:pt x="909637" y="1064894"/>
                  </a:lnTo>
                  <a:close/>
                  <a:moveTo>
                    <a:pt x="960119" y="924877"/>
                  </a:moveTo>
                  <a:lnTo>
                    <a:pt x="972502" y="1071562"/>
                  </a:lnTo>
                  <a:lnTo>
                    <a:pt x="1030604" y="1079182"/>
                  </a:lnTo>
                  <a:lnTo>
                    <a:pt x="1018222" y="932497"/>
                  </a:lnTo>
                  <a:close/>
                  <a:moveTo>
                    <a:pt x="1030604" y="1079182"/>
                  </a:moveTo>
                  <a:lnTo>
                    <a:pt x="1080134" y="936307"/>
                  </a:lnTo>
                  <a:lnTo>
                    <a:pt x="1022032" y="929639"/>
                  </a:lnTo>
                  <a:lnTo>
                    <a:pt x="972502" y="1071562"/>
                  </a:lnTo>
                  <a:close/>
                  <a:moveTo>
                    <a:pt x="1022032" y="929639"/>
                  </a:moveTo>
                  <a:lnTo>
                    <a:pt x="1038225" y="1069657"/>
                  </a:lnTo>
                  <a:lnTo>
                    <a:pt x="1096327" y="1075372"/>
                  </a:lnTo>
                  <a:lnTo>
                    <a:pt x="1080134" y="936307"/>
                  </a:lnTo>
                  <a:close/>
                  <a:moveTo>
                    <a:pt x="1096327" y="1075372"/>
                  </a:moveTo>
                  <a:lnTo>
                    <a:pt x="1149667" y="919162"/>
                  </a:lnTo>
                  <a:lnTo>
                    <a:pt x="1091564" y="912494"/>
                  </a:lnTo>
                  <a:lnTo>
                    <a:pt x="1038225" y="1069657"/>
                  </a:lnTo>
                  <a:close/>
                  <a:moveTo>
                    <a:pt x="1091564" y="912494"/>
                  </a:moveTo>
                  <a:lnTo>
                    <a:pt x="1107757" y="1073467"/>
                  </a:lnTo>
                  <a:lnTo>
                    <a:pt x="1165859" y="1078230"/>
                  </a:lnTo>
                  <a:lnTo>
                    <a:pt x="1149667" y="919162"/>
                  </a:lnTo>
                  <a:close/>
                  <a:moveTo>
                    <a:pt x="1165859" y="1078230"/>
                  </a:moveTo>
                  <a:lnTo>
                    <a:pt x="1206817" y="911542"/>
                  </a:lnTo>
                  <a:lnTo>
                    <a:pt x="1148714" y="906779"/>
                  </a:lnTo>
                  <a:lnTo>
                    <a:pt x="1107757" y="1073467"/>
                  </a:lnTo>
                  <a:close/>
                  <a:moveTo>
                    <a:pt x="1148714" y="906779"/>
                  </a:moveTo>
                  <a:lnTo>
                    <a:pt x="1161097" y="1059180"/>
                  </a:lnTo>
                  <a:lnTo>
                    <a:pt x="1219200" y="1069657"/>
                  </a:lnTo>
                  <a:lnTo>
                    <a:pt x="1206817" y="911542"/>
                  </a:lnTo>
                  <a:close/>
                  <a:moveTo>
                    <a:pt x="1219200" y="1069657"/>
                  </a:moveTo>
                  <a:lnTo>
                    <a:pt x="1289684" y="927734"/>
                  </a:lnTo>
                  <a:lnTo>
                    <a:pt x="1232534" y="913447"/>
                  </a:lnTo>
                  <a:lnTo>
                    <a:pt x="1161097" y="1059180"/>
                  </a:lnTo>
                  <a:close/>
                  <a:moveTo>
                    <a:pt x="1232534" y="913447"/>
                  </a:moveTo>
                  <a:lnTo>
                    <a:pt x="1289684" y="927734"/>
                  </a:lnTo>
                  <a:lnTo>
                    <a:pt x="1284922" y="1060132"/>
                  </a:lnTo>
                  <a:lnTo>
                    <a:pt x="1228725" y="1050607"/>
                  </a:lnTo>
                  <a:close/>
                  <a:moveTo>
                    <a:pt x="1284922" y="1060132"/>
                  </a:moveTo>
                  <a:lnTo>
                    <a:pt x="1338262" y="899159"/>
                  </a:lnTo>
                  <a:lnTo>
                    <a:pt x="1282064" y="889634"/>
                  </a:lnTo>
                  <a:lnTo>
                    <a:pt x="1228725" y="1050607"/>
                  </a:lnTo>
                  <a:close/>
                  <a:moveTo>
                    <a:pt x="1282064" y="889634"/>
                  </a:moveTo>
                  <a:lnTo>
                    <a:pt x="1338262" y="899159"/>
                  </a:lnTo>
                  <a:lnTo>
                    <a:pt x="1337309" y="1028700"/>
                  </a:lnTo>
                  <a:lnTo>
                    <a:pt x="1280159" y="1017269"/>
                  </a:lnTo>
                  <a:close/>
                  <a:moveTo>
                    <a:pt x="1337309" y="1028700"/>
                  </a:moveTo>
                  <a:lnTo>
                    <a:pt x="1411605" y="854392"/>
                  </a:lnTo>
                  <a:lnTo>
                    <a:pt x="1354455" y="842009"/>
                  </a:lnTo>
                  <a:lnTo>
                    <a:pt x="1280159" y="1017269"/>
                  </a:lnTo>
                  <a:close/>
                  <a:moveTo>
                    <a:pt x="1354455" y="842009"/>
                  </a:moveTo>
                  <a:lnTo>
                    <a:pt x="1411605" y="854392"/>
                  </a:lnTo>
                  <a:lnTo>
                    <a:pt x="1404937" y="1009650"/>
                  </a:lnTo>
                  <a:lnTo>
                    <a:pt x="1348739" y="1002982"/>
                  </a:lnTo>
                  <a:close/>
                  <a:moveTo>
                    <a:pt x="1404937" y="1009650"/>
                  </a:moveTo>
                  <a:lnTo>
                    <a:pt x="1451609" y="799147"/>
                  </a:lnTo>
                  <a:lnTo>
                    <a:pt x="1393507" y="794384"/>
                  </a:lnTo>
                  <a:lnTo>
                    <a:pt x="1348739" y="1002982"/>
                  </a:lnTo>
                  <a:close/>
                  <a:moveTo>
                    <a:pt x="1393507" y="794384"/>
                  </a:moveTo>
                  <a:lnTo>
                    <a:pt x="1405889" y="961072"/>
                  </a:lnTo>
                  <a:lnTo>
                    <a:pt x="1463992" y="963929"/>
                  </a:lnTo>
                  <a:lnTo>
                    <a:pt x="1451609" y="799147"/>
                  </a:lnTo>
                  <a:close/>
                  <a:moveTo>
                    <a:pt x="1463992" y="963929"/>
                  </a:moveTo>
                  <a:lnTo>
                    <a:pt x="1508759" y="734377"/>
                  </a:lnTo>
                  <a:lnTo>
                    <a:pt x="1451609" y="731519"/>
                  </a:lnTo>
                  <a:lnTo>
                    <a:pt x="1405889" y="961072"/>
                  </a:lnTo>
                  <a:close/>
                  <a:moveTo>
                    <a:pt x="1451609" y="731519"/>
                  </a:moveTo>
                  <a:lnTo>
                    <a:pt x="1470659" y="929639"/>
                  </a:lnTo>
                  <a:lnTo>
                    <a:pt x="1528762" y="930592"/>
                  </a:lnTo>
                  <a:lnTo>
                    <a:pt x="1508759" y="734377"/>
                  </a:lnTo>
                  <a:close/>
                  <a:moveTo>
                    <a:pt x="1528762" y="930592"/>
                  </a:moveTo>
                  <a:lnTo>
                    <a:pt x="1576387" y="570547"/>
                  </a:lnTo>
                  <a:lnTo>
                    <a:pt x="1519237" y="568642"/>
                  </a:lnTo>
                  <a:lnTo>
                    <a:pt x="1470659" y="929639"/>
                  </a:lnTo>
                  <a:close/>
                  <a:moveTo>
                    <a:pt x="1519237" y="568642"/>
                  </a:moveTo>
                  <a:lnTo>
                    <a:pt x="1540192" y="859154"/>
                  </a:lnTo>
                  <a:lnTo>
                    <a:pt x="1597342" y="856297"/>
                  </a:lnTo>
                  <a:lnTo>
                    <a:pt x="1576387" y="570547"/>
                  </a:lnTo>
                  <a:close/>
                  <a:moveTo>
                    <a:pt x="1597342" y="856297"/>
                  </a:moveTo>
                  <a:lnTo>
                    <a:pt x="1592580" y="236219"/>
                  </a:lnTo>
                  <a:lnTo>
                    <a:pt x="1535430" y="240029"/>
                  </a:lnTo>
                  <a:lnTo>
                    <a:pt x="1540192" y="859154"/>
                  </a:lnTo>
                  <a:close/>
                  <a:moveTo>
                    <a:pt x="1535430" y="240029"/>
                  </a:moveTo>
                  <a:lnTo>
                    <a:pt x="1588769" y="769619"/>
                  </a:lnTo>
                  <a:lnTo>
                    <a:pt x="1645919" y="769619"/>
                  </a:lnTo>
                  <a:lnTo>
                    <a:pt x="1592580" y="236219"/>
                  </a:lnTo>
                  <a:close/>
                  <a:moveTo>
                    <a:pt x="1645919" y="769619"/>
                  </a:moveTo>
                  <a:lnTo>
                    <a:pt x="1681162" y="431482"/>
                  </a:lnTo>
                  <a:lnTo>
                    <a:pt x="1624012" y="427672"/>
                  </a:lnTo>
                  <a:lnTo>
                    <a:pt x="1588769" y="769619"/>
                  </a:lnTo>
                  <a:close/>
                  <a:moveTo>
                    <a:pt x="1624012" y="427672"/>
                  </a:moveTo>
                  <a:lnTo>
                    <a:pt x="1681162" y="431482"/>
                  </a:lnTo>
                  <a:lnTo>
                    <a:pt x="1676400" y="588644"/>
                  </a:lnTo>
                  <a:lnTo>
                    <a:pt x="1619250" y="586739"/>
                  </a:lnTo>
                  <a:close/>
                  <a:moveTo>
                    <a:pt x="90487" y="223837"/>
                  </a:moveTo>
                  <a:lnTo>
                    <a:pt x="94297" y="331469"/>
                  </a:lnTo>
                  <a:lnTo>
                    <a:pt x="151447" y="340042"/>
                  </a:lnTo>
                  <a:lnTo>
                    <a:pt x="147637" y="221932"/>
                  </a:lnTo>
                  <a:close/>
                  <a:moveTo>
                    <a:pt x="151447" y="340042"/>
                  </a:moveTo>
                  <a:lnTo>
                    <a:pt x="213359" y="160972"/>
                  </a:lnTo>
                  <a:lnTo>
                    <a:pt x="154304" y="156209"/>
                  </a:lnTo>
                  <a:lnTo>
                    <a:pt x="94297" y="331469"/>
                  </a:lnTo>
                  <a:close/>
                  <a:moveTo>
                    <a:pt x="154304" y="156209"/>
                  </a:moveTo>
                  <a:lnTo>
                    <a:pt x="187642" y="340994"/>
                  </a:lnTo>
                  <a:lnTo>
                    <a:pt x="244792" y="339089"/>
                  </a:lnTo>
                  <a:lnTo>
                    <a:pt x="213359" y="160972"/>
                  </a:lnTo>
                  <a:close/>
                  <a:moveTo>
                    <a:pt x="244792" y="339089"/>
                  </a:moveTo>
                  <a:lnTo>
                    <a:pt x="263842" y="119062"/>
                  </a:lnTo>
                  <a:lnTo>
                    <a:pt x="206692" y="120014"/>
                  </a:lnTo>
                  <a:lnTo>
                    <a:pt x="187642" y="340994"/>
                  </a:lnTo>
                  <a:close/>
                  <a:moveTo>
                    <a:pt x="206692" y="120014"/>
                  </a:moveTo>
                  <a:lnTo>
                    <a:pt x="225742" y="278129"/>
                  </a:lnTo>
                  <a:lnTo>
                    <a:pt x="283844" y="281939"/>
                  </a:lnTo>
                  <a:lnTo>
                    <a:pt x="263842" y="119062"/>
                  </a:lnTo>
                  <a:close/>
                  <a:moveTo>
                    <a:pt x="283844" y="281939"/>
                  </a:moveTo>
                  <a:lnTo>
                    <a:pt x="342900" y="66675"/>
                  </a:lnTo>
                  <a:lnTo>
                    <a:pt x="285750" y="58102"/>
                  </a:lnTo>
                  <a:lnTo>
                    <a:pt x="225742" y="278129"/>
                  </a:lnTo>
                  <a:close/>
                  <a:moveTo>
                    <a:pt x="285750" y="58102"/>
                  </a:moveTo>
                  <a:lnTo>
                    <a:pt x="342900" y="66675"/>
                  </a:lnTo>
                  <a:lnTo>
                    <a:pt x="334327" y="229552"/>
                  </a:lnTo>
                  <a:lnTo>
                    <a:pt x="277177" y="220027"/>
                  </a:lnTo>
                  <a:close/>
                  <a:moveTo>
                    <a:pt x="334327" y="229552"/>
                  </a:moveTo>
                  <a:lnTo>
                    <a:pt x="382904" y="50482"/>
                  </a:lnTo>
                  <a:lnTo>
                    <a:pt x="324802" y="48577"/>
                  </a:lnTo>
                  <a:lnTo>
                    <a:pt x="277177" y="220027"/>
                  </a:lnTo>
                  <a:close/>
                  <a:moveTo>
                    <a:pt x="324802" y="48577"/>
                  </a:moveTo>
                  <a:lnTo>
                    <a:pt x="354329" y="189547"/>
                  </a:lnTo>
                  <a:lnTo>
                    <a:pt x="413384" y="192404"/>
                  </a:lnTo>
                  <a:lnTo>
                    <a:pt x="382904" y="50482"/>
                  </a:lnTo>
                  <a:close/>
                  <a:moveTo>
                    <a:pt x="413384" y="192404"/>
                  </a:moveTo>
                  <a:lnTo>
                    <a:pt x="462914" y="28575"/>
                  </a:lnTo>
                  <a:lnTo>
                    <a:pt x="404812" y="21907"/>
                  </a:lnTo>
                  <a:lnTo>
                    <a:pt x="354329" y="189547"/>
                  </a:lnTo>
                  <a:close/>
                  <a:moveTo>
                    <a:pt x="404812" y="21907"/>
                  </a:moveTo>
                  <a:lnTo>
                    <a:pt x="415289" y="176212"/>
                  </a:lnTo>
                  <a:lnTo>
                    <a:pt x="472439" y="181927"/>
                  </a:lnTo>
                  <a:lnTo>
                    <a:pt x="462914" y="28575"/>
                  </a:lnTo>
                  <a:close/>
                  <a:moveTo>
                    <a:pt x="472439" y="181927"/>
                  </a:moveTo>
                  <a:lnTo>
                    <a:pt x="517207" y="10477"/>
                  </a:lnTo>
                  <a:lnTo>
                    <a:pt x="460057" y="5714"/>
                  </a:lnTo>
                  <a:lnTo>
                    <a:pt x="415289" y="176212"/>
                  </a:lnTo>
                  <a:close/>
                  <a:moveTo>
                    <a:pt x="460057" y="5714"/>
                  </a:moveTo>
                  <a:lnTo>
                    <a:pt x="473392" y="160972"/>
                  </a:lnTo>
                  <a:lnTo>
                    <a:pt x="531494" y="167639"/>
                  </a:lnTo>
                  <a:lnTo>
                    <a:pt x="517207" y="10477"/>
                  </a:lnTo>
                  <a:close/>
                  <a:moveTo>
                    <a:pt x="531494" y="167639"/>
                  </a:moveTo>
                  <a:lnTo>
                    <a:pt x="574357" y="31432"/>
                  </a:lnTo>
                  <a:lnTo>
                    <a:pt x="516254" y="25717"/>
                  </a:lnTo>
                  <a:lnTo>
                    <a:pt x="473392" y="160972"/>
                  </a:lnTo>
                  <a:close/>
                  <a:moveTo>
                    <a:pt x="516254" y="25717"/>
                  </a:moveTo>
                  <a:lnTo>
                    <a:pt x="530542" y="139064"/>
                  </a:lnTo>
                  <a:lnTo>
                    <a:pt x="589597" y="149542"/>
                  </a:lnTo>
                  <a:lnTo>
                    <a:pt x="574357" y="31432"/>
                  </a:lnTo>
                  <a:close/>
                  <a:moveTo>
                    <a:pt x="589597" y="149542"/>
                  </a:moveTo>
                  <a:lnTo>
                    <a:pt x="654367" y="21907"/>
                  </a:lnTo>
                  <a:lnTo>
                    <a:pt x="597217" y="9525"/>
                  </a:lnTo>
                  <a:lnTo>
                    <a:pt x="530542" y="139064"/>
                  </a:lnTo>
                  <a:close/>
                  <a:moveTo>
                    <a:pt x="597217" y="9525"/>
                  </a:moveTo>
                  <a:lnTo>
                    <a:pt x="602932" y="140017"/>
                  </a:lnTo>
                  <a:lnTo>
                    <a:pt x="660082" y="147637"/>
                  </a:lnTo>
                  <a:lnTo>
                    <a:pt x="654367" y="21907"/>
                  </a:lnTo>
                  <a:close/>
                  <a:moveTo>
                    <a:pt x="660082" y="147637"/>
                  </a:moveTo>
                  <a:lnTo>
                    <a:pt x="703897" y="5714"/>
                  </a:lnTo>
                  <a:lnTo>
                    <a:pt x="645794" y="0"/>
                  </a:lnTo>
                  <a:lnTo>
                    <a:pt x="602932" y="140017"/>
                  </a:lnTo>
                  <a:close/>
                  <a:moveTo>
                    <a:pt x="645794" y="0"/>
                  </a:moveTo>
                  <a:lnTo>
                    <a:pt x="663892" y="151447"/>
                  </a:lnTo>
                  <a:lnTo>
                    <a:pt x="722947" y="161925"/>
                  </a:lnTo>
                  <a:lnTo>
                    <a:pt x="703897" y="5714"/>
                  </a:lnTo>
                  <a:close/>
                  <a:moveTo>
                    <a:pt x="722947" y="161925"/>
                  </a:moveTo>
                  <a:lnTo>
                    <a:pt x="784859" y="29527"/>
                  </a:lnTo>
                  <a:lnTo>
                    <a:pt x="726757" y="18097"/>
                  </a:lnTo>
                  <a:lnTo>
                    <a:pt x="663892" y="151447"/>
                  </a:lnTo>
                  <a:close/>
                  <a:moveTo>
                    <a:pt x="726757" y="18097"/>
                  </a:moveTo>
                  <a:lnTo>
                    <a:pt x="735329" y="158114"/>
                  </a:lnTo>
                  <a:lnTo>
                    <a:pt x="793432" y="163829"/>
                  </a:lnTo>
                  <a:lnTo>
                    <a:pt x="784859" y="29527"/>
                  </a:lnTo>
                  <a:close/>
                  <a:moveTo>
                    <a:pt x="793432" y="163829"/>
                  </a:moveTo>
                  <a:lnTo>
                    <a:pt x="834389" y="8572"/>
                  </a:lnTo>
                  <a:lnTo>
                    <a:pt x="777239" y="3809"/>
                  </a:lnTo>
                  <a:lnTo>
                    <a:pt x="735329" y="158114"/>
                  </a:lnTo>
                  <a:close/>
                  <a:moveTo>
                    <a:pt x="777239" y="3809"/>
                  </a:moveTo>
                  <a:lnTo>
                    <a:pt x="790575" y="155257"/>
                  </a:lnTo>
                  <a:lnTo>
                    <a:pt x="848677" y="160019"/>
                  </a:lnTo>
                  <a:lnTo>
                    <a:pt x="834389" y="8572"/>
                  </a:lnTo>
                  <a:close/>
                  <a:moveTo>
                    <a:pt x="848677" y="160019"/>
                  </a:moveTo>
                  <a:lnTo>
                    <a:pt x="890587" y="5714"/>
                  </a:lnTo>
                  <a:lnTo>
                    <a:pt x="832484" y="1904"/>
                  </a:lnTo>
                  <a:lnTo>
                    <a:pt x="790575" y="155257"/>
                  </a:lnTo>
                  <a:close/>
                  <a:moveTo>
                    <a:pt x="832484" y="1904"/>
                  </a:moveTo>
                  <a:lnTo>
                    <a:pt x="853439" y="150494"/>
                  </a:lnTo>
                  <a:lnTo>
                    <a:pt x="911542" y="156209"/>
                  </a:lnTo>
                  <a:lnTo>
                    <a:pt x="890587" y="5714"/>
                  </a:lnTo>
                  <a:close/>
                  <a:moveTo>
                    <a:pt x="911542" y="156209"/>
                  </a:moveTo>
                  <a:lnTo>
                    <a:pt x="960119" y="27622"/>
                  </a:lnTo>
                  <a:lnTo>
                    <a:pt x="901064" y="20954"/>
                  </a:lnTo>
                  <a:lnTo>
                    <a:pt x="853439" y="150494"/>
                  </a:lnTo>
                  <a:close/>
                  <a:moveTo>
                    <a:pt x="901064" y="20954"/>
                  </a:moveTo>
                  <a:lnTo>
                    <a:pt x="915352" y="143827"/>
                  </a:lnTo>
                  <a:lnTo>
                    <a:pt x="974407" y="152400"/>
                  </a:lnTo>
                  <a:lnTo>
                    <a:pt x="960119" y="27622"/>
                  </a:lnTo>
                  <a:close/>
                  <a:moveTo>
                    <a:pt x="974407" y="152400"/>
                  </a:moveTo>
                  <a:lnTo>
                    <a:pt x="1026794" y="28575"/>
                  </a:lnTo>
                  <a:lnTo>
                    <a:pt x="968692" y="18097"/>
                  </a:lnTo>
                  <a:lnTo>
                    <a:pt x="915352" y="143827"/>
                  </a:lnTo>
                  <a:close/>
                  <a:moveTo>
                    <a:pt x="968692" y="18097"/>
                  </a:moveTo>
                  <a:lnTo>
                    <a:pt x="973454" y="139064"/>
                  </a:lnTo>
                  <a:lnTo>
                    <a:pt x="1030604" y="149542"/>
                  </a:lnTo>
                  <a:lnTo>
                    <a:pt x="1026794" y="28575"/>
                  </a:lnTo>
                  <a:close/>
                  <a:moveTo>
                    <a:pt x="1030604" y="149542"/>
                  </a:moveTo>
                  <a:lnTo>
                    <a:pt x="1082992" y="25717"/>
                  </a:lnTo>
                  <a:lnTo>
                    <a:pt x="1025842" y="14287"/>
                  </a:lnTo>
                  <a:lnTo>
                    <a:pt x="973454" y="139064"/>
                  </a:lnTo>
                  <a:close/>
                  <a:moveTo>
                    <a:pt x="1025842" y="14287"/>
                  </a:moveTo>
                  <a:lnTo>
                    <a:pt x="1027747" y="147637"/>
                  </a:lnTo>
                  <a:lnTo>
                    <a:pt x="1084897" y="160019"/>
                  </a:lnTo>
                  <a:lnTo>
                    <a:pt x="1082992" y="25717"/>
                  </a:lnTo>
                  <a:close/>
                  <a:moveTo>
                    <a:pt x="1084897" y="160019"/>
                  </a:moveTo>
                  <a:lnTo>
                    <a:pt x="1143000" y="28575"/>
                  </a:lnTo>
                  <a:lnTo>
                    <a:pt x="1085850" y="18097"/>
                  </a:lnTo>
                  <a:lnTo>
                    <a:pt x="1027747" y="147637"/>
                  </a:lnTo>
                  <a:close/>
                  <a:moveTo>
                    <a:pt x="1085850" y="18097"/>
                  </a:moveTo>
                  <a:lnTo>
                    <a:pt x="1095375" y="160019"/>
                  </a:lnTo>
                  <a:lnTo>
                    <a:pt x="1153477" y="168592"/>
                  </a:lnTo>
                  <a:lnTo>
                    <a:pt x="1143000" y="28575"/>
                  </a:lnTo>
                  <a:close/>
                  <a:moveTo>
                    <a:pt x="1153477" y="168592"/>
                  </a:moveTo>
                  <a:lnTo>
                    <a:pt x="1209675" y="20954"/>
                  </a:lnTo>
                  <a:lnTo>
                    <a:pt x="1149667" y="16192"/>
                  </a:lnTo>
                  <a:lnTo>
                    <a:pt x="1095375" y="160019"/>
                  </a:lnTo>
                  <a:close/>
                  <a:moveTo>
                    <a:pt x="1149667" y="16192"/>
                  </a:moveTo>
                  <a:lnTo>
                    <a:pt x="1178242" y="151447"/>
                  </a:lnTo>
                  <a:lnTo>
                    <a:pt x="1237297" y="157162"/>
                  </a:lnTo>
                  <a:lnTo>
                    <a:pt x="1209675" y="20954"/>
                  </a:lnTo>
                  <a:close/>
                  <a:moveTo>
                    <a:pt x="1237297" y="157162"/>
                  </a:moveTo>
                  <a:lnTo>
                    <a:pt x="1287780" y="37147"/>
                  </a:lnTo>
                  <a:lnTo>
                    <a:pt x="1230630" y="24764"/>
                  </a:lnTo>
                  <a:lnTo>
                    <a:pt x="1178242" y="151447"/>
                  </a:lnTo>
                  <a:close/>
                  <a:moveTo>
                    <a:pt x="1230630" y="24764"/>
                  </a:moveTo>
                  <a:lnTo>
                    <a:pt x="1230630" y="159067"/>
                  </a:lnTo>
                  <a:lnTo>
                    <a:pt x="1287780" y="170497"/>
                  </a:lnTo>
                  <a:lnTo>
                    <a:pt x="1287780" y="37147"/>
                  </a:lnTo>
                  <a:close/>
                  <a:moveTo>
                    <a:pt x="1287780" y="170497"/>
                  </a:moveTo>
                  <a:lnTo>
                    <a:pt x="1338262" y="48577"/>
                  </a:lnTo>
                  <a:lnTo>
                    <a:pt x="1281112" y="38100"/>
                  </a:lnTo>
                  <a:lnTo>
                    <a:pt x="1230630" y="159067"/>
                  </a:lnTo>
                  <a:close/>
                  <a:moveTo>
                    <a:pt x="1281112" y="38100"/>
                  </a:moveTo>
                  <a:lnTo>
                    <a:pt x="1285875" y="185737"/>
                  </a:lnTo>
                  <a:lnTo>
                    <a:pt x="1343025" y="201929"/>
                  </a:lnTo>
                  <a:lnTo>
                    <a:pt x="1338262" y="48577"/>
                  </a:lnTo>
                  <a:close/>
                  <a:moveTo>
                    <a:pt x="1343025" y="201929"/>
                  </a:moveTo>
                  <a:lnTo>
                    <a:pt x="1414462" y="91439"/>
                  </a:lnTo>
                  <a:lnTo>
                    <a:pt x="1356359" y="75247"/>
                  </a:lnTo>
                  <a:lnTo>
                    <a:pt x="1285875" y="185737"/>
                  </a:lnTo>
                  <a:close/>
                  <a:moveTo>
                    <a:pt x="1356359" y="75247"/>
                  </a:moveTo>
                  <a:lnTo>
                    <a:pt x="1362075" y="247650"/>
                  </a:lnTo>
                  <a:lnTo>
                    <a:pt x="1419225" y="255269"/>
                  </a:lnTo>
                  <a:lnTo>
                    <a:pt x="1414462" y="91439"/>
                  </a:lnTo>
                  <a:close/>
                  <a:moveTo>
                    <a:pt x="1419225" y="255269"/>
                  </a:moveTo>
                  <a:lnTo>
                    <a:pt x="1467802" y="108584"/>
                  </a:lnTo>
                  <a:lnTo>
                    <a:pt x="1409700" y="100964"/>
                  </a:lnTo>
                  <a:lnTo>
                    <a:pt x="1362075" y="247650"/>
                  </a:lnTo>
                  <a:close/>
                  <a:moveTo>
                    <a:pt x="1409700" y="100964"/>
                  </a:moveTo>
                  <a:lnTo>
                    <a:pt x="1415414" y="287654"/>
                  </a:lnTo>
                  <a:lnTo>
                    <a:pt x="1473517" y="302894"/>
                  </a:lnTo>
                  <a:lnTo>
                    <a:pt x="1467802" y="108584"/>
                  </a:lnTo>
                  <a:close/>
                  <a:moveTo>
                    <a:pt x="1473517" y="302894"/>
                  </a:moveTo>
                  <a:lnTo>
                    <a:pt x="1548764" y="180975"/>
                  </a:lnTo>
                  <a:lnTo>
                    <a:pt x="1491614" y="165734"/>
                  </a:lnTo>
                  <a:lnTo>
                    <a:pt x="1415414" y="287654"/>
                  </a:lnTo>
                  <a:close/>
                  <a:moveTo>
                    <a:pt x="1491614" y="165734"/>
                  </a:moveTo>
                  <a:lnTo>
                    <a:pt x="1497330" y="463867"/>
                  </a:lnTo>
                  <a:lnTo>
                    <a:pt x="1554480" y="462914"/>
                  </a:lnTo>
                  <a:lnTo>
                    <a:pt x="1548764" y="1809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ounded Rectangle 7">
              <a:extLst>
                <a:ext uri="{FF2B5EF4-FFF2-40B4-BE49-F238E27FC236}">
                  <a16:creationId xmlns:a16="http://schemas.microsoft.com/office/drawing/2014/main" id="{A1BAD3A7-02A4-1FAF-3240-629E3375A328}"/>
                </a:ext>
              </a:extLst>
            </p:cNvPr>
            <p:cNvSpPr/>
            <p:nvPr/>
          </p:nvSpPr>
          <p:spPr>
            <a:xfrm>
              <a:off x="4897222" y="3177733"/>
              <a:ext cx="1702117" cy="1083945"/>
            </a:xfrm>
            <a:custGeom>
              <a:avLst/>
              <a:gdLst/>
              <a:ahLst/>
              <a:cxnLst/>
              <a:rect l="0" t="0" r="0" b="0"/>
              <a:pathLst>
                <a:path w="1702117" h="1083945">
                  <a:moveTo>
                    <a:pt x="1683664" y="540387"/>
                  </a:moveTo>
                  <a:cubicBezTo>
                    <a:pt x="1683664" y="833575"/>
                    <a:pt x="1445990" y="1071249"/>
                    <a:pt x="1152802" y="1071249"/>
                  </a:cubicBezTo>
                  <a:lnTo>
                    <a:pt x="546102" y="1071249"/>
                  </a:lnTo>
                  <a:cubicBezTo>
                    <a:pt x="529050" y="1071249"/>
                    <a:pt x="512185" y="1070446"/>
                    <a:pt x="495544" y="1068873"/>
                  </a:cubicBezTo>
                  <a:cubicBezTo>
                    <a:pt x="442594" y="1063870"/>
                    <a:pt x="391909" y="1051090"/>
                    <a:pt x="344642" y="1031689"/>
                  </a:cubicBezTo>
                  <a:cubicBezTo>
                    <a:pt x="151358" y="952348"/>
                    <a:pt x="15240" y="762263"/>
                    <a:pt x="15240" y="540387"/>
                  </a:cubicBezTo>
                  <a:cubicBezTo>
                    <a:pt x="15240" y="514652"/>
                    <a:pt x="17071" y="489343"/>
                    <a:pt x="20610" y="464586"/>
                  </a:cubicBezTo>
                  <a:cubicBezTo>
                    <a:pt x="73516" y="465322"/>
                    <a:pt x="123801" y="476891"/>
                    <a:pt x="169350" y="497176"/>
                  </a:cubicBezTo>
                  <a:cubicBezTo>
                    <a:pt x="167741" y="511356"/>
                    <a:pt x="166914" y="525776"/>
                    <a:pt x="166914" y="540387"/>
                  </a:cubicBezTo>
                  <a:cubicBezTo>
                    <a:pt x="166914" y="694934"/>
                    <a:pt x="259372" y="827886"/>
                    <a:pt x="391991" y="886949"/>
                  </a:cubicBezTo>
                  <a:cubicBezTo>
                    <a:pt x="437541" y="907233"/>
                    <a:pt x="487826" y="918802"/>
                    <a:pt x="540731" y="919538"/>
                  </a:cubicBezTo>
                  <a:cubicBezTo>
                    <a:pt x="744667" y="922368"/>
                    <a:pt x="948845" y="919574"/>
                    <a:pt x="1152802" y="919574"/>
                  </a:cubicBezTo>
                  <a:cubicBezTo>
                    <a:pt x="1362221" y="919574"/>
                    <a:pt x="1531989" y="749806"/>
                    <a:pt x="1531989" y="540387"/>
                  </a:cubicBezTo>
                  <a:cubicBezTo>
                    <a:pt x="1531989" y="330968"/>
                    <a:pt x="1362221" y="161199"/>
                    <a:pt x="1152802" y="161199"/>
                  </a:cubicBezTo>
                  <a:lnTo>
                    <a:pt x="546102" y="161199"/>
                  </a:lnTo>
                  <a:cubicBezTo>
                    <a:pt x="405082" y="161199"/>
                    <a:pt x="282042" y="238180"/>
                    <a:pt x="216712" y="352411"/>
                  </a:cubicBezTo>
                  <a:cubicBezTo>
                    <a:pt x="169174" y="332858"/>
                    <a:pt x="118518" y="320174"/>
                    <a:pt x="65229" y="315198"/>
                  </a:cubicBezTo>
                  <a:cubicBezTo>
                    <a:pt x="149951" y="134594"/>
                    <a:pt x="333421" y="9525"/>
                    <a:pt x="546102" y="9525"/>
                  </a:cubicBezTo>
                  <a:lnTo>
                    <a:pt x="1152802" y="9525"/>
                  </a:lnTo>
                  <a:cubicBezTo>
                    <a:pt x="1445990" y="9525"/>
                    <a:pt x="1683664" y="247199"/>
                    <a:pt x="1683664" y="540387"/>
                  </a:cubicBezTo>
                  <a:close/>
                  <a:moveTo>
                    <a:pt x="1684020" y="540067"/>
                  </a:moveTo>
                  <a:cubicBezTo>
                    <a:pt x="1702117" y="247650"/>
                    <a:pt x="1445895" y="0"/>
                    <a:pt x="1152525" y="9525"/>
                  </a:cubicBezTo>
                  <a:cubicBezTo>
                    <a:pt x="950595" y="16192"/>
                    <a:pt x="747712" y="2857"/>
                    <a:pt x="545782" y="9525"/>
                  </a:cubicBezTo>
                  <a:cubicBezTo>
                    <a:pt x="333375" y="16192"/>
                    <a:pt x="151447" y="135254"/>
                    <a:pt x="64770" y="315277"/>
                  </a:cubicBezTo>
                  <a:cubicBezTo>
                    <a:pt x="116205" y="330517"/>
                    <a:pt x="165735" y="343852"/>
                    <a:pt x="217170" y="352425"/>
                  </a:cubicBezTo>
                  <a:cubicBezTo>
                    <a:pt x="282892" y="239077"/>
                    <a:pt x="404812" y="160020"/>
                    <a:pt x="545782" y="160972"/>
                  </a:cubicBezTo>
                  <a:cubicBezTo>
                    <a:pt x="748665" y="162877"/>
                    <a:pt x="950595" y="166687"/>
                    <a:pt x="1152525" y="160972"/>
                  </a:cubicBezTo>
                  <a:cubicBezTo>
                    <a:pt x="1362075" y="155257"/>
                    <a:pt x="1537335" y="331470"/>
                    <a:pt x="1531620" y="540067"/>
                  </a:cubicBezTo>
                  <a:cubicBezTo>
                    <a:pt x="1526857" y="749617"/>
                    <a:pt x="1362075" y="935354"/>
                    <a:pt x="1152525" y="919162"/>
                  </a:cubicBezTo>
                  <a:cubicBezTo>
                    <a:pt x="949642" y="903922"/>
                    <a:pt x="744855" y="928687"/>
                    <a:pt x="541020" y="919162"/>
                  </a:cubicBezTo>
                  <a:cubicBezTo>
                    <a:pt x="487680" y="917257"/>
                    <a:pt x="441007" y="897254"/>
                    <a:pt x="392430" y="886777"/>
                  </a:cubicBezTo>
                  <a:cubicBezTo>
                    <a:pt x="249555" y="856297"/>
                    <a:pt x="166687" y="695325"/>
                    <a:pt x="166687" y="540067"/>
                  </a:cubicBezTo>
                  <a:cubicBezTo>
                    <a:pt x="166687" y="525779"/>
                    <a:pt x="167640" y="511492"/>
                    <a:pt x="169545" y="497204"/>
                  </a:cubicBezTo>
                  <a:cubicBezTo>
                    <a:pt x="124777" y="474345"/>
                    <a:pt x="71437" y="479107"/>
                    <a:pt x="20955" y="464820"/>
                  </a:cubicBezTo>
                  <a:cubicBezTo>
                    <a:pt x="20955" y="489584"/>
                    <a:pt x="19050" y="515302"/>
                    <a:pt x="15240" y="540067"/>
                  </a:cubicBezTo>
                  <a:cubicBezTo>
                    <a:pt x="0" y="650557"/>
                    <a:pt x="41910" y="761047"/>
                    <a:pt x="108585" y="841057"/>
                  </a:cubicBezTo>
                  <a:cubicBezTo>
                    <a:pt x="174307" y="919162"/>
                    <a:pt x="250507" y="988695"/>
                    <a:pt x="344805" y="1031557"/>
                  </a:cubicBezTo>
                  <a:cubicBezTo>
                    <a:pt x="391477" y="1053465"/>
                    <a:pt x="441960" y="1070609"/>
                    <a:pt x="495300" y="1068705"/>
                  </a:cubicBezTo>
                  <a:cubicBezTo>
                    <a:pt x="512445" y="1068705"/>
                    <a:pt x="529590" y="1074420"/>
                    <a:pt x="545782" y="1071562"/>
                  </a:cubicBezTo>
                  <a:cubicBezTo>
                    <a:pt x="653415" y="1052512"/>
                    <a:pt x="764857" y="1056322"/>
                    <a:pt x="872490" y="1071562"/>
                  </a:cubicBezTo>
                  <a:cubicBezTo>
                    <a:pt x="964882" y="1083945"/>
                    <a:pt x="1059180" y="1069657"/>
                    <a:pt x="1152525" y="1071562"/>
                  </a:cubicBezTo>
                  <a:cubicBezTo>
                    <a:pt x="1445895" y="1077277"/>
                    <a:pt x="1698307" y="833437"/>
                    <a:pt x="1684020" y="540067"/>
                  </a:cubicBezTo>
                </a:path>
              </a:pathLst>
            </a:custGeom>
            <a:grpFill/>
            <a:ln w="37918">
              <a:solidFill>
                <a:srgbClr val="402019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F2F7335-C1AC-1C92-929A-7BA78A21E717}"/>
                </a:ext>
              </a:extLst>
            </p:cNvPr>
            <p:cNvGrpSpPr/>
            <p:nvPr/>
          </p:nvGrpSpPr>
          <p:grpSpPr>
            <a:xfrm>
              <a:off x="2221102" y="608769"/>
              <a:ext cx="4689744" cy="631382"/>
              <a:chOff x="39877" y="99182"/>
              <a:chExt cx="4689744" cy="631382"/>
            </a:xfrm>
            <a:grpFill/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82E9C28-0C21-396C-045F-0C9D69331FCC}"/>
                  </a:ext>
                </a:extLst>
              </p:cNvPr>
              <p:cNvSpPr txBox="1"/>
              <p:nvPr/>
            </p:nvSpPr>
            <p:spPr>
              <a:xfrm>
                <a:off x="39877" y="99182"/>
                <a:ext cx="4679309" cy="303371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2000" b="1" dirty="0">
                    <a:solidFill>
                      <a:srgbClr val="402019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Problem-Solution</a:t>
                </a:r>
                <a:r>
                  <a:rPr lang="en-US" sz="2000" b="1" dirty="0">
                    <a:solidFill>
                      <a:srgbClr val="402019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dirty="0">
                    <a:solidFill>
                      <a:srgbClr val="402019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Flow</a:t>
                </a:r>
                <a:endParaRPr sz="2000" b="1" dirty="0">
                  <a:solidFill>
                    <a:srgbClr val="402019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52AA24A-8ED7-CF67-1CF7-D9968D5107B2}"/>
                  </a:ext>
                </a:extLst>
              </p:cNvPr>
              <p:cNvSpPr txBox="1"/>
              <p:nvPr/>
            </p:nvSpPr>
            <p:spPr>
              <a:xfrm>
                <a:off x="50312" y="427213"/>
                <a:ext cx="4679309" cy="303351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endParaRPr sz="1900" b="1" dirty="0">
                  <a:solidFill>
                    <a:srgbClr val="402019"/>
                  </a:solidFill>
                  <a:latin typeface="Shantell Sans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849DEE6-7489-5CC5-8652-6DCFC146B161}"/>
                </a:ext>
              </a:extLst>
            </p:cNvPr>
            <p:cNvGrpSpPr/>
            <p:nvPr/>
          </p:nvGrpSpPr>
          <p:grpSpPr>
            <a:xfrm>
              <a:off x="2847393" y="1518643"/>
              <a:ext cx="1248321" cy="388928"/>
              <a:chOff x="666168" y="1009056"/>
              <a:chExt cx="1248321" cy="388928"/>
            </a:xfrm>
            <a:grpFill/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3D9D9F1-E391-A3E3-587E-4FC85AE078B4}"/>
                  </a:ext>
                </a:extLst>
              </p:cNvPr>
              <p:cNvSpPr txBox="1"/>
              <p:nvPr/>
            </p:nvSpPr>
            <p:spPr>
              <a:xfrm>
                <a:off x="666168" y="1009056"/>
                <a:ext cx="1248321" cy="182022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lang="en-US" sz="1400" b="1" dirty="0">
                    <a:solidFill>
                      <a:srgbClr val="402019"/>
                    </a:solidFill>
                    <a:latin typeface="Shantell Sans"/>
                  </a:rPr>
                  <a:t>SIH Problem</a:t>
                </a:r>
                <a:endParaRPr sz="1400" b="1" dirty="0">
                  <a:solidFill>
                    <a:srgbClr val="402019"/>
                  </a:solidFill>
                  <a:latin typeface="Shantell Sans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F7F2BD4-B966-87EE-4EDE-B8D5D24F8AC4}"/>
                  </a:ext>
                </a:extLst>
              </p:cNvPr>
              <p:cNvSpPr txBox="1"/>
              <p:nvPr/>
            </p:nvSpPr>
            <p:spPr>
              <a:xfrm>
                <a:off x="666168" y="1215952"/>
                <a:ext cx="1248321" cy="182032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1400" b="1" dirty="0">
                    <a:solidFill>
                      <a:srgbClr val="402019"/>
                    </a:solidFill>
                    <a:latin typeface="Shantell Sans"/>
                  </a:rPr>
                  <a:t>N</a:t>
                </a:r>
                <a:r>
                  <a:rPr lang="en-US" sz="1400" b="1" dirty="0">
                    <a:solidFill>
                      <a:srgbClr val="402019"/>
                    </a:solidFill>
                    <a:latin typeface="Shantell Sans"/>
                  </a:rPr>
                  <a:t>eed</a:t>
                </a:r>
                <a:endParaRPr sz="1400" b="1" dirty="0">
                  <a:solidFill>
                    <a:srgbClr val="402019"/>
                  </a:solidFill>
                  <a:latin typeface="Shantell Sans"/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81C35BA-35BB-896A-27CE-03557BB776B9}"/>
                </a:ext>
              </a:extLst>
            </p:cNvPr>
            <p:cNvGrpSpPr/>
            <p:nvPr/>
          </p:nvGrpSpPr>
          <p:grpSpPr>
            <a:xfrm>
              <a:off x="4810861" y="1484068"/>
              <a:ext cx="1788479" cy="430685"/>
              <a:chOff x="2629636" y="974481"/>
              <a:chExt cx="1788479" cy="430685"/>
            </a:xfrm>
            <a:grpFill/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9515C2E-9800-BFE8-7E66-90E47345B478}"/>
                  </a:ext>
                </a:extLst>
              </p:cNvPr>
              <p:cNvSpPr txBox="1"/>
              <p:nvPr/>
            </p:nvSpPr>
            <p:spPr>
              <a:xfrm>
                <a:off x="2871317" y="1008988"/>
                <a:ext cx="683704" cy="24774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endParaRPr sz="1400" b="0" dirty="0">
                  <a:solidFill>
                    <a:srgbClr val="402019"/>
                  </a:solidFill>
                  <a:latin typeface="Shantell Sans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6620AD2-BC21-2F6A-98E6-6D18D987243E}"/>
                  </a:ext>
                </a:extLst>
              </p:cNvPr>
              <p:cNvSpPr txBox="1"/>
              <p:nvPr/>
            </p:nvSpPr>
            <p:spPr>
              <a:xfrm>
                <a:off x="2629636" y="974481"/>
                <a:ext cx="1788479" cy="234216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lang="en-US" sz="1400" b="1" dirty="0">
                    <a:solidFill>
                      <a:srgbClr val="402019"/>
                    </a:solidFill>
                    <a:latin typeface="Shantell Sans"/>
                  </a:rPr>
                  <a:t>Existing Solution</a:t>
                </a:r>
                <a:endParaRPr sz="1400" b="1" dirty="0">
                  <a:solidFill>
                    <a:srgbClr val="402019"/>
                  </a:solidFill>
                  <a:latin typeface="Shantell Sans"/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BD58CE5-4525-6362-6FBF-1B0455C25E09}"/>
                  </a:ext>
                </a:extLst>
              </p:cNvPr>
              <p:cNvSpPr txBox="1"/>
              <p:nvPr/>
            </p:nvSpPr>
            <p:spPr>
              <a:xfrm>
                <a:off x="2926550" y="1215952"/>
                <a:ext cx="1256941" cy="18921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lang="en-US" sz="1400" b="1" dirty="0">
                    <a:solidFill>
                      <a:srgbClr val="402019"/>
                    </a:solidFill>
                    <a:latin typeface="Shantell Sans"/>
                  </a:rPr>
                  <a:t>Limitation</a:t>
                </a:r>
                <a:endParaRPr sz="1400" b="1" dirty="0">
                  <a:solidFill>
                    <a:srgbClr val="402019"/>
                  </a:solidFill>
                  <a:latin typeface="Shantell Sans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A0462F7-C492-4F1E-F1D6-99D94D2934A0}"/>
                </a:ext>
              </a:extLst>
            </p:cNvPr>
            <p:cNvGrpSpPr/>
            <p:nvPr/>
          </p:nvGrpSpPr>
          <p:grpSpPr>
            <a:xfrm>
              <a:off x="2486401" y="1991054"/>
              <a:ext cx="1970305" cy="1011701"/>
              <a:chOff x="305176" y="1481467"/>
              <a:chExt cx="1970305" cy="1011701"/>
            </a:xfrm>
            <a:grpFill/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6C96D00-494C-2000-19EF-E29102A5B4A5}"/>
                  </a:ext>
                </a:extLst>
              </p:cNvPr>
              <p:cNvSpPr txBox="1"/>
              <p:nvPr/>
            </p:nvSpPr>
            <p:spPr>
              <a:xfrm>
                <a:off x="305176" y="1481467"/>
                <a:ext cx="1970305" cy="195262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1200" b="0" dirty="0">
                    <a:solidFill>
                      <a:srgbClr val="402019"/>
                    </a:solidFill>
                    <a:latin typeface="Shantell Sans"/>
                  </a:rPr>
                  <a:t>Search a growing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A738B43-2CF3-D47A-D5B6-9223CF213E37}"/>
                  </a:ext>
                </a:extLst>
              </p:cNvPr>
              <p:cNvSpPr txBox="1"/>
              <p:nvPr/>
            </p:nvSpPr>
            <p:spPr>
              <a:xfrm>
                <a:off x="305176" y="1688541"/>
                <a:ext cx="1970305" cy="195262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1200" b="0">
                    <a:solidFill>
                      <a:srgbClr val="402019"/>
                    </a:solidFill>
                    <a:latin typeface="Shantell Sans"/>
                  </a:rPr>
                  <a:t>multi-sensor archive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B768BCF-1E21-AD05-7F65-8EB8FB52865E}"/>
                  </a:ext>
                </a:extLst>
              </p:cNvPr>
              <p:cNvSpPr txBox="1"/>
              <p:nvPr/>
            </p:nvSpPr>
            <p:spPr>
              <a:xfrm>
                <a:off x="305176" y="1883804"/>
                <a:ext cx="1970305" cy="195262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1200" b="0">
                    <a:solidFill>
                      <a:srgbClr val="402019"/>
                    </a:solidFill>
                    <a:latin typeface="Shantell Sans"/>
                  </a:rPr>
                  <a:t>by meaning and by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D7AEFC3-C976-C212-366E-53B0207ECDC0}"/>
                  </a:ext>
                </a:extLst>
              </p:cNvPr>
              <p:cNvSpPr txBox="1"/>
              <p:nvPr/>
            </p:nvSpPr>
            <p:spPr>
              <a:xfrm>
                <a:off x="305176" y="2090878"/>
                <a:ext cx="1970305" cy="195262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1200" b="0" dirty="0">
                    <a:solidFill>
                      <a:srgbClr val="402019"/>
                    </a:solidFill>
                    <a:latin typeface="Shantell Sans"/>
                  </a:rPr>
                  <a:t>change, fully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5FD66E8-6E54-AF5D-2F6E-003640D43BD9}"/>
                  </a:ext>
                </a:extLst>
              </p:cNvPr>
              <p:cNvSpPr txBox="1"/>
              <p:nvPr/>
            </p:nvSpPr>
            <p:spPr>
              <a:xfrm>
                <a:off x="305176" y="2297955"/>
                <a:ext cx="1970305" cy="1952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1200" b="0" dirty="0">
                    <a:solidFill>
                      <a:srgbClr val="402019"/>
                    </a:solidFill>
                    <a:latin typeface="Shantell Sans"/>
                  </a:rPr>
                  <a:t>on-premises.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B5C7F7C-E5C2-A534-4B9C-D6217B232C9C}"/>
                </a:ext>
              </a:extLst>
            </p:cNvPr>
            <p:cNvGrpSpPr/>
            <p:nvPr/>
          </p:nvGrpSpPr>
          <p:grpSpPr>
            <a:xfrm>
              <a:off x="4864719" y="2029655"/>
              <a:ext cx="1821060" cy="885692"/>
              <a:chOff x="2683494" y="1520068"/>
              <a:chExt cx="1821060" cy="885692"/>
            </a:xfrm>
            <a:grpFill/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002A657-DB97-027C-2E4D-00CF982562BC}"/>
                  </a:ext>
                </a:extLst>
              </p:cNvPr>
              <p:cNvSpPr txBox="1"/>
              <p:nvPr/>
            </p:nvSpPr>
            <p:spPr>
              <a:xfrm>
                <a:off x="2683494" y="1520068"/>
                <a:ext cx="1821060" cy="21545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1300" b="0" dirty="0">
                    <a:solidFill>
                      <a:srgbClr val="402019"/>
                    </a:solidFill>
                    <a:latin typeface="Shantell Sans"/>
                  </a:rPr>
                  <a:t>Catalogues only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B1D652F-BFC4-B1DC-226C-197A25534AFD}"/>
                  </a:ext>
                </a:extLst>
              </p:cNvPr>
              <p:cNvSpPr txBox="1"/>
              <p:nvPr/>
            </p:nvSpPr>
            <p:spPr>
              <a:xfrm>
                <a:off x="2683494" y="1747335"/>
                <a:ext cx="1821060" cy="21555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lang="en-IN" sz="1300" dirty="0">
                    <a:solidFill>
                      <a:srgbClr val="402019"/>
                    </a:solidFill>
                    <a:latin typeface="Shantell Sans"/>
                  </a:rPr>
                  <a:t>match metadata;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50C48BA-1A96-2C3D-015E-1D26FCA4898E}"/>
                  </a:ext>
                </a:extLst>
              </p:cNvPr>
              <p:cNvSpPr txBox="1"/>
              <p:nvPr/>
            </p:nvSpPr>
            <p:spPr>
              <a:xfrm>
                <a:off x="2683494" y="1962886"/>
                <a:ext cx="1821060" cy="21545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1300" b="0" dirty="0">
                    <a:solidFill>
                      <a:srgbClr val="402019"/>
                    </a:solidFill>
                    <a:latin typeface="Shantell Sans"/>
                  </a:rPr>
                  <a:t>change tools generate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E8CC326-5DC6-B1AB-6EBD-79C4B4B1975C}"/>
                  </a:ext>
                </a:extLst>
              </p:cNvPr>
              <p:cNvSpPr txBox="1"/>
              <p:nvPr/>
            </p:nvSpPr>
            <p:spPr>
              <a:xfrm>
                <a:off x="2683494" y="2190154"/>
                <a:ext cx="1821060" cy="215606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1300" b="0" dirty="0">
                    <a:solidFill>
                      <a:srgbClr val="402019"/>
                    </a:solidFill>
                    <a:latin typeface="Shantell Sans"/>
                  </a:rPr>
                  <a:t>false positives.</a:t>
                </a:r>
              </a:p>
            </p:txBody>
          </p:sp>
        </p:grpSp>
        <p:sp>
          <p:nvSpPr>
            <p:cNvPr id="25" name="Rounded Rectangle 29">
              <a:extLst>
                <a:ext uri="{FF2B5EF4-FFF2-40B4-BE49-F238E27FC236}">
                  <a16:creationId xmlns:a16="http://schemas.microsoft.com/office/drawing/2014/main" id="{4E690F0B-68EF-0E31-D5F2-4B2315C09358}"/>
                </a:ext>
              </a:extLst>
            </p:cNvPr>
            <p:cNvSpPr/>
            <p:nvPr/>
          </p:nvSpPr>
          <p:spPr>
            <a:xfrm>
              <a:off x="3196982" y="3470465"/>
              <a:ext cx="453128" cy="468297"/>
            </a:xfrm>
            <a:custGeom>
              <a:avLst/>
              <a:gdLst/>
              <a:ahLst/>
              <a:cxnLst/>
              <a:rect l="0" t="0" r="0" b="0"/>
              <a:pathLst>
                <a:path w="453128" h="468296">
                  <a:moveTo>
                    <a:pt x="39814" y="216326"/>
                  </a:moveTo>
                  <a:cubicBezTo>
                    <a:pt x="11375" y="216326"/>
                    <a:pt x="11375" y="244765"/>
                    <a:pt x="11375" y="244765"/>
                  </a:cubicBezTo>
                  <a:lnTo>
                    <a:pt x="11375" y="415399"/>
                  </a:lnTo>
                  <a:cubicBezTo>
                    <a:pt x="11375" y="443838"/>
                    <a:pt x="39814" y="443838"/>
                    <a:pt x="39814" y="443838"/>
                  </a:cubicBezTo>
                  <a:lnTo>
                    <a:pt x="267327" y="443838"/>
                  </a:lnTo>
                  <a:cubicBezTo>
                    <a:pt x="295766" y="443838"/>
                    <a:pt x="295766" y="415399"/>
                    <a:pt x="295766" y="415399"/>
                  </a:cubicBezTo>
                  <a:lnTo>
                    <a:pt x="295766" y="244765"/>
                  </a:lnTo>
                  <a:cubicBezTo>
                    <a:pt x="295766" y="216326"/>
                    <a:pt x="267327" y="216326"/>
                    <a:pt x="267327" y="216326"/>
                  </a:cubicBezTo>
                  <a:lnTo>
                    <a:pt x="39814" y="216326"/>
                  </a:lnTo>
                  <a:moveTo>
                    <a:pt x="77733" y="263724"/>
                  </a:moveTo>
                  <a:cubicBezTo>
                    <a:pt x="67262" y="263724"/>
                    <a:pt x="58774" y="272213"/>
                    <a:pt x="58774" y="282684"/>
                  </a:cubicBezTo>
                  <a:cubicBezTo>
                    <a:pt x="58774" y="293155"/>
                    <a:pt x="67262" y="301643"/>
                    <a:pt x="77733" y="301643"/>
                  </a:cubicBezTo>
                  <a:cubicBezTo>
                    <a:pt x="88204" y="301643"/>
                    <a:pt x="96692" y="293155"/>
                    <a:pt x="96692" y="282684"/>
                  </a:cubicBezTo>
                  <a:cubicBezTo>
                    <a:pt x="96692" y="272213"/>
                    <a:pt x="88204" y="263724"/>
                    <a:pt x="77733" y="263724"/>
                  </a:cubicBezTo>
                  <a:moveTo>
                    <a:pt x="19376" y="435155"/>
                  </a:moveTo>
                  <a:lnTo>
                    <a:pt x="67210" y="369480"/>
                  </a:lnTo>
                  <a:cubicBezTo>
                    <a:pt x="70823" y="364506"/>
                    <a:pt x="76363" y="361285"/>
                    <a:pt x="82472" y="360607"/>
                  </a:cubicBezTo>
                  <a:cubicBezTo>
                    <a:pt x="88581" y="359928"/>
                    <a:pt x="94694" y="361856"/>
                    <a:pt x="99309" y="365915"/>
                  </a:cubicBezTo>
                  <a:lnTo>
                    <a:pt x="131938" y="394563"/>
                  </a:lnTo>
                  <a:lnTo>
                    <a:pt x="185024" y="314725"/>
                  </a:lnTo>
                  <a:cubicBezTo>
                    <a:pt x="189260" y="308343"/>
                    <a:pt x="196531" y="304646"/>
                    <a:pt x="204184" y="304984"/>
                  </a:cubicBezTo>
                  <a:cubicBezTo>
                    <a:pt x="211837" y="305321"/>
                    <a:pt x="218754" y="309644"/>
                    <a:pt x="222412" y="316375"/>
                  </a:cubicBezTo>
                  <a:lnTo>
                    <a:pt x="287101" y="435819"/>
                  </a:lnTo>
                  <a:moveTo>
                    <a:pt x="433221" y="311123"/>
                  </a:moveTo>
                  <a:lnTo>
                    <a:pt x="400042" y="273204"/>
                  </a:lnTo>
                  <a:lnTo>
                    <a:pt x="366863" y="311123"/>
                  </a:lnTo>
                  <a:moveTo>
                    <a:pt x="352644" y="405920"/>
                  </a:moveTo>
                  <a:lnTo>
                    <a:pt x="381083" y="405920"/>
                  </a:lnTo>
                  <a:cubicBezTo>
                    <a:pt x="391554" y="405920"/>
                    <a:pt x="400042" y="397431"/>
                    <a:pt x="400042" y="386960"/>
                  </a:cubicBezTo>
                  <a:lnTo>
                    <a:pt x="400042" y="273204"/>
                  </a:lnTo>
                  <a:moveTo>
                    <a:pt x="362123" y="61997"/>
                  </a:moveTo>
                  <a:cubicBezTo>
                    <a:pt x="315009" y="61997"/>
                    <a:pt x="276806" y="49768"/>
                    <a:pt x="276806" y="34695"/>
                  </a:cubicBezTo>
                  <a:cubicBezTo>
                    <a:pt x="276806" y="19622"/>
                    <a:pt x="315009" y="7394"/>
                    <a:pt x="362123" y="7394"/>
                  </a:cubicBezTo>
                  <a:cubicBezTo>
                    <a:pt x="409238" y="7394"/>
                    <a:pt x="447441" y="19622"/>
                    <a:pt x="447441" y="34695"/>
                  </a:cubicBezTo>
                  <a:cubicBezTo>
                    <a:pt x="447441" y="49768"/>
                    <a:pt x="409238" y="61997"/>
                    <a:pt x="362123" y="61997"/>
                  </a:cubicBezTo>
                  <a:close/>
                  <a:moveTo>
                    <a:pt x="276806" y="34695"/>
                  </a:moveTo>
                  <a:lnTo>
                    <a:pt x="276806" y="116600"/>
                  </a:lnTo>
                  <a:moveTo>
                    <a:pt x="447441" y="116600"/>
                  </a:moveTo>
                  <a:lnTo>
                    <a:pt x="447441" y="34695"/>
                  </a:lnTo>
                  <a:moveTo>
                    <a:pt x="276806" y="146366"/>
                  </a:moveTo>
                  <a:lnTo>
                    <a:pt x="276806" y="116600"/>
                  </a:lnTo>
                  <a:moveTo>
                    <a:pt x="447441" y="116600"/>
                  </a:moveTo>
                  <a:lnTo>
                    <a:pt x="447441" y="198504"/>
                  </a:lnTo>
                  <a:cubicBezTo>
                    <a:pt x="447441" y="213672"/>
                    <a:pt x="409238" y="225806"/>
                    <a:pt x="362123" y="225806"/>
                  </a:cubicBezTo>
                  <a:cubicBezTo>
                    <a:pt x="356019" y="225806"/>
                    <a:pt x="350046" y="225597"/>
                    <a:pt x="344302" y="225218"/>
                  </a:cubicBezTo>
                  <a:moveTo>
                    <a:pt x="447441" y="88161"/>
                  </a:moveTo>
                  <a:cubicBezTo>
                    <a:pt x="447441" y="103328"/>
                    <a:pt x="409238" y="115462"/>
                    <a:pt x="362123" y="115462"/>
                  </a:cubicBezTo>
                  <a:cubicBezTo>
                    <a:pt x="315009" y="115462"/>
                    <a:pt x="276806" y="103233"/>
                    <a:pt x="276806" y="88161"/>
                  </a:cubicBezTo>
                  <a:moveTo>
                    <a:pt x="447441" y="145039"/>
                  </a:moveTo>
                  <a:cubicBezTo>
                    <a:pt x="447441" y="160206"/>
                    <a:pt x="409238" y="172340"/>
                    <a:pt x="362123" y="172340"/>
                  </a:cubicBezTo>
                  <a:cubicBezTo>
                    <a:pt x="315009" y="172340"/>
                    <a:pt x="276806" y="160111"/>
                    <a:pt x="276806" y="145039"/>
                  </a:cubicBezTo>
                  <a:moveTo>
                    <a:pt x="39814" y="216136"/>
                  </a:moveTo>
                  <a:cubicBezTo>
                    <a:pt x="115652" y="219928"/>
                    <a:pt x="193385" y="227512"/>
                    <a:pt x="267327" y="216136"/>
                  </a:cubicBezTo>
                  <a:cubicBezTo>
                    <a:pt x="267327" y="216136"/>
                    <a:pt x="290078" y="216136"/>
                    <a:pt x="295766" y="244575"/>
                  </a:cubicBezTo>
                  <a:cubicBezTo>
                    <a:pt x="305245" y="301454"/>
                    <a:pt x="280598" y="360228"/>
                    <a:pt x="295766" y="415210"/>
                  </a:cubicBezTo>
                  <a:cubicBezTo>
                    <a:pt x="295766" y="415210"/>
                    <a:pt x="293870" y="434169"/>
                    <a:pt x="267327" y="443649"/>
                  </a:cubicBezTo>
                  <a:cubicBezTo>
                    <a:pt x="195281" y="468296"/>
                    <a:pt x="113756" y="428481"/>
                    <a:pt x="39814" y="443649"/>
                  </a:cubicBezTo>
                  <a:cubicBezTo>
                    <a:pt x="39814" y="443649"/>
                    <a:pt x="15167" y="443649"/>
                    <a:pt x="11375" y="415210"/>
                  </a:cubicBezTo>
                  <a:cubicBezTo>
                    <a:pt x="3791" y="358332"/>
                    <a:pt x="0" y="301454"/>
                    <a:pt x="11375" y="244575"/>
                  </a:cubicBezTo>
                  <a:cubicBezTo>
                    <a:pt x="11375" y="244575"/>
                    <a:pt x="11375" y="214240"/>
                    <a:pt x="39814" y="216136"/>
                  </a:cubicBezTo>
                  <a:moveTo>
                    <a:pt x="77733" y="263535"/>
                  </a:moveTo>
                  <a:cubicBezTo>
                    <a:pt x="68253" y="267327"/>
                    <a:pt x="58774" y="273014"/>
                    <a:pt x="58774" y="282494"/>
                  </a:cubicBezTo>
                  <a:cubicBezTo>
                    <a:pt x="58774" y="293870"/>
                    <a:pt x="66357" y="301454"/>
                    <a:pt x="77733" y="301454"/>
                  </a:cubicBezTo>
                  <a:cubicBezTo>
                    <a:pt x="89109" y="303349"/>
                    <a:pt x="94796" y="293870"/>
                    <a:pt x="96692" y="282494"/>
                  </a:cubicBezTo>
                  <a:cubicBezTo>
                    <a:pt x="98588" y="273014"/>
                    <a:pt x="89109" y="261639"/>
                    <a:pt x="77733" y="263535"/>
                  </a:cubicBezTo>
                  <a:moveTo>
                    <a:pt x="18959" y="436065"/>
                  </a:moveTo>
                  <a:cubicBezTo>
                    <a:pt x="41710" y="419002"/>
                    <a:pt x="47398" y="388667"/>
                    <a:pt x="66357" y="369707"/>
                  </a:cubicBezTo>
                  <a:cubicBezTo>
                    <a:pt x="72045" y="365915"/>
                    <a:pt x="75837" y="362123"/>
                    <a:pt x="81525" y="360228"/>
                  </a:cubicBezTo>
                  <a:cubicBezTo>
                    <a:pt x="89109" y="358332"/>
                    <a:pt x="94796" y="362123"/>
                    <a:pt x="98588" y="365915"/>
                  </a:cubicBezTo>
                  <a:cubicBezTo>
                    <a:pt x="111860" y="373499"/>
                    <a:pt x="121339" y="386771"/>
                    <a:pt x="132715" y="394354"/>
                  </a:cubicBezTo>
                  <a:cubicBezTo>
                    <a:pt x="147883" y="367811"/>
                    <a:pt x="164946" y="339372"/>
                    <a:pt x="185801" y="314725"/>
                  </a:cubicBezTo>
                  <a:cubicBezTo>
                    <a:pt x="189593" y="309037"/>
                    <a:pt x="197177" y="307141"/>
                    <a:pt x="204761" y="305245"/>
                  </a:cubicBezTo>
                  <a:cubicBezTo>
                    <a:pt x="212344" y="303349"/>
                    <a:pt x="218032" y="310933"/>
                    <a:pt x="221824" y="316621"/>
                  </a:cubicBezTo>
                  <a:cubicBezTo>
                    <a:pt x="250263" y="350748"/>
                    <a:pt x="259743" y="400042"/>
                    <a:pt x="286286" y="436065"/>
                  </a:cubicBezTo>
                  <a:moveTo>
                    <a:pt x="434169" y="310933"/>
                  </a:moveTo>
                  <a:cubicBezTo>
                    <a:pt x="422794" y="297662"/>
                    <a:pt x="411418" y="286286"/>
                    <a:pt x="400042" y="273014"/>
                  </a:cubicBezTo>
                  <a:cubicBezTo>
                    <a:pt x="390563" y="288182"/>
                    <a:pt x="379187" y="299558"/>
                    <a:pt x="367811" y="310933"/>
                  </a:cubicBezTo>
                  <a:moveTo>
                    <a:pt x="400042" y="273014"/>
                  </a:moveTo>
                  <a:cubicBezTo>
                    <a:pt x="403834" y="310933"/>
                    <a:pt x="405730" y="348852"/>
                    <a:pt x="400042" y="386771"/>
                  </a:cubicBezTo>
                  <a:cubicBezTo>
                    <a:pt x="398146" y="398146"/>
                    <a:pt x="390563" y="407626"/>
                    <a:pt x="381083" y="405730"/>
                  </a:cubicBezTo>
                  <a:cubicBezTo>
                    <a:pt x="371603" y="403834"/>
                    <a:pt x="362123" y="405730"/>
                    <a:pt x="352644" y="405730"/>
                  </a:cubicBezTo>
                  <a:moveTo>
                    <a:pt x="362123" y="62565"/>
                  </a:moveTo>
                  <a:cubicBezTo>
                    <a:pt x="405730" y="79629"/>
                    <a:pt x="449337" y="49294"/>
                    <a:pt x="447441" y="34126"/>
                  </a:cubicBezTo>
                  <a:cubicBezTo>
                    <a:pt x="445545" y="18959"/>
                    <a:pt x="409522" y="0"/>
                    <a:pt x="362123" y="7583"/>
                  </a:cubicBezTo>
                  <a:cubicBezTo>
                    <a:pt x="316621" y="15167"/>
                    <a:pt x="280598" y="20855"/>
                    <a:pt x="276806" y="34126"/>
                  </a:cubicBezTo>
                  <a:cubicBezTo>
                    <a:pt x="273014" y="49294"/>
                    <a:pt x="314725" y="53086"/>
                    <a:pt x="362123" y="62565"/>
                  </a:cubicBezTo>
                  <a:moveTo>
                    <a:pt x="276806" y="117548"/>
                  </a:moveTo>
                  <a:cubicBezTo>
                    <a:pt x="271119" y="89109"/>
                    <a:pt x="282494" y="60669"/>
                    <a:pt x="276806" y="34126"/>
                  </a:cubicBezTo>
                  <a:moveTo>
                    <a:pt x="447441" y="34126"/>
                  </a:moveTo>
                  <a:cubicBezTo>
                    <a:pt x="449337" y="62565"/>
                    <a:pt x="443649" y="89109"/>
                    <a:pt x="447441" y="117548"/>
                  </a:cubicBezTo>
                  <a:moveTo>
                    <a:pt x="276806" y="145987"/>
                  </a:moveTo>
                  <a:cubicBezTo>
                    <a:pt x="273014" y="136507"/>
                    <a:pt x="274910" y="127027"/>
                    <a:pt x="276806" y="117548"/>
                  </a:cubicBezTo>
                  <a:moveTo>
                    <a:pt x="447441" y="117548"/>
                  </a:moveTo>
                  <a:cubicBezTo>
                    <a:pt x="441753" y="144091"/>
                    <a:pt x="453128" y="172530"/>
                    <a:pt x="447441" y="199073"/>
                  </a:cubicBezTo>
                  <a:cubicBezTo>
                    <a:pt x="443649" y="214240"/>
                    <a:pt x="409522" y="225616"/>
                    <a:pt x="362123" y="225616"/>
                  </a:cubicBezTo>
                  <a:cubicBezTo>
                    <a:pt x="356436" y="225616"/>
                    <a:pt x="350748" y="227512"/>
                    <a:pt x="345060" y="225616"/>
                  </a:cubicBezTo>
                  <a:moveTo>
                    <a:pt x="447441" y="89109"/>
                  </a:moveTo>
                  <a:cubicBezTo>
                    <a:pt x="441753" y="102380"/>
                    <a:pt x="409522" y="111860"/>
                    <a:pt x="362123" y="115652"/>
                  </a:cubicBezTo>
                  <a:cubicBezTo>
                    <a:pt x="314725" y="119444"/>
                    <a:pt x="280598" y="102380"/>
                    <a:pt x="276806" y="89109"/>
                  </a:cubicBezTo>
                  <a:moveTo>
                    <a:pt x="447441" y="145987"/>
                  </a:moveTo>
                  <a:cubicBezTo>
                    <a:pt x="449337" y="161154"/>
                    <a:pt x="409522" y="176322"/>
                    <a:pt x="362123" y="172530"/>
                  </a:cubicBezTo>
                  <a:cubicBezTo>
                    <a:pt x="314725" y="168738"/>
                    <a:pt x="274910" y="159258"/>
                    <a:pt x="276806" y="145987"/>
                  </a:cubicBezTo>
                </a:path>
              </a:pathLst>
            </a:custGeom>
            <a:grpFill/>
            <a:ln w="18959">
              <a:solidFill>
                <a:srgbClr val="402019"/>
              </a:solidFill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6" name="Rounded Rectangle 30">
              <a:extLst>
                <a:ext uri="{FF2B5EF4-FFF2-40B4-BE49-F238E27FC236}">
                  <a16:creationId xmlns:a16="http://schemas.microsoft.com/office/drawing/2014/main" id="{6D0C1F89-8D4A-FAA0-2A84-26A81B589F92}"/>
                </a:ext>
              </a:extLst>
            </p:cNvPr>
            <p:cNvSpPr/>
            <p:nvPr/>
          </p:nvSpPr>
          <p:spPr>
            <a:xfrm>
              <a:off x="5598205" y="3484924"/>
              <a:ext cx="475880" cy="475880"/>
            </a:xfrm>
            <a:custGeom>
              <a:avLst/>
              <a:gdLst/>
              <a:ahLst/>
              <a:cxnLst/>
              <a:rect l="0" t="0" r="0" b="0"/>
              <a:pathLst>
                <a:path w="475880" h="475880">
                  <a:moveTo>
                    <a:pt x="409522" y="227512"/>
                  </a:moveTo>
                  <a:lnTo>
                    <a:pt x="409522" y="75837"/>
                  </a:lnTo>
                  <a:cubicBezTo>
                    <a:pt x="409522" y="54895"/>
                    <a:pt x="392545" y="37918"/>
                    <a:pt x="371603" y="37918"/>
                  </a:cubicBezTo>
                  <a:lnTo>
                    <a:pt x="68253" y="37918"/>
                  </a:lnTo>
                  <a:cubicBezTo>
                    <a:pt x="47311" y="37918"/>
                    <a:pt x="30335" y="54895"/>
                    <a:pt x="30335" y="75837"/>
                  </a:cubicBezTo>
                  <a:lnTo>
                    <a:pt x="30335" y="379187"/>
                  </a:lnTo>
                  <a:cubicBezTo>
                    <a:pt x="30335" y="400129"/>
                    <a:pt x="47311" y="417106"/>
                    <a:pt x="68253" y="417106"/>
                  </a:cubicBezTo>
                  <a:lnTo>
                    <a:pt x="238888" y="417106"/>
                  </a:lnTo>
                  <a:moveTo>
                    <a:pt x="409522" y="151674"/>
                  </a:moveTo>
                  <a:lnTo>
                    <a:pt x="286286" y="151674"/>
                  </a:lnTo>
                  <a:moveTo>
                    <a:pt x="115652" y="151674"/>
                  </a:moveTo>
                  <a:lnTo>
                    <a:pt x="30335" y="151674"/>
                  </a:lnTo>
                  <a:moveTo>
                    <a:pt x="172530" y="113756"/>
                  </a:moveTo>
                  <a:lnTo>
                    <a:pt x="191489" y="113756"/>
                  </a:lnTo>
                  <a:cubicBezTo>
                    <a:pt x="201960" y="113756"/>
                    <a:pt x="210449" y="122244"/>
                    <a:pt x="210449" y="132715"/>
                  </a:cubicBezTo>
                  <a:lnTo>
                    <a:pt x="210449" y="161154"/>
                  </a:lnTo>
                  <a:lnTo>
                    <a:pt x="182009" y="208553"/>
                  </a:lnTo>
                  <a:lnTo>
                    <a:pt x="153570" y="161154"/>
                  </a:lnTo>
                  <a:lnTo>
                    <a:pt x="153570" y="132715"/>
                  </a:lnTo>
                  <a:cubicBezTo>
                    <a:pt x="153570" y="122244"/>
                    <a:pt x="162059" y="113756"/>
                    <a:pt x="172530" y="113756"/>
                  </a:cubicBezTo>
                  <a:close/>
                  <a:moveTo>
                    <a:pt x="295766" y="37918"/>
                  </a:moveTo>
                  <a:lnTo>
                    <a:pt x="295766" y="94796"/>
                  </a:lnTo>
                  <a:cubicBezTo>
                    <a:pt x="295766" y="105267"/>
                    <a:pt x="287277" y="113756"/>
                    <a:pt x="276806" y="113756"/>
                  </a:cubicBezTo>
                  <a:lnTo>
                    <a:pt x="191489" y="113756"/>
                  </a:lnTo>
                  <a:moveTo>
                    <a:pt x="129871" y="218032"/>
                  </a:moveTo>
                  <a:lnTo>
                    <a:pt x="144091" y="232252"/>
                  </a:lnTo>
                  <a:moveTo>
                    <a:pt x="106172" y="260691"/>
                  </a:moveTo>
                  <a:lnTo>
                    <a:pt x="125131" y="260691"/>
                  </a:lnTo>
                  <a:moveTo>
                    <a:pt x="234148" y="218032"/>
                  </a:moveTo>
                  <a:lnTo>
                    <a:pt x="219928" y="232252"/>
                  </a:lnTo>
                  <a:moveTo>
                    <a:pt x="257847" y="260691"/>
                  </a:moveTo>
                  <a:lnTo>
                    <a:pt x="238888" y="260691"/>
                  </a:lnTo>
                  <a:moveTo>
                    <a:pt x="122761" y="341268"/>
                  </a:moveTo>
                  <a:lnTo>
                    <a:pt x="241257" y="341268"/>
                  </a:lnTo>
                  <a:lnTo>
                    <a:pt x="182009" y="246471"/>
                  </a:lnTo>
                  <a:close/>
                  <a:moveTo>
                    <a:pt x="238888" y="379187"/>
                  </a:moveTo>
                  <a:lnTo>
                    <a:pt x="96692" y="379187"/>
                  </a:lnTo>
                  <a:moveTo>
                    <a:pt x="276806" y="369707"/>
                  </a:moveTo>
                  <a:cubicBezTo>
                    <a:pt x="276806" y="317352"/>
                    <a:pt x="319248" y="274910"/>
                    <a:pt x="371603" y="274910"/>
                  </a:cubicBezTo>
                  <a:cubicBezTo>
                    <a:pt x="423958" y="274910"/>
                    <a:pt x="466400" y="317352"/>
                    <a:pt x="466400" y="369707"/>
                  </a:cubicBezTo>
                  <a:cubicBezTo>
                    <a:pt x="466400" y="422062"/>
                    <a:pt x="423958" y="464504"/>
                    <a:pt x="371603" y="464504"/>
                  </a:cubicBezTo>
                  <a:cubicBezTo>
                    <a:pt x="319248" y="464504"/>
                    <a:pt x="276806" y="422062"/>
                    <a:pt x="276806" y="369707"/>
                  </a:cubicBezTo>
                  <a:close/>
                  <a:moveTo>
                    <a:pt x="409522" y="369707"/>
                  </a:moveTo>
                  <a:lnTo>
                    <a:pt x="371603" y="369707"/>
                  </a:lnTo>
                  <a:lnTo>
                    <a:pt x="371603" y="312829"/>
                  </a:lnTo>
                  <a:moveTo>
                    <a:pt x="238888" y="417106"/>
                  </a:moveTo>
                  <a:cubicBezTo>
                    <a:pt x="182009" y="426585"/>
                    <a:pt x="123235" y="400042"/>
                    <a:pt x="68253" y="417106"/>
                  </a:cubicBezTo>
                  <a:cubicBezTo>
                    <a:pt x="47398" y="422793"/>
                    <a:pt x="36022" y="398146"/>
                    <a:pt x="30335" y="379187"/>
                  </a:cubicBezTo>
                  <a:cubicBezTo>
                    <a:pt x="0" y="282494"/>
                    <a:pt x="45502" y="176322"/>
                    <a:pt x="30335" y="75837"/>
                  </a:cubicBezTo>
                  <a:cubicBezTo>
                    <a:pt x="26543" y="54982"/>
                    <a:pt x="49294" y="45502"/>
                    <a:pt x="68253" y="37918"/>
                  </a:cubicBezTo>
                  <a:cubicBezTo>
                    <a:pt x="163050" y="0"/>
                    <a:pt x="273014" y="18959"/>
                    <a:pt x="371603" y="37918"/>
                  </a:cubicBezTo>
                  <a:cubicBezTo>
                    <a:pt x="392459" y="41710"/>
                    <a:pt x="405730" y="54982"/>
                    <a:pt x="409522" y="75837"/>
                  </a:cubicBezTo>
                  <a:cubicBezTo>
                    <a:pt x="419002" y="125131"/>
                    <a:pt x="424689" y="178218"/>
                    <a:pt x="409522" y="227512"/>
                  </a:cubicBezTo>
                  <a:moveTo>
                    <a:pt x="286286" y="151674"/>
                  </a:moveTo>
                  <a:cubicBezTo>
                    <a:pt x="324205" y="166842"/>
                    <a:pt x="367811" y="149779"/>
                    <a:pt x="409522" y="151674"/>
                  </a:cubicBezTo>
                  <a:moveTo>
                    <a:pt x="30335" y="151674"/>
                  </a:moveTo>
                  <a:cubicBezTo>
                    <a:pt x="56878" y="159258"/>
                    <a:pt x="89109" y="159258"/>
                    <a:pt x="115652" y="151674"/>
                  </a:cubicBezTo>
                  <a:moveTo>
                    <a:pt x="172530" y="113756"/>
                  </a:moveTo>
                  <a:cubicBezTo>
                    <a:pt x="161154" y="111860"/>
                    <a:pt x="151674" y="123235"/>
                    <a:pt x="153570" y="132715"/>
                  </a:cubicBezTo>
                  <a:cubicBezTo>
                    <a:pt x="155466" y="142195"/>
                    <a:pt x="157362" y="151674"/>
                    <a:pt x="153570" y="161154"/>
                  </a:cubicBezTo>
                  <a:cubicBezTo>
                    <a:pt x="161154" y="178218"/>
                    <a:pt x="172530" y="193385"/>
                    <a:pt x="182009" y="208553"/>
                  </a:cubicBezTo>
                  <a:cubicBezTo>
                    <a:pt x="189593" y="191489"/>
                    <a:pt x="197177" y="174426"/>
                    <a:pt x="210449" y="161154"/>
                  </a:cubicBezTo>
                  <a:cubicBezTo>
                    <a:pt x="208553" y="151674"/>
                    <a:pt x="208553" y="142195"/>
                    <a:pt x="210449" y="132715"/>
                  </a:cubicBezTo>
                  <a:cubicBezTo>
                    <a:pt x="212344" y="123235"/>
                    <a:pt x="200969" y="111860"/>
                    <a:pt x="191489" y="113756"/>
                  </a:cubicBezTo>
                  <a:cubicBezTo>
                    <a:pt x="185801" y="115652"/>
                    <a:pt x="178218" y="111860"/>
                    <a:pt x="172530" y="113756"/>
                  </a:cubicBezTo>
                  <a:moveTo>
                    <a:pt x="191489" y="113756"/>
                  </a:moveTo>
                  <a:cubicBezTo>
                    <a:pt x="219928" y="119444"/>
                    <a:pt x="248367" y="111860"/>
                    <a:pt x="276806" y="113756"/>
                  </a:cubicBezTo>
                  <a:cubicBezTo>
                    <a:pt x="288182" y="113756"/>
                    <a:pt x="293870" y="104276"/>
                    <a:pt x="295766" y="94796"/>
                  </a:cubicBezTo>
                  <a:cubicBezTo>
                    <a:pt x="299558" y="75837"/>
                    <a:pt x="288182" y="54982"/>
                    <a:pt x="295766" y="37918"/>
                  </a:cubicBezTo>
                  <a:moveTo>
                    <a:pt x="130819" y="218032"/>
                  </a:moveTo>
                  <a:cubicBezTo>
                    <a:pt x="132715" y="223720"/>
                    <a:pt x="138403" y="227512"/>
                    <a:pt x="144091" y="233200"/>
                  </a:cubicBezTo>
                  <a:moveTo>
                    <a:pt x="106172" y="261639"/>
                  </a:moveTo>
                  <a:cubicBezTo>
                    <a:pt x="111860" y="259743"/>
                    <a:pt x="119444" y="261639"/>
                    <a:pt x="125131" y="261639"/>
                  </a:cubicBezTo>
                  <a:moveTo>
                    <a:pt x="219928" y="233200"/>
                  </a:moveTo>
                  <a:cubicBezTo>
                    <a:pt x="225616" y="229408"/>
                    <a:pt x="231304" y="223720"/>
                    <a:pt x="235096" y="218032"/>
                  </a:cubicBezTo>
                  <a:moveTo>
                    <a:pt x="238888" y="261639"/>
                  </a:moveTo>
                  <a:cubicBezTo>
                    <a:pt x="244575" y="257847"/>
                    <a:pt x="252159" y="261639"/>
                    <a:pt x="257847" y="261639"/>
                  </a:cubicBezTo>
                  <a:moveTo>
                    <a:pt x="123235" y="341268"/>
                  </a:moveTo>
                  <a:cubicBezTo>
                    <a:pt x="159258" y="354540"/>
                    <a:pt x="202865" y="337476"/>
                    <a:pt x="240784" y="341268"/>
                  </a:cubicBezTo>
                  <a:cubicBezTo>
                    <a:pt x="221824" y="310933"/>
                    <a:pt x="202865" y="276806"/>
                    <a:pt x="182009" y="246471"/>
                  </a:cubicBezTo>
                  <a:cubicBezTo>
                    <a:pt x="166842" y="280598"/>
                    <a:pt x="138403" y="307141"/>
                    <a:pt x="123235" y="341268"/>
                  </a:cubicBezTo>
                  <a:moveTo>
                    <a:pt x="96692" y="379187"/>
                  </a:moveTo>
                  <a:cubicBezTo>
                    <a:pt x="140299" y="396250"/>
                    <a:pt x="191489" y="382979"/>
                    <a:pt x="238888" y="379187"/>
                  </a:cubicBezTo>
                  <a:moveTo>
                    <a:pt x="276806" y="369707"/>
                  </a:moveTo>
                  <a:cubicBezTo>
                    <a:pt x="280598" y="422793"/>
                    <a:pt x="320413" y="475880"/>
                    <a:pt x="371603" y="464504"/>
                  </a:cubicBezTo>
                  <a:cubicBezTo>
                    <a:pt x="422794" y="453128"/>
                    <a:pt x="475880" y="420898"/>
                    <a:pt x="466400" y="369707"/>
                  </a:cubicBezTo>
                  <a:cubicBezTo>
                    <a:pt x="456920" y="318517"/>
                    <a:pt x="422794" y="280598"/>
                    <a:pt x="371603" y="274910"/>
                  </a:cubicBezTo>
                  <a:cubicBezTo>
                    <a:pt x="320413" y="269223"/>
                    <a:pt x="278702" y="316621"/>
                    <a:pt x="276806" y="369707"/>
                  </a:cubicBezTo>
                  <a:moveTo>
                    <a:pt x="409522" y="369707"/>
                  </a:moveTo>
                  <a:cubicBezTo>
                    <a:pt x="396250" y="369707"/>
                    <a:pt x="384875" y="369707"/>
                    <a:pt x="371603" y="369707"/>
                  </a:cubicBezTo>
                  <a:cubicBezTo>
                    <a:pt x="375395" y="350748"/>
                    <a:pt x="367811" y="331789"/>
                    <a:pt x="371603" y="312829"/>
                  </a:cubicBezTo>
                </a:path>
              </a:pathLst>
            </a:custGeom>
            <a:grpFill/>
            <a:ln w="18959">
              <a:solidFill>
                <a:srgbClr val="402019"/>
              </a:solidFill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7" name="Rounded Rectangle 31">
              <a:extLst>
                <a:ext uri="{FF2B5EF4-FFF2-40B4-BE49-F238E27FC236}">
                  <a16:creationId xmlns:a16="http://schemas.microsoft.com/office/drawing/2014/main" id="{ADE69AC1-AC67-23E2-D2FC-54C2529B71D9}"/>
                </a:ext>
              </a:extLst>
            </p:cNvPr>
            <p:cNvSpPr/>
            <p:nvPr/>
          </p:nvSpPr>
          <p:spPr>
            <a:xfrm>
              <a:off x="4395819" y="3805336"/>
              <a:ext cx="455972" cy="432273"/>
            </a:xfrm>
            <a:custGeom>
              <a:avLst/>
              <a:gdLst/>
              <a:ahLst/>
              <a:cxnLst/>
              <a:rect l="0" t="0" r="0" b="0"/>
              <a:pathLst>
                <a:path w="455972" h="432273">
                  <a:moveTo>
                    <a:pt x="104276" y="145039"/>
                  </a:moveTo>
                  <a:lnTo>
                    <a:pt x="0" y="145039"/>
                  </a:lnTo>
                  <a:lnTo>
                    <a:pt x="0" y="429429"/>
                  </a:lnTo>
                  <a:lnTo>
                    <a:pt x="104276" y="429429"/>
                  </a:lnTo>
                  <a:close/>
                  <a:moveTo>
                    <a:pt x="104276" y="234148"/>
                  </a:moveTo>
                  <a:lnTo>
                    <a:pt x="0" y="234148"/>
                  </a:lnTo>
                  <a:moveTo>
                    <a:pt x="426585" y="145039"/>
                  </a:moveTo>
                  <a:lnTo>
                    <a:pt x="426585" y="429429"/>
                  </a:lnTo>
                  <a:lnTo>
                    <a:pt x="322309" y="429429"/>
                  </a:lnTo>
                  <a:lnTo>
                    <a:pt x="322309" y="145039"/>
                  </a:lnTo>
                  <a:close/>
                  <a:moveTo>
                    <a:pt x="426585" y="234148"/>
                  </a:moveTo>
                  <a:lnTo>
                    <a:pt x="322309" y="234148"/>
                  </a:lnTo>
                  <a:moveTo>
                    <a:pt x="104276" y="328945"/>
                  </a:moveTo>
                  <a:lnTo>
                    <a:pt x="0" y="328945"/>
                  </a:lnTo>
                  <a:moveTo>
                    <a:pt x="426585" y="328945"/>
                  </a:moveTo>
                  <a:lnTo>
                    <a:pt x="322309" y="328945"/>
                  </a:lnTo>
                  <a:moveTo>
                    <a:pt x="156414" y="59722"/>
                  </a:moveTo>
                  <a:cubicBezTo>
                    <a:pt x="156414" y="27491"/>
                    <a:pt x="181061" y="2843"/>
                    <a:pt x="213292" y="2843"/>
                  </a:cubicBezTo>
                  <a:cubicBezTo>
                    <a:pt x="245523" y="2843"/>
                    <a:pt x="270171" y="27491"/>
                    <a:pt x="270171" y="59722"/>
                  </a:cubicBezTo>
                  <a:cubicBezTo>
                    <a:pt x="270171" y="84369"/>
                    <a:pt x="255003" y="105224"/>
                    <a:pt x="232252" y="112808"/>
                  </a:cubicBezTo>
                  <a:cubicBezTo>
                    <a:pt x="220876" y="116600"/>
                    <a:pt x="213292" y="127975"/>
                    <a:pt x="213292" y="139351"/>
                  </a:cubicBezTo>
                  <a:lnTo>
                    <a:pt x="213292" y="158310"/>
                  </a:lnTo>
                  <a:moveTo>
                    <a:pt x="213292" y="228460"/>
                  </a:moveTo>
                  <a:cubicBezTo>
                    <a:pt x="208058" y="228460"/>
                    <a:pt x="203813" y="224217"/>
                    <a:pt x="203813" y="218980"/>
                  </a:cubicBezTo>
                  <a:cubicBezTo>
                    <a:pt x="203813" y="213746"/>
                    <a:pt x="208058" y="209501"/>
                    <a:pt x="213292" y="209501"/>
                  </a:cubicBezTo>
                  <a:moveTo>
                    <a:pt x="213292" y="228460"/>
                  </a:moveTo>
                  <a:cubicBezTo>
                    <a:pt x="218529" y="228460"/>
                    <a:pt x="222772" y="224217"/>
                    <a:pt x="222772" y="218980"/>
                  </a:cubicBezTo>
                  <a:cubicBezTo>
                    <a:pt x="222772" y="213746"/>
                    <a:pt x="218529" y="209501"/>
                    <a:pt x="213292" y="209501"/>
                  </a:cubicBezTo>
                  <a:moveTo>
                    <a:pt x="105224" y="145987"/>
                  </a:moveTo>
                  <a:cubicBezTo>
                    <a:pt x="69201" y="140299"/>
                    <a:pt x="35074" y="145987"/>
                    <a:pt x="947" y="145987"/>
                  </a:cubicBezTo>
                  <a:cubicBezTo>
                    <a:pt x="6635" y="238888"/>
                    <a:pt x="12323" y="335580"/>
                    <a:pt x="947" y="430377"/>
                  </a:cubicBezTo>
                  <a:cubicBezTo>
                    <a:pt x="35074" y="426585"/>
                    <a:pt x="69201" y="426585"/>
                    <a:pt x="105224" y="430377"/>
                  </a:cubicBezTo>
                  <a:cubicBezTo>
                    <a:pt x="93848" y="335580"/>
                    <a:pt x="101432" y="240784"/>
                    <a:pt x="105224" y="145987"/>
                  </a:cubicBezTo>
                  <a:moveTo>
                    <a:pt x="105224" y="235096"/>
                  </a:moveTo>
                  <a:cubicBezTo>
                    <a:pt x="69201" y="231304"/>
                    <a:pt x="35074" y="233200"/>
                    <a:pt x="947" y="235096"/>
                  </a:cubicBezTo>
                  <a:moveTo>
                    <a:pt x="427533" y="145987"/>
                  </a:moveTo>
                  <a:cubicBezTo>
                    <a:pt x="393406" y="151674"/>
                    <a:pt x="355488" y="132715"/>
                    <a:pt x="323257" y="145987"/>
                  </a:cubicBezTo>
                  <a:cubicBezTo>
                    <a:pt x="308089" y="238888"/>
                    <a:pt x="328945" y="335580"/>
                    <a:pt x="323257" y="430377"/>
                  </a:cubicBezTo>
                  <a:cubicBezTo>
                    <a:pt x="355488" y="422793"/>
                    <a:pt x="391511" y="432273"/>
                    <a:pt x="427533" y="430377"/>
                  </a:cubicBezTo>
                  <a:cubicBezTo>
                    <a:pt x="455972" y="339372"/>
                    <a:pt x="425637" y="240784"/>
                    <a:pt x="427533" y="145987"/>
                  </a:cubicBezTo>
                  <a:moveTo>
                    <a:pt x="427533" y="235096"/>
                  </a:moveTo>
                  <a:cubicBezTo>
                    <a:pt x="393406" y="240784"/>
                    <a:pt x="355488" y="221824"/>
                    <a:pt x="323257" y="235096"/>
                  </a:cubicBezTo>
                  <a:moveTo>
                    <a:pt x="105224" y="329893"/>
                  </a:moveTo>
                  <a:cubicBezTo>
                    <a:pt x="69201" y="322309"/>
                    <a:pt x="33178" y="316621"/>
                    <a:pt x="947" y="329893"/>
                  </a:cubicBezTo>
                  <a:moveTo>
                    <a:pt x="427533" y="329893"/>
                  </a:moveTo>
                  <a:cubicBezTo>
                    <a:pt x="393406" y="318517"/>
                    <a:pt x="357384" y="327997"/>
                    <a:pt x="323257" y="329893"/>
                  </a:cubicBezTo>
                  <a:moveTo>
                    <a:pt x="156414" y="60669"/>
                  </a:moveTo>
                  <a:cubicBezTo>
                    <a:pt x="162102" y="28439"/>
                    <a:pt x="181061" y="5687"/>
                    <a:pt x="213292" y="3791"/>
                  </a:cubicBezTo>
                  <a:cubicBezTo>
                    <a:pt x="245523" y="0"/>
                    <a:pt x="268275" y="26543"/>
                    <a:pt x="270171" y="60669"/>
                  </a:cubicBezTo>
                  <a:cubicBezTo>
                    <a:pt x="270171" y="83421"/>
                    <a:pt x="256899" y="111860"/>
                    <a:pt x="232252" y="113756"/>
                  </a:cubicBezTo>
                  <a:cubicBezTo>
                    <a:pt x="220876" y="113756"/>
                    <a:pt x="215188" y="127027"/>
                    <a:pt x="213292" y="140299"/>
                  </a:cubicBezTo>
                  <a:cubicBezTo>
                    <a:pt x="213292" y="145987"/>
                    <a:pt x="215188" y="151674"/>
                    <a:pt x="213292" y="159258"/>
                  </a:cubicBezTo>
                  <a:moveTo>
                    <a:pt x="213292" y="229408"/>
                  </a:moveTo>
                  <a:cubicBezTo>
                    <a:pt x="207605" y="231304"/>
                    <a:pt x="201917" y="223720"/>
                    <a:pt x="203813" y="219928"/>
                  </a:cubicBezTo>
                  <a:cubicBezTo>
                    <a:pt x="205709" y="214240"/>
                    <a:pt x="207605" y="210449"/>
                    <a:pt x="213292" y="210449"/>
                  </a:cubicBezTo>
                  <a:moveTo>
                    <a:pt x="213292" y="229408"/>
                  </a:moveTo>
                  <a:cubicBezTo>
                    <a:pt x="218980" y="229408"/>
                    <a:pt x="224668" y="223720"/>
                    <a:pt x="222772" y="219928"/>
                  </a:cubicBezTo>
                  <a:cubicBezTo>
                    <a:pt x="220876" y="214240"/>
                    <a:pt x="218980" y="210449"/>
                    <a:pt x="213292" y="210449"/>
                  </a:cubicBezTo>
                </a:path>
              </a:pathLst>
            </a:custGeom>
            <a:grpFill/>
            <a:ln w="18959">
              <a:solidFill>
                <a:srgbClr val="402019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17575EF-B9D8-D031-C013-5FE5F23CA840}"/>
                </a:ext>
              </a:extLst>
            </p:cNvPr>
            <p:cNvSpPr txBox="1"/>
            <p:nvPr/>
          </p:nvSpPr>
          <p:spPr>
            <a:xfrm>
              <a:off x="3523530" y="4760433"/>
              <a:ext cx="2171164" cy="27887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lang="en-US" sz="1400" b="1" dirty="0">
                  <a:solidFill>
                    <a:srgbClr val="402019"/>
                  </a:solidFill>
                  <a:latin typeface="Shantell Sans"/>
                </a:rPr>
                <a:t>Research Gaps</a:t>
              </a:r>
              <a:endParaRPr sz="1400" b="1" dirty="0">
                <a:solidFill>
                  <a:srgbClr val="402019"/>
                </a:solidFill>
                <a:latin typeface="Shantell Sans"/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C8CB3A6-4924-CD92-C0FA-3960D99C7FE5}"/>
                </a:ext>
              </a:extLst>
            </p:cNvPr>
            <p:cNvGrpSpPr/>
            <p:nvPr/>
          </p:nvGrpSpPr>
          <p:grpSpPr>
            <a:xfrm>
              <a:off x="3416314" y="5134627"/>
              <a:ext cx="2385594" cy="793925"/>
              <a:chOff x="1235089" y="4625040"/>
              <a:chExt cx="2385594" cy="793925"/>
            </a:xfrm>
            <a:grpFill/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927A134-4335-B639-3EED-7515F2FB018D}"/>
                  </a:ext>
                </a:extLst>
              </p:cNvPr>
              <p:cNvSpPr txBox="1"/>
              <p:nvPr/>
            </p:nvSpPr>
            <p:spPr>
              <a:xfrm>
                <a:off x="1235089" y="4625040"/>
                <a:ext cx="2385594" cy="18869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1200" b="0">
                    <a:solidFill>
                      <a:srgbClr val="402019"/>
                    </a:solidFill>
                    <a:latin typeface="Shantell Sans"/>
                  </a:rPr>
                  <a:t>Foundation model search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40EBCC9-E887-9539-75CA-22DEF53D9C40}"/>
                  </a:ext>
                </a:extLst>
              </p:cNvPr>
              <p:cNvSpPr txBox="1"/>
              <p:nvPr/>
            </p:nvSpPr>
            <p:spPr>
              <a:xfrm>
                <a:off x="1235089" y="4813730"/>
                <a:ext cx="2385594" cy="18869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1200" b="0" dirty="0">
                    <a:solidFill>
                      <a:srgbClr val="402019"/>
                    </a:solidFill>
                    <a:latin typeface="Shantell Sans"/>
                  </a:rPr>
                  <a:t>is seldom georeferenced,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DD81EB8-601E-9C23-50B8-EF5174F3B266}"/>
                  </a:ext>
                </a:extLst>
              </p:cNvPr>
              <p:cNvSpPr txBox="1"/>
              <p:nvPr/>
            </p:nvSpPr>
            <p:spPr>
              <a:xfrm>
                <a:off x="1235089" y="5049669"/>
                <a:ext cx="2385594" cy="18869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1200" b="0" dirty="0">
                    <a:solidFill>
                      <a:srgbClr val="402019"/>
                    </a:solidFill>
                    <a:latin typeface="Shantell Sans"/>
                  </a:rPr>
                  <a:t>filterable, offline and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D78DAE1-6D19-CDAF-EE25-50C430FD84CF}"/>
                  </a:ext>
                </a:extLst>
              </p:cNvPr>
              <p:cNvSpPr txBox="1"/>
              <p:nvPr/>
            </p:nvSpPr>
            <p:spPr>
              <a:xfrm>
                <a:off x="1235089" y="5230190"/>
                <a:ext cx="2385594" cy="18877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1200" b="0" dirty="0">
                    <a:solidFill>
                      <a:srgbClr val="402019"/>
                    </a:solidFill>
                    <a:latin typeface="Shantell Sans"/>
                  </a:rPr>
                  <a:t>auditable all together.</a:t>
                </a:r>
              </a:p>
            </p:txBody>
          </p:sp>
        </p:grp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5224BB3F-43C4-1597-5AA0-EB9C06E2418F}"/>
              </a:ext>
            </a:extLst>
          </p:cNvPr>
          <p:cNvSpPr txBox="1"/>
          <p:nvPr/>
        </p:nvSpPr>
        <p:spPr>
          <a:xfrm>
            <a:off x="-532588" y="1370378"/>
            <a:ext cx="4408236" cy="25249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2000" b="1" dirty="0">
                <a:solidFill>
                  <a:srgbClr val="4020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Proposed Solution</a:t>
            </a:r>
            <a:endParaRPr sz="2000" b="1" dirty="0">
              <a:solidFill>
                <a:srgbClr val="402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A0D9D23E-D631-C6D9-A49C-9612EE97F8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3" y="3372947"/>
            <a:ext cx="4996930" cy="2915421"/>
          </a:xfrm>
          <a:prstGeom prst="rect">
            <a:avLst/>
          </a:prstGeom>
          <a:ln>
            <a:noFill/>
          </a:ln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8AAECA9F-A878-8E74-EEC5-CF54F817DDEA}"/>
              </a:ext>
            </a:extLst>
          </p:cNvPr>
          <p:cNvSpPr/>
          <p:nvPr/>
        </p:nvSpPr>
        <p:spPr>
          <a:xfrm>
            <a:off x="1127887" y="3509548"/>
            <a:ext cx="2638754" cy="3109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4F6D8E4-483C-DE24-7D4F-C1A0D8FD1E9B}"/>
              </a:ext>
            </a:extLst>
          </p:cNvPr>
          <p:cNvSpPr txBox="1"/>
          <p:nvPr/>
        </p:nvSpPr>
        <p:spPr>
          <a:xfrm>
            <a:off x="403466" y="1828011"/>
            <a:ext cx="3529140" cy="19152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dirty="0">
                <a:solidFill>
                  <a:srgbClr val="402019"/>
                </a:solidFill>
                <a:latin typeface="Shantell Sans"/>
              </a:rPr>
              <a:t>In contrast to metadata-only catalogues,</a:t>
            </a:r>
          </a:p>
          <a:p>
            <a:r>
              <a:rPr lang="en-US" dirty="0">
                <a:solidFill>
                  <a:srgbClr val="402019"/>
                </a:solidFill>
                <a:latin typeface="Shantell Sans"/>
              </a:rPr>
              <a:t>SatQuery searches the archive by</a:t>
            </a:r>
          </a:p>
          <a:p>
            <a:r>
              <a:rPr lang="en-US" dirty="0">
                <a:solidFill>
                  <a:srgbClr val="402019"/>
                </a:solidFill>
                <a:latin typeface="Shantell Sans"/>
              </a:rPr>
              <a:t>meaning: free text, an example tile</a:t>
            </a:r>
          </a:p>
          <a:p>
            <a:r>
              <a:rPr lang="en-US" dirty="0">
                <a:solidFill>
                  <a:srgbClr val="402019"/>
                </a:solidFill>
                <a:latin typeface="Shantell Sans"/>
              </a:rPr>
              <a:t>or "find more like this".</a:t>
            </a:r>
          </a:p>
          <a:p>
            <a:r>
              <a:rPr lang="en-US" dirty="0">
                <a:solidFill>
                  <a:srgbClr val="402019"/>
                </a:solidFill>
                <a:latin typeface="Shantell Sans"/>
              </a:rPr>
              <a:t>        Every potential change is checked</a:t>
            </a:r>
          </a:p>
          <a:p>
            <a:r>
              <a:rPr lang="en-US" dirty="0">
                <a:solidFill>
                  <a:srgbClr val="402019"/>
                </a:solidFill>
                <a:latin typeface="Shantell Sans"/>
              </a:rPr>
              <a:t>for season, cloud and misregistration</a:t>
            </a:r>
          </a:p>
          <a:p>
            <a:r>
              <a:rPr lang="en-US" dirty="0">
                <a:solidFill>
                  <a:srgbClr val="402019"/>
                </a:solidFill>
                <a:latin typeface="Shantell Sans"/>
              </a:rPr>
              <a:t>prior to review by an analyst, fully offline.</a:t>
            </a:r>
            <a:endParaRPr dirty="0">
              <a:solidFill>
                <a:srgbClr val="402019"/>
              </a:solidFill>
              <a:latin typeface="Shantell Sans"/>
            </a:endParaRPr>
          </a:p>
        </p:txBody>
      </p:sp>
      <p:sp>
        <p:nvSpPr>
          <p:cNvPr id="15360" name="Rectangle 15359">
            <a:extLst>
              <a:ext uri="{FF2B5EF4-FFF2-40B4-BE49-F238E27FC236}">
                <a16:creationId xmlns:a16="http://schemas.microsoft.com/office/drawing/2014/main" id="{0DDCA4A6-B150-0001-C59C-06B5C84581D0}"/>
              </a:ext>
            </a:extLst>
          </p:cNvPr>
          <p:cNvSpPr/>
          <p:nvPr/>
        </p:nvSpPr>
        <p:spPr>
          <a:xfrm>
            <a:off x="36572" y="6072854"/>
            <a:ext cx="1597188" cy="1123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063C00C-4AAC-7857-B0B1-B099C25E840D}"/>
              </a:ext>
            </a:extLst>
          </p:cNvPr>
          <p:cNvSpPr/>
          <p:nvPr/>
        </p:nvSpPr>
        <p:spPr>
          <a:xfrm>
            <a:off x="8388676" y="1269936"/>
            <a:ext cx="1702197" cy="336669"/>
          </a:xfrm>
          <a:prstGeom prst="roundRect">
            <a:avLst/>
          </a:prstGeom>
          <a:solidFill>
            <a:srgbClr val="DD7758"/>
          </a:solidFill>
          <a:ln>
            <a:solidFill>
              <a:srgbClr val="2F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00F3B67F-899B-F1A0-9A56-6EA29749D189}"/>
              </a:ext>
            </a:extLst>
          </p:cNvPr>
          <p:cNvSpPr/>
          <p:nvPr/>
        </p:nvSpPr>
        <p:spPr>
          <a:xfrm>
            <a:off x="8382395" y="1688617"/>
            <a:ext cx="1704112" cy="645335"/>
          </a:xfrm>
          <a:prstGeom prst="roundRect">
            <a:avLst/>
          </a:prstGeom>
          <a:solidFill>
            <a:srgbClr val="FFFFFF"/>
          </a:solidFill>
          <a:ln>
            <a:solidFill>
              <a:srgbClr val="2F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DD7758"/>
                </a:solidFill>
              </a:rPr>
              <a:t>Semantic hybrid search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F674701F-8933-74C1-A4A7-386B0499853C}"/>
              </a:ext>
            </a:extLst>
          </p:cNvPr>
          <p:cNvSpPr/>
          <p:nvPr/>
        </p:nvSpPr>
        <p:spPr>
          <a:xfrm>
            <a:off x="10357241" y="1273601"/>
            <a:ext cx="1702198" cy="336669"/>
          </a:xfrm>
          <a:prstGeom prst="roundRect">
            <a:avLst/>
          </a:prstGeom>
          <a:solidFill>
            <a:srgbClr val="DD7758"/>
          </a:solidFill>
          <a:ln>
            <a:solidFill>
              <a:srgbClr val="2F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86C601EC-B473-C4D5-D3CB-DD7D71840434}"/>
              </a:ext>
            </a:extLst>
          </p:cNvPr>
          <p:cNvSpPr/>
          <p:nvPr/>
        </p:nvSpPr>
        <p:spPr>
          <a:xfrm>
            <a:off x="10354101" y="1704506"/>
            <a:ext cx="1708478" cy="645335"/>
          </a:xfrm>
          <a:prstGeom prst="roundRect">
            <a:avLst/>
          </a:prstGeom>
          <a:solidFill>
            <a:srgbClr val="FFFFFF"/>
          </a:solidFill>
          <a:ln>
            <a:solidFill>
              <a:srgbClr val="2F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363" name="Rectangle: Rounded Corners 15362">
            <a:extLst>
              <a:ext uri="{FF2B5EF4-FFF2-40B4-BE49-F238E27FC236}">
                <a16:creationId xmlns:a16="http://schemas.microsoft.com/office/drawing/2014/main" id="{1ABD1070-1867-00D8-4990-91F84CB7E3CA}"/>
              </a:ext>
            </a:extLst>
          </p:cNvPr>
          <p:cNvSpPr/>
          <p:nvPr/>
        </p:nvSpPr>
        <p:spPr>
          <a:xfrm>
            <a:off x="8385535" y="2439838"/>
            <a:ext cx="1708478" cy="645335"/>
          </a:xfrm>
          <a:prstGeom prst="roundRect">
            <a:avLst/>
          </a:prstGeom>
          <a:solidFill>
            <a:srgbClr val="FFFFFF"/>
          </a:solidFill>
          <a:ln>
            <a:solidFill>
              <a:srgbClr val="2F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DD7758"/>
                </a:solidFill>
              </a:rPr>
              <a:t>Compositional query</a:t>
            </a:r>
          </a:p>
        </p:txBody>
      </p:sp>
      <p:sp>
        <p:nvSpPr>
          <p:cNvPr id="15366" name="Rectangle: Rounded Corners 15365">
            <a:extLst>
              <a:ext uri="{FF2B5EF4-FFF2-40B4-BE49-F238E27FC236}">
                <a16:creationId xmlns:a16="http://schemas.microsoft.com/office/drawing/2014/main" id="{54A3A126-9CA8-AA8D-0E00-4C3550A84C60}"/>
              </a:ext>
            </a:extLst>
          </p:cNvPr>
          <p:cNvSpPr/>
          <p:nvPr/>
        </p:nvSpPr>
        <p:spPr>
          <a:xfrm>
            <a:off x="10357241" y="2455727"/>
            <a:ext cx="1708478" cy="645335"/>
          </a:xfrm>
          <a:prstGeom prst="roundRect">
            <a:avLst/>
          </a:prstGeom>
          <a:solidFill>
            <a:srgbClr val="FFFFFF"/>
          </a:solidFill>
          <a:ln>
            <a:solidFill>
              <a:srgbClr val="2F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368" name="Rectangle: Rounded Corners 15367">
            <a:extLst>
              <a:ext uri="{FF2B5EF4-FFF2-40B4-BE49-F238E27FC236}">
                <a16:creationId xmlns:a16="http://schemas.microsoft.com/office/drawing/2014/main" id="{0854C89A-9B76-8D02-1B68-BAF44E1D6B07}"/>
              </a:ext>
            </a:extLst>
          </p:cNvPr>
          <p:cNvSpPr/>
          <p:nvPr/>
        </p:nvSpPr>
        <p:spPr>
          <a:xfrm>
            <a:off x="8388676" y="3214591"/>
            <a:ext cx="1708478" cy="645335"/>
          </a:xfrm>
          <a:prstGeom prst="roundRect">
            <a:avLst/>
          </a:prstGeom>
          <a:solidFill>
            <a:srgbClr val="FFFFFF"/>
          </a:solidFill>
          <a:ln>
            <a:solidFill>
              <a:srgbClr val="2F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DD7758"/>
                </a:solidFill>
              </a:rPr>
              <a:t>Dated change analysis</a:t>
            </a:r>
          </a:p>
        </p:txBody>
      </p:sp>
      <p:sp>
        <p:nvSpPr>
          <p:cNvPr id="15370" name="Rectangle: Rounded Corners 15369">
            <a:extLst>
              <a:ext uri="{FF2B5EF4-FFF2-40B4-BE49-F238E27FC236}">
                <a16:creationId xmlns:a16="http://schemas.microsoft.com/office/drawing/2014/main" id="{D488EE65-320C-A015-E5BC-C9FE094F4807}"/>
              </a:ext>
            </a:extLst>
          </p:cNvPr>
          <p:cNvSpPr/>
          <p:nvPr/>
        </p:nvSpPr>
        <p:spPr>
          <a:xfrm>
            <a:off x="10360382" y="3230480"/>
            <a:ext cx="1708478" cy="645335"/>
          </a:xfrm>
          <a:prstGeom prst="roundRect">
            <a:avLst/>
          </a:prstGeom>
          <a:solidFill>
            <a:srgbClr val="FFFFFF"/>
          </a:solidFill>
          <a:ln>
            <a:solidFill>
              <a:srgbClr val="2F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372" name="Rectangle: Rounded Corners 15371">
            <a:extLst>
              <a:ext uri="{FF2B5EF4-FFF2-40B4-BE49-F238E27FC236}">
                <a16:creationId xmlns:a16="http://schemas.microsoft.com/office/drawing/2014/main" id="{23FF3BDB-02C4-95C3-BF02-0B46606EB43A}"/>
              </a:ext>
            </a:extLst>
          </p:cNvPr>
          <p:cNvSpPr/>
          <p:nvPr/>
        </p:nvSpPr>
        <p:spPr>
          <a:xfrm>
            <a:off x="8378029" y="4031147"/>
            <a:ext cx="1708478" cy="568713"/>
          </a:xfrm>
          <a:prstGeom prst="roundRect">
            <a:avLst/>
          </a:prstGeom>
          <a:solidFill>
            <a:srgbClr val="FFFFFF"/>
          </a:solidFill>
          <a:ln>
            <a:solidFill>
              <a:srgbClr val="2F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DD7758"/>
                </a:solidFill>
              </a:rPr>
              <a:t>False-alarm firewall</a:t>
            </a:r>
          </a:p>
        </p:txBody>
      </p:sp>
      <p:sp>
        <p:nvSpPr>
          <p:cNvPr id="15374" name="Rectangle: Rounded Corners 15373">
            <a:extLst>
              <a:ext uri="{FF2B5EF4-FFF2-40B4-BE49-F238E27FC236}">
                <a16:creationId xmlns:a16="http://schemas.microsoft.com/office/drawing/2014/main" id="{6E1C7ACA-FC09-E33F-F89E-A356B06783F0}"/>
              </a:ext>
            </a:extLst>
          </p:cNvPr>
          <p:cNvSpPr/>
          <p:nvPr/>
        </p:nvSpPr>
        <p:spPr>
          <a:xfrm>
            <a:off x="10349735" y="4047037"/>
            <a:ext cx="1708478" cy="552312"/>
          </a:xfrm>
          <a:prstGeom prst="roundRect">
            <a:avLst/>
          </a:prstGeom>
          <a:solidFill>
            <a:srgbClr val="FFFFFF"/>
          </a:solidFill>
          <a:ln>
            <a:solidFill>
              <a:srgbClr val="2F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376" name="Rectangle: Rounded Corners 15375">
            <a:extLst>
              <a:ext uri="{FF2B5EF4-FFF2-40B4-BE49-F238E27FC236}">
                <a16:creationId xmlns:a16="http://schemas.microsoft.com/office/drawing/2014/main" id="{A2BF3226-4C17-F929-BA4B-219B7E6A41F5}"/>
              </a:ext>
            </a:extLst>
          </p:cNvPr>
          <p:cNvSpPr/>
          <p:nvPr/>
        </p:nvSpPr>
        <p:spPr>
          <a:xfrm>
            <a:off x="8388676" y="4753129"/>
            <a:ext cx="1708478" cy="645335"/>
          </a:xfrm>
          <a:prstGeom prst="roundRect">
            <a:avLst/>
          </a:prstGeom>
          <a:solidFill>
            <a:srgbClr val="FFFFFF"/>
          </a:solidFill>
          <a:ln>
            <a:solidFill>
              <a:srgbClr val="2F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 lang="en-IN" dirty="0">
              <a:solidFill>
                <a:srgbClr val="DD7758"/>
              </a:solidFill>
            </a:endParaRPr>
          </a:p>
          <a:p>
            <a:pPr algn="ctr">
              <a:spcBef>
                <a:spcPts val="0"/>
              </a:spcBef>
            </a:pPr>
            <a:r>
              <a:rPr lang="en-IN" dirty="0">
                <a:solidFill>
                  <a:srgbClr val="DD7758"/>
                </a:solidFill>
              </a:rPr>
              <a:t>Analyst Feedback Loop</a:t>
            </a:r>
          </a:p>
          <a:p>
            <a:pPr algn="ctr"/>
            <a:endParaRPr lang="en-IN" dirty="0">
              <a:solidFill>
                <a:srgbClr val="DD7758"/>
              </a:solidFill>
            </a:endParaRPr>
          </a:p>
        </p:txBody>
      </p:sp>
      <p:sp>
        <p:nvSpPr>
          <p:cNvPr id="15378" name="Rectangle: Rounded Corners 15377">
            <a:extLst>
              <a:ext uri="{FF2B5EF4-FFF2-40B4-BE49-F238E27FC236}">
                <a16:creationId xmlns:a16="http://schemas.microsoft.com/office/drawing/2014/main" id="{597F0EEA-95A1-4E8E-37F2-B94BF9746A8E}"/>
              </a:ext>
            </a:extLst>
          </p:cNvPr>
          <p:cNvSpPr/>
          <p:nvPr/>
        </p:nvSpPr>
        <p:spPr>
          <a:xfrm>
            <a:off x="10339425" y="4753129"/>
            <a:ext cx="1708478" cy="645335"/>
          </a:xfrm>
          <a:prstGeom prst="roundRect">
            <a:avLst/>
          </a:prstGeom>
          <a:solidFill>
            <a:srgbClr val="FFFFFF"/>
          </a:solidFill>
          <a:ln>
            <a:solidFill>
              <a:srgbClr val="2F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380" name="Rectangle: Rounded Corners 15379">
            <a:extLst>
              <a:ext uri="{FF2B5EF4-FFF2-40B4-BE49-F238E27FC236}">
                <a16:creationId xmlns:a16="http://schemas.microsoft.com/office/drawing/2014/main" id="{138661C5-DB4A-DE43-359C-7A5F9FA5D948}"/>
              </a:ext>
            </a:extLst>
          </p:cNvPr>
          <p:cNvSpPr/>
          <p:nvPr/>
        </p:nvSpPr>
        <p:spPr>
          <a:xfrm>
            <a:off x="8381173" y="5494768"/>
            <a:ext cx="1708478" cy="645335"/>
          </a:xfrm>
          <a:prstGeom prst="roundRect">
            <a:avLst/>
          </a:prstGeom>
          <a:solidFill>
            <a:srgbClr val="FFFFFF"/>
          </a:solidFill>
          <a:ln>
            <a:solidFill>
              <a:srgbClr val="2F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DD7758"/>
              </a:solidFill>
            </a:endParaRPr>
          </a:p>
        </p:txBody>
      </p:sp>
      <p:sp>
        <p:nvSpPr>
          <p:cNvPr id="15382" name="Rectangle: Rounded Corners 15381">
            <a:extLst>
              <a:ext uri="{FF2B5EF4-FFF2-40B4-BE49-F238E27FC236}">
                <a16:creationId xmlns:a16="http://schemas.microsoft.com/office/drawing/2014/main" id="{DD681646-218D-57B5-D641-BA02A22228EE}"/>
              </a:ext>
            </a:extLst>
          </p:cNvPr>
          <p:cNvSpPr/>
          <p:nvPr/>
        </p:nvSpPr>
        <p:spPr>
          <a:xfrm>
            <a:off x="10331922" y="5494768"/>
            <a:ext cx="1708478" cy="645335"/>
          </a:xfrm>
          <a:prstGeom prst="roundRect">
            <a:avLst/>
          </a:prstGeom>
          <a:solidFill>
            <a:srgbClr val="FFFFFF"/>
          </a:solidFill>
          <a:ln>
            <a:solidFill>
              <a:srgbClr val="2F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384" name="TextBox 15383">
            <a:extLst>
              <a:ext uri="{FF2B5EF4-FFF2-40B4-BE49-F238E27FC236}">
                <a16:creationId xmlns:a16="http://schemas.microsoft.com/office/drawing/2014/main" id="{ED08DEFB-4688-726E-916E-0747E37D12CF}"/>
              </a:ext>
            </a:extLst>
          </p:cNvPr>
          <p:cNvSpPr txBox="1"/>
          <p:nvPr/>
        </p:nvSpPr>
        <p:spPr>
          <a:xfrm>
            <a:off x="8271033" y="5501569"/>
            <a:ext cx="19066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DD7758"/>
                </a:solidFill>
              </a:rPr>
              <a:t>Sovereign, incremental index</a:t>
            </a:r>
          </a:p>
          <a:p>
            <a:pPr algn="ctr"/>
            <a:endParaRPr lang="en-IN" dirty="0">
              <a:solidFill>
                <a:srgbClr val="DD7758"/>
              </a:solidFill>
            </a:endParaRPr>
          </a:p>
        </p:txBody>
      </p:sp>
      <p:sp>
        <p:nvSpPr>
          <p:cNvPr id="15386" name="TextBox 15385">
            <a:extLst>
              <a:ext uri="{FF2B5EF4-FFF2-40B4-BE49-F238E27FC236}">
                <a16:creationId xmlns:a16="http://schemas.microsoft.com/office/drawing/2014/main" id="{8013A0BC-0BC7-DEF7-24BD-56CD715217F0}"/>
              </a:ext>
            </a:extLst>
          </p:cNvPr>
          <p:cNvSpPr txBox="1"/>
          <p:nvPr/>
        </p:nvSpPr>
        <p:spPr>
          <a:xfrm>
            <a:off x="8549604" y="1227368"/>
            <a:ext cx="13653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solidFill>
                  <a:srgbClr val="FFFFFF"/>
                </a:solidFill>
              </a:rPr>
              <a:t>Innovation</a:t>
            </a: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5388" name="TextBox 15387">
            <a:extLst>
              <a:ext uri="{FF2B5EF4-FFF2-40B4-BE49-F238E27FC236}">
                <a16:creationId xmlns:a16="http://schemas.microsoft.com/office/drawing/2014/main" id="{1E6C1659-7397-E82D-A785-1FEEE3CD35BD}"/>
              </a:ext>
            </a:extLst>
          </p:cNvPr>
          <p:cNvSpPr txBox="1"/>
          <p:nvPr/>
        </p:nvSpPr>
        <p:spPr>
          <a:xfrm>
            <a:off x="10395021" y="1233602"/>
            <a:ext cx="15972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solidFill>
                  <a:srgbClr val="FFFFFF"/>
                </a:solidFill>
              </a:rPr>
              <a:t>Uniqueness</a:t>
            </a: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5390" name="TextBox 15389">
            <a:extLst>
              <a:ext uri="{FF2B5EF4-FFF2-40B4-BE49-F238E27FC236}">
                <a16:creationId xmlns:a16="http://schemas.microsoft.com/office/drawing/2014/main" id="{853B5150-CF9C-27FB-121E-447771F47AA2}"/>
              </a:ext>
            </a:extLst>
          </p:cNvPr>
          <p:cNvSpPr txBox="1"/>
          <p:nvPr/>
        </p:nvSpPr>
        <p:spPr>
          <a:xfrm>
            <a:off x="10363808" y="1733006"/>
            <a:ext cx="17685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dirty="0"/>
              <a:t>Text, image and similar site</a:t>
            </a:r>
          </a:p>
          <a:p>
            <a:pPr algn="ctr">
              <a:lnSpc>
                <a:spcPct val="100000"/>
              </a:lnSpc>
            </a:pPr>
            <a:r>
              <a:rPr lang="en-US" sz="1000" dirty="0"/>
              <a:t>search with AOI, date and</a:t>
            </a:r>
            <a:endParaRPr lang="en-IN" sz="1000" dirty="0"/>
          </a:p>
          <a:p>
            <a:pPr algn="ctr">
              <a:lnSpc>
                <a:spcPct val="100000"/>
              </a:lnSpc>
            </a:pPr>
            <a:r>
              <a:rPr lang="en-US" sz="1000" dirty="0"/>
              <a:t>sensor filters</a:t>
            </a:r>
            <a:endParaRPr lang="en-IN" sz="1000" dirty="0"/>
          </a:p>
        </p:txBody>
      </p:sp>
      <p:sp>
        <p:nvSpPr>
          <p:cNvPr id="15392" name="TextBox 15391">
            <a:extLst>
              <a:ext uri="{FF2B5EF4-FFF2-40B4-BE49-F238E27FC236}">
                <a16:creationId xmlns:a16="http://schemas.microsoft.com/office/drawing/2014/main" id="{C1F047E2-3307-4F44-A446-073C49F7DE29}"/>
              </a:ext>
            </a:extLst>
          </p:cNvPr>
          <p:cNvSpPr txBox="1"/>
          <p:nvPr/>
        </p:nvSpPr>
        <p:spPr>
          <a:xfrm>
            <a:off x="10339425" y="2484921"/>
            <a:ext cx="17685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dirty="0"/>
              <a:t>"Newly built near a river" into</a:t>
            </a:r>
          </a:p>
          <a:p>
            <a:pPr algn="ctr">
              <a:lnSpc>
                <a:spcPct val="100000"/>
              </a:lnSpc>
            </a:pPr>
            <a:r>
              <a:rPr lang="en-US" sz="1000" dirty="0"/>
              <a:t>object, time and location checks</a:t>
            </a:r>
          </a:p>
        </p:txBody>
      </p:sp>
      <p:sp>
        <p:nvSpPr>
          <p:cNvPr id="15394" name="TextBox 15393">
            <a:extLst>
              <a:ext uri="{FF2B5EF4-FFF2-40B4-BE49-F238E27FC236}">
                <a16:creationId xmlns:a16="http://schemas.microsoft.com/office/drawing/2014/main" id="{11B6B7EC-D945-C0AA-2AF2-08F3C80DF80D}"/>
              </a:ext>
            </a:extLst>
          </p:cNvPr>
          <p:cNvSpPr txBox="1"/>
          <p:nvPr/>
        </p:nvSpPr>
        <p:spPr>
          <a:xfrm>
            <a:off x="10354101" y="3258337"/>
            <a:ext cx="17685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1000" dirty="0"/>
              <a:t>Type and dating of change to</a:t>
            </a:r>
          </a:p>
          <a:p>
            <a:pPr algn="ctr">
              <a:lnSpc>
                <a:spcPct val="100000"/>
              </a:lnSpc>
            </a:pPr>
            <a:r>
              <a:rPr lang="en-IN" sz="1000" dirty="0"/>
              <a:t>the first usable image </a:t>
            </a:r>
          </a:p>
          <a:p>
            <a:pPr algn="ctr">
              <a:lnSpc>
                <a:spcPct val="100000"/>
              </a:lnSpc>
            </a:pPr>
            <a:r>
              <a:rPr lang="en-IN" sz="1000" dirty="0"/>
              <a:t>showing it</a:t>
            </a:r>
          </a:p>
        </p:txBody>
      </p:sp>
      <p:sp>
        <p:nvSpPr>
          <p:cNvPr id="15396" name="TextBox 15395">
            <a:extLst>
              <a:ext uri="{FF2B5EF4-FFF2-40B4-BE49-F238E27FC236}">
                <a16:creationId xmlns:a16="http://schemas.microsoft.com/office/drawing/2014/main" id="{9F5BE4D6-E1B9-31FF-B1F0-374E38E561EB}"/>
              </a:ext>
            </a:extLst>
          </p:cNvPr>
          <p:cNvSpPr txBox="1"/>
          <p:nvPr/>
        </p:nvSpPr>
        <p:spPr>
          <a:xfrm>
            <a:off x="10315762" y="4063915"/>
            <a:ext cx="18396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dirty="0"/>
              <a:t>Filters out alerts caused by</a:t>
            </a:r>
          </a:p>
          <a:p>
            <a:pPr algn="ctr">
              <a:lnSpc>
                <a:spcPct val="100000"/>
              </a:lnSpc>
            </a:pPr>
            <a:r>
              <a:rPr lang="en-US" sz="1000" dirty="0"/>
              <a:t>season, bad weather and</a:t>
            </a:r>
          </a:p>
          <a:p>
            <a:pPr algn="ctr">
              <a:lnSpc>
                <a:spcPct val="100000"/>
              </a:lnSpc>
            </a:pPr>
            <a:r>
              <a:rPr lang="en-US" sz="1000" dirty="0"/>
              <a:t>misregistration</a:t>
            </a:r>
          </a:p>
        </p:txBody>
      </p:sp>
      <p:sp>
        <p:nvSpPr>
          <p:cNvPr id="15398" name="TextBox 15397">
            <a:extLst>
              <a:ext uri="{FF2B5EF4-FFF2-40B4-BE49-F238E27FC236}">
                <a16:creationId xmlns:a16="http://schemas.microsoft.com/office/drawing/2014/main" id="{C7BFB832-400B-B410-D938-D514A5A5EE1D}"/>
              </a:ext>
            </a:extLst>
          </p:cNvPr>
          <p:cNvSpPr txBox="1"/>
          <p:nvPr/>
        </p:nvSpPr>
        <p:spPr>
          <a:xfrm>
            <a:off x="10270220" y="4806616"/>
            <a:ext cx="18762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dirty="0"/>
              <a:t>Confirm or reject; every decision</a:t>
            </a:r>
          </a:p>
          <a:p>
            <a:pPr algn="ctr">
              <a:lnSpc>
                <a:spcPct val="100000"/>
              </a:lnSpc>
            </a:pPr>
            <a:r>
              <a:rPr lang="en-US" sz="1000" dirty="0"/>
              <a:t>is audited and re-ranks the queue</a:t>
            </a:r>
          </a:p>
        </p:txBody>
      </p:sp>
      <p:sp>
        <p:nvSpPr>
          <p:cNvPr id="15400" name="TextBox 15399">
            <a:extLst>
              <a:ext uri="{FF2B5EF4-FFF2-40B4-BE49-F238E27FC236}">
                <a16:creationId xmlns:a16="http://schemas.microsoft.com/office/drawing/2014/main" id="{9D36DEDE-73DD-A255-23C0-DF2D19685C1B}"/>
              </a:ext>
            </a:extLst>
          </p:cNvPr>
          <p:cNvSpPr txBox="1"/>
          <p:nvPr/>
        </p:nvSpPr>
        <p:spPr>
          <a:xfrm>
            <a:off x="10292712" y="5547735"/>
            <a:ext cx="18396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dirty="0"/>
              <a:t>All models local; HNSW index</a:t>
            </a:r>
          </a:p>
          <a:p>
            <a:pPr algn="ctr">
              <a:lnSpc>
                <a:spcPct val="100000"/>
              </a:lnSpc>
            </a:pPr>
            <a:r>
              <a:rPr lang="en-US" sz="1000" dirty="0"/>
              <a:t>builds incrementally, no rebuild</a:t>
            </a:r>
          </a:p>
          <a:p>
            <a:pPr algn="ctr">
              <a:lnSpc>
                <a:spcPct val="100000"/>
              </a:lnSpc>
            </a:pPr>
            <a:r>
              <a:rPr lang="en-US" sz="1000" dirty="0"/>
              <a:t>or external calls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44B49C8-B33D-B70F-C963-F60127F7B0D2}"/>
              </a:ext>
            </a:extLst>
          </p:cNvPr>
          <p:cNvSpPr/>
          <p:nvPr/>
        </p:nvSpPr>
        <p:spPr>
          <a:xfrm>
            <a:off x="0" y="1134631"/>
            <a:ext cx="12191998" cy="505015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17D2BD-3B61-FC20-B0EA-8EEA142140E4}"/>
              </a:ext>
            </a:extLst>
          </p:cNvPr>
          <p:cNvSpPr/>
          <p:nvPr/>
        </p:nvSpPr>
        <p:spPr>
          <a:xfrm>
            <a:off x="2" y="6189135"/>
            <a:ext cx="12192000" cy="662177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16" name="Rectangle 17415">
            <a:extLst>
              <a:ext uri="{FF2B5EF4-FFF2-40B4-BE49-F238E27FC236}">
                <a16:creationId xmlns:a16="http://schemas.microsoft.com/office/drawing/2014/main" id="{543225DE-FA4B-8A69-5546-B7E8B7EFE86D}"/>
              </a:ext>
            </a:extLst>
          </p:cNvPr>
          <p:cNvSpPr/>
          <p:nvPr/>
        </p:nvSpPr>
        <p:spPr>
          <a:xfrm>
            <a:off x="2" y="-8369"/>
            <a:ext cx="12192000" cy="1143000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CCAC44DF-4940-9876-EA81-F13A646E879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236004"/>
            <a:ext cx="1931646" cy="593328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Byte Bandits</a:t>
            </a:r>
            <a:endParaRPr lang="en-IN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04A8293-1FFC-7DD4-46EE-C9F316B7391B}"/>
              </a:ext>
            </a:extLst>
          </p:cNvPr>
          <p:cNvSpPr/>
          <p:nvPr/>
        </p:nvSpPr>
        <p:spPr>
          <a:xfrm>
            <a:off x="162064" y="6255411"/>
            <a:ext cx="2126475" cy="540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B94B402-84CC-0657-94BA-C9D44F62331F}"/>
              </a:ext>
            </a:extLst>
          </p:cNvPr>
          <p:cNvSpPr/>
          <p:nvPr/>
        </p:nvSpPr>
        <p:spPr>
          <a:xfrm>
            <a:off x="2450603" y="6255411"/>
            <a:ext cx="2126475" cy="540000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Workflow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BA6EE4F-A872-3E1F-AF9B-9E6397D755F3}"/>
              </a:ext>
            </a:extLst>
          </p:cNvPr>
          <p:cNvSpPr/>
          <p:nvPr/>
        </p:nvSpPr>
        <p:spPr>
          <a:xfrm>
            <a:off x="4739142" y="6259469"/>
            <a:ext cx="2126475" cy="540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429D233-9ACF-17C6-5893-E31697EAC685}"/>
              </a:ext>
            </a:extLst>
          </p:cNvPr>
          <p:cNvSpPr/>
          <p:nvPr/>
        </p:nvSpPr>
        <p:spPr>
          <a:xfrm>
            <a:off x="7027681" y="6262280"/>
            <a:ext cx="2126475" cy="540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6ABCB1D-CD3C-548D-29E2-BC3E7A6287A1}"/>
              </a:ext>
            </a:extLst>
          </p:cNvPr>
          <p:cNvSpPr/>
          <p:nvPr/>
        </p:nvSpPr>
        <p:spPr>
          <a:xfrm>
            <a:off x="9316220" y="6262280"/>
            <a:ext cx="2126475" cy="540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FDE93EB-9F02-6C5A-0AE9-993008864A23}"/>
              </a:ext>
            </a:extLst>
          </p:cNvPr>
          <p:cNvSpPr/>
          <p:nvPr/>
        </p:nvSpPr>
        <p:spPr>
          <a:xfrm>
            <a:off x="8435590" y="1282863"/>
            <a:ext cx="3572931" cy="4837134"/>
          </a:xfrm>
          <a:prstGeom prst="roundRect">
            <a:avLst>
              <a:gd name="adj" fmla="val 6149"/>
            </a:avLst>
          </a:prstGeom>
          <a:solidFill>
            <a:srgbClr val="F7F7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D52F1E2-E0CB-D21B-92BA-1822F5ED6FA5}"/>
              </a:ext>
            </a:extLst>
          </p:cNvPr>
          <p:cNvCxnSpPr>
            <a:cxnSpLocks/>
          </p:cNvCxnSpPr>
          <p:nvPr/>
        </p:nvCxnSpPr>
        <p:spPr>
          <a:xfrm>
            <a:off x="8435590" y="1615654"/>
            <a:ext cx="35729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D7C5584E-267B-6FED-0B36-873B18E6FCDE}"/>
              </a:ext>
            </a:extLst>
          </p:cNvPr>
          <p:cNvSpPr/>
          <p:nvPr/>
        </p:nvSpPr>
        <p:spPr>
          <a:xfrm>
            <a:off x="8435590" y="1282863"/>
            <a:ext cx="3572931" cy="45471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7375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Technology Stack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7F8A5F6-49C0-B094-AD11-FDD657EAB577}"/>
              </a:ext>
            </a:extLst>
          </p:cNvPr>
          <p:cNvSpPr/>
          <p:nvPr/>
        </p:nvSpPr>
        <p:spPr>
          <a:xfrm>
            <a:off x="8603826" y="5346126"/>
            <a:ext cx="3272865" cy="720342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907B04-66D7-D255-1540-C1D453CBDC00}"/>
              </a:ext>
            </a:extLst>
          </p:cNvPr>
          <p:cNvSpPr txBox="1"/>
          <p:nvPr/>
        </p:nvSpPr>
        <p:spPr>
          <a:xfrm>
            <a:off x="8631203" y="1747011"/>
            <a:ext cx="10943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Frontend</a:t>
            </a:r>
            <a:endParaRPr lang="en-IN" sz="16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7204CA-2FE0-8D28-8BBB-062E318AB6BD}"/>
              </a:ext>
            </a:extLst>
          </p:cNvPr>
          <p:cNvSpPr txBox="1"/>
          <p:nvPr/>
        </p:nvSpPr>
        <p:spPr>
          <a:xfrm>
            <a:off x="8684731" y="2849430"/>
            <a:ext cx="1028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Backend</a:t>
            </a:r>
            <a:endParaRPr lang="en-IN" sz="16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889783-465B-7F6A-A209-13A12AB1F872}"/>
              </a:ext>
            </a:extLst>
          </p:cNvPr>
          <p:cNvSpPr txBox="1"/>
          <p:nvPr/>
        </p:nvSpPr>
        <p:spPr>
          <a:xfrm>
            <a:off x="8581685" y="3965284"/>
            <a:ext cx="1877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AI &amp; Deployment</a:t>
            </a:r>
            <a:endParaRPr lang="en-IN" sz="16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77DAEC-59BB-0E75-E4A8-251EDD111BB0}"/>
              </a:ext>
            </a:extLst>
          </p:cNvPr>
          <p:cNvSpPr txBox="1"/>
          <p:nvPr/>
        </p:nvSpPr>
        <p:spPr>
          <a:xfrm>
            <a:off x="8569247" y="5031024"/>
            <a:ext cx="12606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GeoSpatial</a:t>
            </a:r>
            <a:endParaRPr lang="en-IN" sz="16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08F1BD2-E206-8A45-977C-B1F9374600F9}"/>
              </a:ext>
            </a:extLst>
          </p:cNvPr>
          <p:cNvSpPr/>
          <p:nvPr/>
        </p:nvSpPr>
        <p:spPr>
          <a:xfrm>
            <a:off x="8603826" y="4292112"/>
            <a:ext cx="3272865" cy="720342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D23ABAC-341A-263D-C6DA-4F3E5F447637}"/>
              </a:ext>
            </a:extLst>
          </p:cNvPr>
          <p:cNvSpPr/>
          <p:nvPr/>
        </p:nvSpPr>
        <p:spPr>
          <a:xfrm>
            <a:off x="8603826" y="3171152"/>
            <a:ext cx="3272865" cy="720342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B0AE3C0-9C63-3A65-BB65-09F4739657E5}"/>
              </a:ext>
            </a:extLst>
          </p:cNvPr>
          <p:cNvSpPr/>
          <p:nvPr/>
        </p:nvSpPr>
        <p:spPr>
          <a:xfrm>
            <a:off x="8614853" y="2062377"/>
            <a:ext cx="3272865" cy="720342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D62F86-C8C7-6956-32BA-1A3368D1B75D}"/>
              </a:ext>
            </a:extLst>
          </p:cNvPr>
          <p:cNvSpPr txBox="1"/>
          <p:nvPr/>
        </p:nvSpPr>
        <p:spPr>
          <a:xfrm>
            <a:off x="8811832" y="2556384"/>
            <a:ext cx="783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569EBA"/>
                </a:solidFill>
              </a:rPr>
              <a:t>React JS</a:t>
            </a:r>
            <a:endParaRPr lang="en-IN" sz="1200" dirty="0">
              <a:solidFill>
                <a:srgbClr val="569EBA"/>
              </a:solidFill>
            </a:endParaRPr>
          </a:p>
        </p:txBody>
      </p:sp>
      <p:pic>
        <p:nvPicPr>
          <p:cNvPr id="30" name="Picture 29" descr="React (software) - Wikipedia">
            <a:extLst>
              <a:ext uri="{FF2B5EF4-FFF2-40B4-BE49-F238E27FC236}">
                <a16:creationId xmlns:a16="http://schemas.microsoft.com/office/drawing/2014/main" id="{682EC47A-05EE-AD8B-81F1-646440EB9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3717" y="2125464"/>
            <a:ext cx="588259" cy="486482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1BCA8014-783A-E712-EDF4-868B5F788B9D}"/>
              </a:ext>
            </a:extLst>
          </p:cNvPr>
          <p:cNvGrpSpPr/>
          <p:nvPr/>
        </p:nvGrpSpPr>
        <p:grpSpPr>
          <a:xfrm>
            <a:off x="9609108" y="2136862"/>
            <a:ext cx="669827" cy="670771"/>
            <a:chOff x="10213390" y="2149833"/>
            <a:chExt cx="588559" cy="670771"/>
          </a:xfrm>
        </p:grpSpPr>
        <p:pic>
          <p:nvPicPr>
            <p:cNvPr id="33" name="Picture 32" descr="Vite.js SVG and transparent PNG icons | TechIcons">
              <a:extLst>
                <a:ext uri="{FF2B5EF4-FFF2-40B4-BE49-F238E27FC236}">
                  <a16:creationId xmlns:a16="http://schemas.microsoft.com/office/drawing/2014/main" id="{8E9A3A77-4A5A-EB89-1B35-63B98FA9C5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300367" y="2149833"/>
              <a:ext cx="435045" cy="409454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AD3AB89-F6CE-2FB2-DFA6-7182209F666F}"/>
                </a:ext>
              </a:extLst>
            </p:cNvPr>
            <p:cNvSpPr txBox="1"/>
            <p:nvPr/>
          </p:nvSpPr>
          <p:spPr>
            <a:xfrm>
              <a:off x="10213390" y="2543605"/>
              <a:ext cx="5885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Vite JS</a:t>
              </a:r>
              <a:endParaRPr lang="en-IN" sz="1200" dirty="0"/>
            </a:p>
          </p:txBody>
        </p:sp>
      </p:grpSp>
      <p:pic>
        <p:nvPicPr>
          <p:cNvPr id="42" name="Picture 41" descr="Brand Assets | MapLibre">
            <a:extLst>
              <a:ext uri="{FF2B5EF4-FFF2-40B4-BE49-F238E27FC236}">
                <a16:creationId xmlns:a16="http://schemas.microsoft.com/office/drawing/2014/main" id="{B4A8D390-9C97-F449-849E-2D977120D3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3830" y="2195690"/>
            <a:ext cx="1652862" cy="424107"/>
          </a:xfrm>
          <a:prstGeom prst="rect">
            <a:avLst/>
          </a:prstGeom>
        </p:spPr>
      </p:pic>
      <p:pic>
        <p:nvPicPr>
          <p:cNvPr id="44" name="Picture 43" descr="File:Python-logo-notext.svg - Wikimedia Commons">
            <a:extLst>
              <a:ext uri="{FF2B5EF4-FFF2-40B4-BE49-F238E27FC236}">
                <a16:creationId xmlns:a16="http://schemas.microsoft.com/office/drawing/2014/main" id="{3F5932F1-1FA4-34D5-ADF6-61CA22C934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3404" y="3244671"/>
            <a:ext cx="501503" cy="440657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C400123A-1083-5790-788B-2C6645809CB1}"/>
              </a:ext>
            </a:extLst>
          </p:cNvPr>
          <p:cNvSpPr txBox="1"/>
          <p:nvPr/>
        </p:nvSpPr>
        <p:spPr>
          <a:xfrm>
            <a:off x="8823471" y="3645050"/>
            <a:ext cx="7155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Python</a:t>
            </a:r>
            <a:endParaRPr lang="en-IN" sz="1200" dirty="0"/>
          </a:p>
        </p:txBody>
      </p:sp>
      <p:pic>
        <p:nvPicPr>
          <p:cNvPr id="47" name="Picture 46" descr="How to Use FastAPI to Create and Handle POST Requests">
            <a:extLst>
              <a:ext uri="{FF2B5EF4-FFF2-40B4-BE49-F238E27FC236}">
                <a16:creationId xmlns:a16="http://schemas.microsoft.com/office/drawing/2014/main" id="{1FD0E594-3B27-5F01-6C40-140EE75832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18045" y="3294981"/>
            <a:ext cx="1600459" cy="503060"/>
          </a:xfrm>
          <a:prstGeom prst="rect">
            <a:avLst/>
          </a:prstGeom>
        </p:spPr>
      </p:pic>
      <p:pic>
        <p:nvPicPr>
          <p:cNvPr id="48" name="Picture 47" descr="Pydantic · GitHub">
            <a:extLst>
              <a:ext uri="{FF2B5EF4-FFF2-40B4-BE49-F238E27FC236}">
                <a16:creationId xmlns:a16="http://schemas.microsoft.com/office/drawing/2014/main" id="{69DFCDF5-1B62-3AF7-F2F1-7255C5E9A1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6653" y="3196107"/>
            <a:ext cx="586589" cy="51542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A80EA8A3-076B-8846-6244-4EF24E41DBE4}"/>
              </a:ext>
            </a:extLst>
          </p:cNvPr>
          <p:cNvSpPr txBox="1"/>
          <p:nvPr/>
        </p:nvSpPr>
        <p:spPr>
          <a:xfrm>
            <a:off x="9570261" y="3633564"/>
            <a:ext cx="8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Pydantic</a:t>
            </a:r>
            <a:endParaRPr lang="en-IN" sz="1200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9B198BF-97E7-11DD-42D5-1423C42FC499}"/>
              </a:ext>
            </a:extLst>
          </p:cNvPr>
          <p:cNvGrpSpPr/>
          <p:nvPr/>
        </p:nvGrpSpPr>
        <p:grpSpPr>
          <a:xfrm>
            <a:off x="8898789" y="4318083"/>
            <a:ext cx="803076" cy="697946"/>
            <a:chOff x="9143750" y="4353184"/>
            <a:chExt cx="705642" cy="697946"/>
          </a:xfrm>
        </p:grpSpPr>
        <p:pic>
          <p:nvPicPr>
            <p:cNvPr id="52" name="Picture 51" descr="PyTorch SVG and transparent PNG icons | TechIcons">
              <a:extLst>
                <a:ext uri="{FF2B5EF4-FFF2-40B4-BE49-F238E27FC236}">
                  <a16:creationId xmlns:a16="http://schemas.microsoft.com/office/drawing/2014/main" id="{EEA47DA9-886C-D78B-A4D9-9D8D1BD7C6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261327" y="4353184"/>
              <a:ext cx="448346" cy="448346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AD1DAE6-5342-4544-1EB7-A38791CAC8E9}"/>
                </a:ext>
              </a:extLst>
            </p:cNvPr>
            <p:cNvSpPr txBox="1"/>
            <p:nvPr/>
          </p:nvSpPr>
          <p:spPr>
            <a:xfrm>
              <a:off x="9143750" y="4774131"/>
              <a:ext cx="7056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EE4C2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Pytorch</a:t>
              </a:r>
              <a:endParaRPr lang="en-IN" sz="1200" dirty="0">
                <a:solidFill>
                  <a:srgbClr val="EE4C2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56" name="Picture 55" descr="Understanding Docker Images and Containers - NashTech Blog">
            <a:extLst>
              <a:ext uri="{FF2B5EF4-FFF2-40B4-BE49-F238E27FC236}">
                <a16:creationId xmlns:a16="http://schemas.microsoft.com/office/drawing/2014/main" id="{30AB870E-7596-3FD7-7AB5-5401841EA0A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05390" y="4319991"/>
            <a:ext cx="874481" cy="680340"/>
          </a:xfrm>
          <a:prstGeom prst="rect">
            <a:avLst/>
          </a:prstGeom>
        </p:spPr>
      </p:pic>
      <p:pic>
        <p:nvPicPr>
          <p:cNvPr id="61" name="Picture 60" descr="Introduction | PostGIS Day 2014">
            <a:extLst>
              <a:ext uri="{FF2B5EF4-FFF2-40B4-BE49-F238E27FC236}">
                <a16:creationId xmlns:a16="http://schemas.microsoft.com/office/drawing/2014/main" id="{55843373-0D45-E603-1C55-976CCAEA563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83508" y="5413071"/>
            <a:ext cx="1058088" cy="599957"/>
          </a:xfrm>
          <a:prstGeom prst="rect">
            <a:avLst/>
          </a:prstGeom>
        </p:spPr>
      </p:pic>
      <p:pic>
        <p:nvPicPr>
          <p:cNvPr id="17408" name="Picture 17407" descr="GDAL - Wikipedia">
            <a:extLst>
              <a:ext uri="{FF2B5EF4-FFF2-40B4-BE49-F238E27FC236}">
                <a16:creationId xmlns:a16="http://schemas.microsoft.com/office/drawing/2014/main" id="{DC776D61-CE15-E27D-D94F-D5F668E87CA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99436" y="5432769"/>
            <a:ext cx="556711" cy="540961"/>
          </a:xfrm>
          <a:prstGeom prst="rect">
            <a:avLst/>
          </a:prstGeom>
        </p:spPr>
      </p:pic>
      <p:pic>
        <p:nvPicPr>
          <p:cNvPr id="17414" name="Picture 17413">
            <a:extLst>
              <a:ext uri="{FF2B5EF4-FFF2-40B4-BE49-F238E27FC236}">
                <a16:creationId xmlns:a16="http://schemas.microsoft.com/office/drawing/2014/main" id="{4DA664B0-AB7F-D1CA-DCDC-620DD0D86F2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5954" b="94046" l="10000" r="90000">
                        <a14:foregroundMark x1="13519" y1="87741" x2="13519" y2="87741"/>
                        <a14:foregroundMark x1="20833" y1="92207" x2="20833" y2="92207"/>
                        <a14:foregroundMark x1="27870" y1="87741" x2="27870" y2="87741"/>
                        <a14:foregroundMark x1="38333" y1="87391" x2="38333" y2="87391"/>
                        <a14:foregroundMark x1="42778" y1="94046" x2="42778" y2="94046"/>
                        <a14:foregroundMark x1="49444" y1="91944" x2="49444" y2="91944"/>
                        <a14:foregroundMark x1="56111" y1="90718" x2="56111" y2="90718"/>
                        <a14:foregroundMark x1="67500" y1="88616" x2="67500" y2="88616"/>
                        <a14:foregroundMark x1="76759" y1="89492" x2="76759" y2="89492"/>
                        <a14:foregroundMark x1="76759" y1="84413" x2="76759" y2="84413"/>
                        <a14:foregroundMark x1="83796" y1="92469" x2="83796" y2="92469"/>
                        <a14:foregroundMark x1="34537" y1="67601" x2="34537" y2="67601"/>
                        <a14:foregroundMark x1="80278" y1="66988" x2="80278" y2="66988"/>
                        <a14:foregroundMark x1="22407" y1="7443" x2="22407" y2="7443"/>
                        <a14:foregroundMark x1="86944" y1="5954" x2="86944" y2="5954"/>
                        <a14:backgroundMark x1="29722" y1="91944" x2="29722" y2="91944"/>
                        <a14:backgroundMark x1="58981" y1="88266" x2="58981" y2="8826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64506" y="5396084"/>
            <a:ext cx="682293" cy="633930"/>
          </a:xfrm>
          <a:prstGeom prst="rect">
            <a:avLst/>
          </a:prstGeom>
        </p:spPr>
      </p:pic>
      <p:sp>
        <p:nvSpPr>
          <p:cNvPr id="17418" name="Oval 17417">
            <a:extLst>
              <a:ext uri="{FF2B5EF4-FFF2-40B4-BE49-F238E27FC236}">
                <a16:creationId xmlns:a16="http://schemas.microsoft.com/office/drawing/2014/main" id="{F8670A56-4A0B-256E-BA44-BDF11CB44EF3}"/>
              </a:ext>
            </a:extLst>
          </p:cNvPr>
          <p:cNvSpPr/>
          <p:nvPr/>
        </p:nvSpPr>
        <p:spPr>
          <a:xfrm>
            <a:off x="11628377" y="6281879"/>
            <a:ext cx="504000" cy="504000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419" name="Slide Number Placeholder 5">
            <a:extLst>
              <a:ext uri="{FF2B5EF4-FFF2-40B4-BE49-F238E27FC236}">
                <a16:creationId xmlns:a16="http://schemas.microsoft.com/office/drawing/2014/main" id="{B8362847-FFAD-98EA-1EC2-E01092156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486" y="6352756"/>
            <a:ext cx="285135" cy="365125"/>
          </a:xfrm>
        </p:spPr>
        <p:txBody>
          <a:bodyPr/>
          <a:lstStyle/>
          <a:p>
            <a:fld id="{677C3CE7-23F7-4828-823C-E0205DF2CF97}" type="slidenum">
              <a:rPr lang="en-US" sz="1800" b="1" smtClean="0">
                <a:solidFill>
                  <a:schemeClr val="tx1"/>
                </a:solidFill>
              </a:rPr>
              <a:pPr/>
              <a:t>3</a:t>
            </a:fld>
            <a:endParaRPr lang="en-US" sz="1600" b="1" dirty="0">
              <a:solidFill>
                <a:schemeClr val="tx1"/>
              </a:solidFill>
            </a:endParaRPr>
          </a:p>
        </p:txBody>
      </p:sp>
      <p:grpSp>
        <p:nvGrpSpPr>
          <p:cNvPr id="17436" name="Group 17435">
            <a:extLst>
              <a:ext uri="{FF2B5EF4-FFF2-40B4-BE49-F238E27FC236}">
                <a16:creationId xmlns:a16="http://schemas.microsoft.com/office/drawing/2014/main" id="{271B5AD8-FD0F-B637-F8C4-265AA94B35EE}"/>
              </a:ext>
            </a:extLst>
          </p:cNvPr>
          <p:cNvGrpSpPr/>
          <p:nvPr/>
        </p:nvGrpSpPr>
        <p:grpSpPr>
          <a:xfrm>
            <a:off x="88490" y="1282863"/>
            <a:ext cx="8215270" cy="4873302"/>
            <a:chOff x="850263" y="457200"/>
            <a:chExt cx="7443473" cy="5943600"/>
          </a:xfrm>
        </p:grpSpPr>
        <p:sp>
          <p:nvSpPr>
            <p:cNvPr id="17437" name="Rectangle 17436">
              <a:extLst>
                <a:ext uri="{FF2B5EF4-FFF2-40B4-BE49-F238E27FC236}">
                  <a16:creationId xmlns:a16="http://schemas.microsoft.com/office/drawing/2014/main" id="{A401C352-76D7-7B7A-5EC2-AE2CF979FC6D}"/>
                </a:ext>
              </a:extLst>
            </p:cNvPr>
            <p:cNvSpPr/>
            <p:nvPr/>
          </p:nvSpPr>
          <p:spPr>
            <a:xfrm>
              <a:off x="850263" y="457200"/>
              <a:ext cx="7443473" cy="594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7438" name="Rounded Rectangle 2">
              <a:extLst>
                <a:ext uri="{FF2B5EF4-FFF2-40B4-BE49-F238E27FC236}">
                  <a16:creationId xmlns:a16="http://schemas.microsoft.com/office/drawing/2014/main" id="{31011BAC-B243-708A-19CF-3D4388C5D150}"/>
                </a:ext>
              </a:extLst>
            </p:cNvPr>
            <p:cNvSpPr/>
            <p:nvPr/>
          </p:nvSpPr>
          <p:spPr>
            <a:xfrm>
              <a:off x="1353326" y="2060982"/>
              <a:ext cx="9315" cy="1152272"/>
            </a:xfrm>
            <a:custGeom>
              <a:avLst/>
              <a:gdLst/>
              <a:ahLst/>
              <a:cxnLst/>
              <a:rect l="0" t="0" r="0" b="0"/>
              <a:pathLst>
                <a:path w="9315" h="1152272">
                  <a:moveTo>
                    <a:pt x="0" y="0"/>
                  </a:moveTo>
                  <a:lnTo>
                    <a:pt x="0" y="1152272"/>
                  </a:lnTo>
                </a:path>
              </a:pathLst>
            </a:custGeom>
            <a:noFill/>
            <a:ln w="13973">
              <a:solidFill>
                <a:srgbClr val="4E88E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9" name="Rounded Rectangle 3">
              <a:extLst>
                <a:ext uri="{FF2B5EF4-FFF2-40B4-BE49-F238E27FC236}">
                  <a16:creationId xmlns:a16="http://schemas.microsoft.com/office/drawing/2014/main" id="{0BB5FA7E-AC10-CEB3-A4BA-D7BD848503E2}"/>
                </a:ext>
              </a:extLst>
            </p:cNvPr>
            <p:cNvSpPr/>
            <p:nvPr/>
          </p:nvSpPr>
          <p:spPr>
            <a:xfrm>
              <a:off x="3030204" y="1666845"/>
              <a:ext cx="9315" cy="1530645"/>
            </a:xfrm>
            <a:custGeom>
              <a:avLst/>
              <a:gdLst/>
              <a:ahLst/>
              <a:cxnLst/>
              <a:rect l="0" t="0" r="0" b="0"/>
              <a:pathLst>
                <a:path w="9315" h="1530645">
                  <a:moveTo>
                    <a:pt x="0" y="0"/>
                  </a:moveTo>
                  <a:lnTo>
                    <a:pt x="0" y="1530645"/>
                  </a:lnTo>
                </a:path>
              </a:pathLst>
            </a:custGeom>
            <a:noFill/>
            <a:ln w="13973">
              <a:solidFill>
                <a:srgbClr val="3CC583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0" name="Rounded Rectangle 4">
              <a:extLst>
                <a:ext uri="{FF2B5EF4-FFF2-40B4-BE49-F238E27FC236}">
                  <a16:creationId xmlns:a16="http://schemas.microsoft.com/office/drawing/2014/main" id="{98179A3A-3E14-6A00-0412-8F58BF843C12}"/>
                </a:ext>
              </a:extLst>
            </p:cNvPr>
            <p:cNvSpPr/>
            <p:nvPr/>
          </p:nvSpPr>
          <p:spPr>
            <a:xfrm>
              <a:off x="4707082" y="2204306"/>
              <a:ext cx="9315" cy="1014682"/>
            </a:xfrm>
            <a:custGeom>
              <a:avLst/>
              <a:gdLst/>
              <a:ahLst/>
              <a:cxnLst/>
              <a:rect l="0" t="0" r="0" b="0"/>
              <a:pathLst>
                <a:path w="9315" h="1014682">
                  <a:moveTo>
                    <a:pt x="0" y="0"/>
                  </a:moveTo>
                  <a:lnTo>
                    <a:pt x="0" y="1014682"/>
                  </a:lnTo>
                </a:path>
              </a:pathLst>
            </a:custGeom>
            <a:noFill/>
            <a:ln w="13973">
              <a:solidFill>
                <a:srgbClr val="E0CB15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1" name="Rounded Rectangle 5">
              <a:extLst>
                <a:ext uri="{FF2B5EF4-FFF2-40B4-BE49-F238E27FC236}">
                  <a16:creationId xmlns:a16="http://schemas.microsoft.com/office/drawing/2014/main" id="{8B04F510-EFB4-2BDD-6D59-3FEE78D0FF31}"/>
                </a:ext>
              </a:extLst>
            </p:cNvPr>
            <p:cNvSpPr/>
            <p:nvPr/>
          </p:nvSpPr>
          <p:spPr>
            <a:xfrm>
              <a:off x="6383959" y="1881829"/>
              <a:ext cx="9315" cy="1324260"/>
            </a:xfrm>
            <a:custGeom>
              <a:avLst/>
              <a:gdLst/>
              <a:ahLst/>
              <a:cxnLst/>
              <a:rect l="0" t="0" r="0" b="0"/>
              <a:pathLst>
                <a:path w="9315" h="1324260">
                  <a:moveTo>
                    <a:pt x="0" y="0"/>
                  </a:moveTo>
                  <a:lnTo>
                    <a:pt x="0" y="1324260"/>
                  </a:lnTo>
                </a:path>
              </a:pathLst>
            </a:custGeom>
            <a:noFill/>
            <a:ln w="13973">
              <a:solidFill>
                <a:srgbClr val="E55753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2" name="Rounded Rectangle 6">
              <a:extLst>
                <a:ext uri="{FF2B5EF4-FFF2-40B4-BE49-F238E27FC236}">
                  <a16:creationId xmlns:a16="http://schemas.microsoft.com/office/drawing/2014/main" id="{5057DE02-30C7-8EDB-F767-8FC47216A4BC}"/>
                </a:ext>
              </a:extLst>
            </p:cNvPr>
            <p:cNvSpPr/>
            <p:nvPr/>
          </p:nvSpPr>
          <p:spPr>
            <a:xfrm>
              <a:off x="1353326" y="3345110"/>
              <a:ext cx="782542" cy="670751"/>
            </a:xfrm>
            <a:custGeom>
              <a:avLst/>
              <a:gdLst/>
              <a:ahLst/>
              <a:cxnLst/>
              <a:rect l="0" t="0" r="0" b="0"/>
              <a:pathLst>
                <a:path w="782542" h="670751">
                  <a:moveTo>
                    <a:pt x="614855" y="0"/>
                  </a:moveTo>
                  <a:lnTo>
                    <a:pt x="0" y="0"/>
                  </a:lnTo>
                  <a:lnTo>
                    <a:pt x="167687" y="335375"/>
                  </a:lnTo>
                  <a:lnTo>
                    <a:pt x="0" y="670751"/>
                  </a:lnTo>
                  <a:lnTo>
                    <a:pt x="614855" y="670751"/>
                  </a:lnTo>
                  <a:lnTo>
                    <a:pt x="782542" y="335375"/>
                  </a:lnTo>
                  <a:lnTo>
                    <a:pt x="614855" y="0"/>
                  </a:lnTo>
                </a:path>
              </a:pathLst>
            </a:custGeom>
            <a:solidFill>
              <a:srgbClr val="4E88E7">
                <a:alpha val="6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3" name="Rounded Rectangle 7">
              <a:extLst>
                <a:ext uri="{FF2B5EF4-FFF2-40B4-BE49-F238E27FC236}">
                  <a16:creationId xmlns:a16="http://schemas.microsoft.com/office/drawing/2014/main" id="{20929BBE-5258-5DA7-4346-5035E33602C6}"/>
                </a:ext>
              </a:extLst>
            </p:cNvPr>
            <p:cNvSpPr/>
            <p:nvPr/>
          </p:nvSpPr>
          <p:spPr>
            <a:xfrm>
              <a:off x="1353326" y="3345110"/>
              <a:ext cx="782542" cy="670751"/>
            </a:xfrm>
            <a:custGeom>
              <a:avLst/>
              <a:gdLst/>
              <a:ahLst/>
              <a:cxnLst/>
              <a:rect l="0" t="0" r="0" b="0"/>
              <a:pathLst>
                <a:path w="782542" h="670751">
                  <a:moveTo>
                    <a:pt x="614855" y="0"/>
                  </a:moveTo>
                  <a:lnTo>
                    <a:pt x="0" y="0"/>
                  </a:lnTo>
                  <a:lnTo>
                    <a:pt x="167687" y="335375"/>
                  </a:lnTo>
                  <a:lnTo>
                    <a:pt x="0" y="670751"/>
                  </a:lnTo>
                  <a:lnTo>
                    <a:pt x="614855" y="670751"/>
                  </a:lnTo>
                  <a:lnTo>
                    <a:pt x="782542" y="335375"/>
                  </a:lnTo>
                  <a:lnTo>
                    <a:pt x="614855" y="0"/>
                  </a:lnTo>
                  <a:close/>
                </a:path>
              </a:pathLst>
            </a:custGeom>
            <a:noFill/>
            <a:ln w="13973">
              <a:solidFill>
                <a:srgbClr val="4E88E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4" name="Rounded Rectangle 8">
              <a:extLst>
                <a:ext uri="{FF2B5EF4-FFF2-40B4-BE49-F238E27FC236}">
                  <a16:creationId xmlns:a16="http://schemas.microsoft.com/office/drawing/2014/main" id="{58342E43-9250-3C99-6F77-6601755A36B6}"/>
                </a:ext>
              </a:extLst>
            </p:cNvPr>
            <p:cNvSpPr/>
            <p:nvPr/>
          </p:nvSpPr>
          <p:spPr>
            <a:xfrm>
              <a:off x="2191765" y="3345110"/>
              <a:ext cx="782542" cy="670751"/>
            </a:xfrm>
            <a:custGeom>
              <a:avLst/>
              <a:gdLst/>
              <a:ahLst/>
              <a:cxnLst/>
              <a:rect l="0" t="0" r="0" b="0"/>
              <a:pathLst>
                <a:path w="782542" h="670751">
                  <a:moveTo>
                    <a:pt x="614855" y="0"/>
                  </a:moveTo>
                  <a:lnTo>
                    <a:pt x="0" y="0"/>
                  </a:lnTo>
                  <a:lnTo>
                    <a:pt x="167687" y="335375"/>
                  </a:lnTo>
                  <a:lnTo>
                    <a:pt x="0" y="670751"/>
                  </a:lnTo>
                  <a:lnTo>
                    <a:pt x="614855" y="670751"/>
                  </a:lnTo>
                  <a:lnTo>
                    <a:pt x="782542" y="335375"/>
                  </a:lnTo>
                  <a:lnTo>
                    <a:pt x="614855" y="0"/>
                  </a:lnTo>
                </a:path>
              </a:pathLst>
            </a:custGeom>
            <a:solidFill>
              <a:srgbClr val="1EABDA">
                <a:alpha val="8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5" name="Rounded Rectangle 9">
              <a:extLst>
                <a:ext uri="{FF2B5EF4-FFF2-40B4-BE49-F238E27FC236}">
                  <a16:creationId xmlns:a16="http://schemas.microsoft.com/office/drawing/2014/main" id="{659811F7-B0F1-E42C-C1DE-E7F563727AA9}"/>
                </a:ext>
              </a:extLst>
            </p:cNvPr>
            <p:cNvSpPr/>
            <p:nvPr/>
          </p:nvSpPr>
          <p:spPr>
            <a:xfrm>
              <a:off x="2191765" y="3345110"/>
              <a:ext cx="782542" cy="670751"/>
            </a:xfrm>
            <a:custGeom>
              <a:avLst/>
              <a:gdLst/>
              <a:ahLst/>
              <a:cxnLst/>
              <a:rect l="0" t="0" r="0" b="0"/>
              <a:pathLst>
                <a:path w="782542" h="670751">
                  <a:moveTo>
                    <a:pt x="614855" y="0"/>
                  </a:moveTo>
                  <a:lnTo>
                    <a:pt x="0" y="0"/>
                  </a:lnTo>
                  <a:lnTo>
                    <a:pt x="167687" y="335375"/>
                  </a:lnTo>
                  <a:lnTo>
                    <a:pt x="0" y="670751"/>
                  </a:lnTo>
                  <a:lnTo>
                    <a:pt x="614855" y="670751"/>
                  </a:lnTo>
                  <a:lnTo>
                    <a:pt x="782542" y="335375"/>
                  </a:lnTo>
                  <a:lnTo>
                    <a:pt x="614855" y="0"/>
                  </a:lnTo>
                  <a:close/>
                </a:path>
              </a:pathLst>
            </a:custGeom>
            <a:noFill/>
            <a:ln w="13973">
              <a:solidFill>
                <a:srgbClr val="1EABDA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6" name="Rounded Rectangle 10">
              <a:extLst>
                <a:ext uri="{FF2B5EF4-FFF2-40B4-BE49-F238E27FC236}">
                  <a16:creationId xmlns:a16="http://schemas.microsoft.com/office/drawing/2014/main" id="{B4957F10-7B09-9D3A-0B9C-8BD9E4D3A4AF}"/>
                </a:ext>
              </a:extLst>
            </p:cNvPr>
            <p:cNvSpPr/>
            <p:nvPr/>
          </p:nvSpPr>
          <p:spPr>
            <a:xfrm>
              <a:off x="3030204" y="3345110"/>
              <a:ext cx="782542" cy="670751"/>
            </a:xfrm>
            <a:custGeom>
              <a:avLst/>
              <a:gdLst/>
              <a:ahLst/>
              <a:cxnLst/>
              <a:rect l="0" t="0" r="0" b="0"/>
              <a:pathLst>
                <a:path w="782542" h="670751">
                  <a:moveTo>
                    <a:pt x="614855" y="0"/>
                  </a:moveTo>
                  <a:lnTo>
                    <a:pt x="0" y="0"/>
                  </a:lnTo>
                  <a:lnTo>
                    <a:pt x="167687" y="335375"/>
                  </a:lnTo>
                  <a:lnTo>
                    <a:pt x="0" y="670751"/>
                  </a:lnTo>
                  <a:lnTo>
                    <a:pt x="614855" y="670751"/>
                  </a:lnTo>
                  <a:lnTo>
                    <a:pt x="782542" y="335375"/>
                  </a:lnTo>
                  <a:lnTo>
                    <a:pt x="614855" y="0"/>
                  </a:lnTo>
                </a:path>
              </a:pathLst>
            </a:custGeom>
            <a:solidFill>
              <a:srgbClr val="3CC583">
                <a:alpha val="6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7" name="Rounded Rectangle 11">
              <a:extLst>
                <a:ext uri="{FF2B5EF4-FFF2-40B4-BE49-F238E27FC236}">
                  <a16:creationId xmlns:a16="http://schemas.microsoft.com/office/drawing/2014/main" id="{DDA3DF1D-6431-E6E5-B32C-30E7D8B57D37}"/>
                </a:ext>
              </a:extLst>
            </p:cNvPr>
            <p:cNvSpPr/>
            <p:nvPr/>
          </p:nvSpPr>
          <p:spPr>
            <a:xfrm>
              <a:off x="3030204" y="3345110"/>
              <a:ext cx="782542" cy="670751"/>
            </a:xfrm>
            <a:custGeom>
              <a:avLst/>
              <a:gdLst/>
              <a:ahLst/>
              <a:cxnLst/>
              <a:rect l="0" t="0" r="0" b="0"/>
              <a:pathLst>
                <a:path w="782542" h="670751">
                  <a:moveTo>
                    <a:pt x="614855" y="0"/>
                  </a:moveTo>
                  <a:lnTo>
                    <a:pt x="0" y="0"/>
                  </a:lnTo>
                  <a:lnTo>
                    <a:pt x="167687" y="335375"/>
                  </a:lnTo>
                  <a:lnTo>
                    <a:pt x="0" y="670751"/>
                  </a:lnTo>
                  <a:lnTo>
                    <a:pt x="614855" y="670751"/>
                  </a:lnTo>
                  <a:lnTo>
                    <a:pt x="782542" y="335375"/>
                  </a:lnTo>
                  <a:lnTo>
                    <a:pt x="614855" y="0"/>
                  </a:lnTo>
                  <a:close/>
                </a:path>
              </a:pathLst>
            </a:custGeom>
            <a:noFill/>
            <a:ln w="13973">
              <a:solidFill>
                <a:srgbClr val="3CC583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8" name="Rounded Rectangle 12">
              <a:extLst>
                <a:ext uri="{FF2B5EF4-FFF2-40B4-BE49-F238E27FC236}">
                  <a16:creationId xmlns:a16="http://schemas.microsoft.com/office/drawing/2014/main" id="{960B29CA-F115-38B4-B692-36E07A633E2C}"/>
                </a:ext>
              </a:extLst>
            </p:cNvPr>
            <p:cNvSpPr/>
            <p:nvPr/>
          </p:nvSpPr>
          <p:spPr>
            <a:xfrm>
              <a:off x="3868643" y="3345110"/>
              <a:ext cx="782542" cy="670751"/>
            </a:xfrm>
            <a:custGeom>
              <a:avLst/>
              <a:gdLst/>
              <a:ahLst/>
              <a:cxnLst/>
              <a:rect l="0" t="0" r="0" b="0"/>
              <a:pathLst>
                <a:path w="782542" h="670751">
                  <a:moveTo>
                    <a:pt x="614855" y="0"/>
                  </a:moveTo>
                  <a:lnTo>
                    <a:pt x="0" y="0"/>
                  </a:lnTo>
                  <a:lnTo>
                    <a:pt x="167687" y="335375"/>
                  </a:lnTo>
                  <a:lnTo>
                    <a:pt x="0" y="670751"/>
                  </a:lnTo>
                  <a:lnTo>
                    <a:pt x="614855" y="670751"/>
                  </a:lnTo>
                  <a:lnTo>
                    <a:pt x="782542" y="335375"/>
                  </a:lnTo>
                  <a:lnTo>
                    <a:pt x="614855" y="0"/>
                  </a:lnTo>
                </a:path>
              </a:pathLst>
            </a:custGeom>
            <a:solidFill>
              <a:srgbClr val="92BD39">
                <a:alpha val="7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9" name="Rounded Rectangle 13">
              <a:extLst>
                <a:ext uri="{FF2B5EF4-FFF2-40B4-BE49-F238E27FC236}">
                  <a16:creationId xmlns:a16="http://schemas.microsoft.com/office/drawing/2014/main" id="{6AA9C33E-2AAF-B279-AD6C-428C213BFF44}"/>
                </a:ext>
              </a:extLst>
            </p:cNvPr>
            <p:cNvSpPr/>
            <p:nvPr/>
          </p:nvSpPr>
          <p:spPr>
            <a:xfrm>
              <a:off x="3868643" y="3345110"/>
              <a:ext cx="782542" cy="670751"/>
            </a:xfrm>
            <a:custGeom>
              <a:avLst/>
              <a:gdLst/>
              <a:ahLst/>
              <a:cxnLst/>
              <a:rect l="0" t="0" r="0" b="0"/>
              <a:pathLst>
                <a:path w="782542" h="670751">
                  <a:moveTo>
                    <a:pt x="614855" y="0"/>
                  </a:moveTo>
                  <a:lnTo>
                    <a:pt x="0" y="0"/>
                  </a:lnTo>
                  <a:lnTo>
                    <a:pt x="167687" y="335375"/>
                  </a:lnTo>
                  <a:lnTo>
                    <a:pt x="0" y="670751"/>
                  </a:lnTo>
                  <a:lnTo>
                    <a:pt x="614855" y="670751"/>
                  </a:lnTo>
                  <a:lnTo>
                    <a:pt x="782542" y="335375"/>
                  </a:lnTo>
                  <a:lnTo>
                    <a:pt x="614855" y="0"/>
                  </a:lnTo>
                  <a:close/>
                </a:path>
              </a:pathLst>
            </a:custGeom>
            <a:noFill/>
            <a:ln w="13973">
              <a:solidFill>
                <a:srgbClr val="92BD39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50" name="Rounded Rectangle 14">
              <a:extLst>
                <a:ext uri="{FF2B5EF4-FFF2-40B4-BE49-F238E27FC236}">
                  <a16:creationId xmlns:a16="http://schemas.microsoft.com/office/drawing/2014/main" id="{541A0AA7-5F6C-1E60-FD3A-3D05A91E22E6}"/>
                </a:ext>
              </a:extLst>
            </p:cNvPr>
            <p:cNvSpPr/>
            <p:nvPr/>
          </p:nvSpPr>
          <p:spPr>
            <a:xfrm>
              <a:off x="4707082" y="3345110"/>
              <a:ext cx="782542" cy="670751"/>
            </a:xfrm>
            <a:custGeom>
              <a:avLst/>
              <a:gdLst/>
              <a:ahLst/>
              <a:cxnLst/>
              <a:rect l="0" t="0" r="0" b="0"/>
              <a:pathLst>
                <a:path w="782542" h="670751">
                  <a:moveTo>
                    <a:pt x="614855" y="0"/>
                  </a:moveTo>
                  <a:lnTo>
                    <a:pt x="0" y="0"/>
                  </a:lnTo>
                  <a:lnTo>
                    <a:pt x="167687" y="335375"/>
                  </a:lnTo>
                  <a:lnTo>
                    <a:pt x="0" y="670751"/>
                  </a:lnTo>
                  <a:lnTo>
                    <a:pt x="614855" y="670751"/>
                  </a:lnTo>
                  <a:lnTo>
                    <a:pt x="782542" y="335375"/>
                  </a:lnTo>
                  <a:lnTo>
                    <a:pt x="614855" y="0"/>
                  </a:lnTo>
                </a:path>
              </a:pathLst>
            </a:custGeom>
            <a:solidFill>
              <a:srgbClr val="E0CB15">
                <a:alpha val="6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51" name="Rounded Rectangle 15">
              <a:extLst>
                <a:ext uri="{FF2B5EF4-FFF2-40B4-BE49-F238E27FC236}">
                  <a16:creationId xmlns:a16="http://schemas.microsoft.com/office/drawing/2014/main" id="{77C87F2A-BB8F-3E82-DF41-05AAA1338293}"/>
                </a:ext>
              </a:extLst>
            </p:cNvPr>
            <p:cNvSpPr/>
            <p:nvPr/>
          </p:nvSpPr>
          <p:spPr>
            <a:xfrm>
              <a:off x="4707082" y="3345110"/>
              <a:ext cx="782542" cy="670751"/>
            </a:xfrm>
            <a:custGeom>
              <a:avLst/>
              <a:gdLst/>
              <a:ahLst/>
              <a:cxnLst/>
              <a:rect l="0" t="0" r="0" b="0"/>
              <a:pathLst>
                <a:path w="782542" h="670751">
                  <a:moveTo>
                    <a:pt x="614855" y="0"/>
                  </a:moveTo>
                  <a:lnTo>
                    <a:pt x="0" y="0"/>
                  </a:lnTo>
                  <a:lnTo>
                    <a:pt x="167687" y="335375"/>
                  </a:lnTo>
                  <a:lnTo>
                    <a:pt x="0" y="670751"/>
                  </a:lnTo>
                  <a:lnTo>
                    <a:pt x="614855" y="670751"/>
                  </a:lnTo>
                  <a:lnTo>
                    <a:pt x="782542" y="335375"/>
                  </a:lnTo>
                  <a:lnTo>
                    <a:pt x="614855" y="0"/>
                  </a:lnTo>
                  <a:close/>
                </a:path>
              </a:pathLst>
            </a:custGeom>
            <a:noFill/>
            <a:ln w="13973">
              <a:solidFill>
                <a:srgbClr val="E0CB15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52" name="Rounded Rectangle 16">
              <a:extLst>
                <a:ext uri="{FF2B5EF4-FFF2-40B4-BE49-F238E27FC236}">
                  <a16:creationId xmlns:a16="http://schemas.microsoft.com/office/drawing/2014/main" id="{2A1ECEB9-C3FB-0514-2284-33D2F96DB928}"/>
                </a:ext>
              </a:extLst>
            </p:cNvPr>
            <p:cNvSpPr/>
            <p:nvPr/>
          </p:nvSpPr>
          <p:spPr>
            <a:xfrm>
              <a:off x="5545520" y="3345110"/>
              <a:ext cx="782542" cy="670751"/>
            </a:xfrm>
            <a:custGeom>
              <a:avLst/>
              <a:gdLst/>
              <a:ahLst/>
              <a:cxnLst/>
              <a:rect l="0" t="0" r="0" b="0"/>
              <a:pathLst>
                <a:path w="782542" h="670751">
                  <a:moveTo>
                    <a:pt x="614855" y="0"/>
                  </a:moveTo>
                  <a:lnTo>
                    <a:pt x="0" y="0"/>
                  </a:lnTo>
                  <a:lnTo>
                    <a:pt x="167687" y="335375"/>
                  </a:lnTo>
                  <a:lnTo>
                    <a:pt x="0" y="670751"/>
                  </a:lnTo>
                  <a:lnTo>
                    <a:pt x="614855" y="670751"/>
                  </a:lnTo>
                  <a:lnTo>
                    <a:pt x="782542" y="335375"/>
                  </a:lnTo>
                  <a:lnTo>
                    <a:pt x="614855" y="0"/>
                  </a:lnTo>
                </a:path>
              </a:pathLst>
            </a:custGeom>
            <a:solidFill>
              <a:srgbClr val="DE8431">
                <a:alpha val="6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53" name="Rounded Rectangle 17">
              <a:extLst>
                <a:ext uri="{FF2B5EF4-FFF2-40B4-BE49-F238E27FC236}">
                  <a16:creationId xmlns:a16="http://schemas.microsoft.com/office/drawing/2014/main" id="{BB2A608B-1B7E-B442-E1CD-F76F74B832F3}"/>
                </a:ext>
              </a:extLst>
            </p:cNvPr>
            <p:cNvSpPr/>
            <p:nvPr/>
          </p:nvSpPr>
          <p:spPr>
            <a:xfrm>
              <a:off x="5545520" y="3345110"/>
              <a:ext cx="782542" cy="670751"/>
            </a:xfrm>
            <a:custGeom>
              <a:avLst/>
              <a:gdLst/>
              <a:ahLst/>
              <a:cxnLst/>
              <a:rect l="0" t="0" r="0" b="0"/>
              <a:pathLst>
                <a:path w="782542" h="670751">
                  <a:moveTo>
                    <a:pt x="614855" y="0"/>
                  </a:moveTo>
                  <a:lnTo>
                    <a:pt x="0" y="0"/>
                  </a:lnTo>
                  <a:lnTo>
                    <a:pt x="167687" y="335375"/>
                  </a:lnTo>
                  <a:lnTo>
                    <a:pt x="0" y="670751"/>
                  </a:lnTo>
                  <a:lnTo>
                    <a:pt x="614855" y="670751"/>
                  </a:lnTo>
                  <a:lnTo>
                    <a:pt x="782542" y="335375"/>
                  </a:lnTo>
                  <a:lnTo>
                    <a:pt x="614855" y="0"/>
                  </a:lnTo>
                  <a:close/>
                </a:path>
              </a:pathLst>
            </a:custGeom>
            <a:noFill/>
            <a:ln w="13973">
              <a:solidFill>
                <a:srgbClr val="DE8431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54" name="Rounded Rectangle 18">
              <a:extLst>
                <a:ext uri="{FF2B5EF4-FFF2-40B4-BE49-F238E27FC236}">
                  <a16:creationId xmlns:a16="http://schemas.microsoft.com/office/drawing/2014/main" id="{292BD5C1-165A-A764-E598-537DB0DF2BBA}"/>
                </a:ext>
              </a:extLst>
            </p:cNvPr>
            <p:cNvSpPr/>
            <p:nvPr/>
          </p:nvSpPr>
          <p:spPr>
            <a:xfrm>
              <a:off x="6383959" y="3345110"/>
              <a:ext cx="782542" cy="670751"/>
            </a:xfrm>
            <a:custGeom>
              <a:avLst/>
              <a:gdLst/>
              <a:ahLst/>
              <a:cxnLst/>
              <a:rect l="0" t="0" r="0" b="0"/>
              <a:pathLst>
                <a:path w="782542" h="670751">
                  <a:moveTo>
                    <a:pt x="614855" y="0"/>
                  </a:moveTo>
                  <a:lnTo>
                    <a:pt x="0" y="0"/>
                  </a:lnTo>
                  <a:lnTo>
                    <a:pt x="167687" y="335375"/>
                  </a:lnTo>
                  <a:lnTo>
                    <a:pt x="0" y="670751"/>
                  </a:lnTo>
                  <a:lnTo>
                    <a:pt x="614855" y="670751"/>
                  </a:lnTo>
                  <a:lnTo>
                    <a:pt x="782542" y="335375"/>
                  </a:lnTo>
                  <a:lnTo>
                    <a:pt x="614855" y="0"/>
                  </a:lnTo>
                </a:path>
              </a:pathLst>
            </a:custGeom>
            <a:solidFill>
              <a:srgbClr val="E55753">
                <a:alpha val="7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55" name="Rounded Rectangle 19">
              <a:extLst>
                <a:ext uri="{FF2B5EF4-FFF2-40B4-BE49-F238E27FC236}">
                  <a16:creationId xmlns:a16="http://schemas.microsoft.com/office/drawing/2014/main" id="{547B4A55-5FDC-6E08-CF2A-A0C0E37EE383}"/>
                </a:ext>
              </a:extLst>
            </p:cNvPr>
            <p:cNvSpPr/>
            <p:nvPr/>
          </p:nvSpPr>
          <p:spPr>
            <a:xfrm>
              <a:off x="6383959" y="3345110"/>
              <a:ext cx="782542" cy="670751"/>
            </a:xfrm>
            <a:custGeom>
              <a:avLst/>
              <a:gdLst/>
              <a:ahLst/>
              <a:cxnLst/>
              <a:rect l="0" t="0" r="0" b="0"/>
              <a:pathLst>
                <a:path w="782542" h="670751">
                  <a:moveTo>
                    <a:pt x="614855" y="0"/>
                  </a:moveTo>
                  <a:lnTo>
                    <a:pt x="0" y="0"/>
                  </a:lnTo>
                  <a:lnTo>
                    <a:pt x="167687" y="335375"/>
                  </a:lnTo>
                  <a:lnTo>
                    <a:pt x="0" y="670751"/>
                  </a:lnTo>
                  <a:lnTo>
                    <a:pt x="614855" y="670751"/>
                  </a:lnTo>
                  <a:lnTo>
                    <a:pt x="782542" y="335375"/>
                  </a:lnTo>
                  <a:lnTo>
                    <a:pt x="614855" y="0"/>
                  </a:lnTo>
                  <a:close/>
                </a:path>
              </a:pathLst>
            </a:custGeom>
            <a:noFill/>
            <a:ln w="13973">
              <a:solidFill>
                <a:srgbClr val="E55753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56" name="Rounded Rectangle 20">
              <a:extLst>
                <a:ext uri="{FF2B5EF4-FFF2-40B4-BE49-F238E27FC236}">
                  <a16:creationId xmlns:a16="http://schemas.microsoft.com/office/drawing/2014/main" id="{F9C7730F-A6C9-80E1-3816-02676635DC19}"/>
                </a:ext>
              </a:extLst>
            </p:cNvPr>
            <p:cNvSpPr/>
            <p:nvPr/>
          </p:nvSpPr>
          <p:spPr>
            <a:xfrm>
              <a:off x="2191765" y="4163482"/>
              <a:ext cx="9315" cy="1530645"/>
            </a:xfrm>
            <a:custGeom>
              <a:avLst/>
              <a:gdLst/>
              <a:ahLst/>
              <a:cxnLst/>
              <a:rect l="0" t="0" r="0" b="0"/>
              <a:pathLst>
                <a:path w="9315" h="1530645">
                  <a:moveTo>
                    <a:pt x="0" y="0"/>
                  </a:moveTo>
                  <a:lnTo>
                    <a:pt x="0" y="1530645"/>
                  </a:lnTo>
                </a:path>
              </a:pathLst>
            </a:custGeom>
            <a:noFill/>
            <a:ln w="13973">
              <a:solidFill>
                <a:srgbClr val="1EABDA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57" name="Rounded Rectangle 21">
              <a:extLst>
                <a:ext uri="{FF2B5EF4-FFF2-40B4-BE49-F238E27FC236}">
                  <a16:creationId xmlns:a16="http://schemas.microsoft.com/office/drawing/2014/main" id="{E90120A0-09F3-BD28-C7AB-8186EBDCCB18}"/>
                </a:ext>
              </a:extLst>
            </p:cNvPr>
            <p:cNvSpPr/>
            <p:nvPr/>
          </p:nvSpPr>
          <p:spPr>
            <a:xfrm>
              <a:off x="3868643" y="4156317"/>
              <a:ext cx="9315" cy="1358658"/>
            </a:xfrm>
            <a:custGeom>
              <a:avLst/>
              <a:gdLst/>
              <a:ahLst/>
              <a:cxnLst/>
              <a:rect l="0" t="0" r="0" b="0"/>
              <a:pathLst>
                <a:path w="9315" h="1358658">
                  <a:moveTo>
                    <a:pt x="0" y="0"/>
                  </a:moveTo>
                  <a:lnTo>
                    <a:pt x="0" y="1358658"/>
                  </a:lnTo>
                </a:path>
              </a:pathLst>
            </a:custGeom>
            <a:noFill/>
            <a:ln w="13973">
              <a:solidFill>
                <a:srgbClr val="92BD39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58" name="Rounded Rectangle 22">
              <a:extLst>
                <a:ext uri="{FF2B5EF4-FFF2-40B4-BE49-F238E27FC236}">
                  <a16:creationId xmlns:a16="http://schemas.microsoft.com/office/drawing/2014/main" id="{D7DE9D9F-28A4-FA06-BD15-D50573AA81C0}"/>
                </a:ext>
              </a:extLst>
            </p:cNvPr>
            <p:cNvSpPr/>
            <p:nvPr/>
          </p:nvSpPr>
          <p:spPr>
            <a:xfrm>
              <a:off x="5545520" y="4156317"/>
              <a:ext cx="9315" cy="1358658"/>
            </a:xfrm>
            <a:custGeom>
              <a:avLst/>
              <a:gdLst/>
              <a:ahLst/>
              <a:cxnLst/>
              <a:rect l="0" t="0" r="0" b="0"/>
              <a:pathLst>
                <a:path w="9315" h="1358658">
                  <a:moveTo>
                    <a:pt x="0" y="0"/>
                  </a:moveTo>
                  <a:lnTo>
                    <a:pt x="0" y="1358658"/>
                  </a:lnTo>
                </a:path>
              </a:pathLst>
            </a:custGeom>
            <a:noFill/>
            <a:ln w="13973">
              <a:solidFill>
                <a:srgbClr val="DE8431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7459" name="Group 17458">
              <a:extLst>
                <a:ext uri="{FF2B5EF4-FFF2-40B4-BE49-F238E27FC236}">
                  <a16:creationId xmlns:a16="http://schemas.microsoft.com/office/drawing/2014/main" id="{0BAC98AB-54C1-A5DD-887F-A42B794CA295}"/>
                </a:ext>
              </a:extLst>
            </p:cNvPr>
            <p:cNvGrpSpPr/>
            <p:nvPr/>
          </p:nvGrpSpPr>
          <p:grpSpPr>
            <a:xfrm>
              <a:off x="4837505" y="2748931"/>
              <a:ext cx="1137249" cy="372591"/>
              <a:chOff x="3987242" y="2291731"/>
              <a:chExt cx="1137249" cy="372591"/>
            </a:xfrm>
          </p:grpSpPr>
          <p:sp>
            <p:nvSpPr>
              <p:cNvPr id="17511" name="TextBox 17510">
                <a:extLst>
                  <a:ext uri="{FF2B5EF4-FFF2-40B4-BE49-F238E27FC236}">
                    <a16:creationId xmlns:a16="http://schemas.microsoft.com/office/drawing/2014/main" id="{C106B701-03EC-8F2B-833A-AA02C88D5728}"/>
                  </a:ext>
                </a:extLst>
              </p:cNvPr>
              <p:cNvSpPr txBox="1"/>
              <p:nvPr/>
            </p:nvSpPr>
            <p:spPr>
              <a:xfrm>
                <a:off x="3987242" y="2291731"/>
                <a:ext cx="1307836" cy="186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 dirty="0">
                    <a:solidFill>
                      <a:srgbClr val="484848"/>
                    </a:solidFill>
                    <a:latin typeface="Roboto"/>
                  </a:rPr>
                  <a:t>Text or image query →</a:t>
                </a:r>
              </a:p>
            </p:txBody>
          </p:sp>
          <p:sp>
            <p:nvSpPr>
              <p:cNvPr id="17512" name="TextBox 17511">
                <a:extLst>
                  <a:ext uri="{FF2B5EF4-FFF2-40B4-BE49-F238E27FC236}">
                    <a16:creationId xmlns:a16="http://schemas.microsoft.com/office/drawing/2014/main" id="{5B12593A-1FE3-AFC7-3F9A-2763135A4069}"/>
                  </a:ext>
                </a:extLst>
              </p:cNvPr>
              <p:cNvSpPr txBox="1"/>
              <p:nvPr/>
            </p:nvSpPr>
            <p:spPr>
              <a:xfrm>
                <a:off x="3987242" y="2478050"/>
                <a:ext cx="1307836" cy="1862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>
                    <a:solidFill>
                      <a:srgbClr val="484848"/>
                    </a:solidFill>
                    <a:latin typeface="Roboto"/>
                  </a:rPr>
                  <a:t>ANN, re-rank, clusters</a:t>
                </a:r>
              </a:p>
            </p:txBody>
          </p:sp>
        </p:grpSp>
        <p:grpSp>
          <p:nvGrpSpPr>
            <p:cNvPr id="17460" name="Group 17459">
              <a:extLst>
                <a:ext uri="{FF2B5EF4-FFF2-40B4-BE49-F238E27FC236}">
                  <a16:creationId xmlns:a16="http://schemas.microsoft.com/office/drawing/2014/main" id="{5BA3199D-31F3-B5B5-97B7-0A7C98CC4CE6}"/>
                </a:ext>
              </a:extLst>
            </p:cNvPr>
            <p:cNvGrpSpPr/>
            <p:nvPr/>
          </p:nvGrpSpPr>
          <p:grpSpPr>
            <a:xfrm>
              <a:off x="6514383" y="2189970"/>
              <a:ext cx="1305989" cy="931552"/>
              <a:chOff x="5664120" y="1732770"/>
              <a:chExt cx="1305989" cy="931552"/>
            </a:xfrm>
          </p:grpSpPr>
          <p:sp>
            <p:nvSpPr>
              <p:cNvPr id="17506" name="TextBox 17505">
                <a:extLst>
                  <a:ext uri="{FF2B5EF4-FFF2-40B4-BE49-F238E27FC236}">
                    <a16:creationId xmlns:a16="http://schemas.microsoft.com/office/drawing/2014/main" id="{E8867430-5822-2F0E-0CA6-0DC5C205950F}"/>
                  </a:ext>
                </a:extLst>
              </p:cNvPr>
              <p:cNvSpPr txBox="1"/>
              <p:nvPr/>
            </p:nvSpPr>
            <p:spPr>
              <a:xfrm>
                <a:off x="5664120" y="1732770"/>
                <a:ext cx="1501887" cy="186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>
                    <a:solidFill>
                      <a:srgbClr val="484848"/>
                    </a:solidFill>
                    <a:latin typeface="Roboto"/>
                  </a:rPr>
                  <a:t>Ranked review queue,</a:t>
                </a:r>
              </a:p>
            </p:txBody>
          </p:sp>
          <p:sp>
            <p:nvSpPr>
              <p:cNvPr id="17507" name="TextBox 17506">
                <a:extLst>
                  <a:ext uri="{FF2B5EF4-FFF2-40B4-BE49-F238E27FC236}">
                    <a16:creationId xmlns:a16="http://schemas.microsoft.com/office/drawing/2014/main" id="{04AC8A9E-2F2D-0A12-A174-48C805C8AFFE}"/>
                  </a:ext>
                </a:extLst>
              </p:cNvPr>
              <p:cNvSpPr txBox="1"/>
              <p:nvPr/>
            </p:nvSpPr>
            <p:spPr>
              <a:xfrm>
                <a:off x="5664120" y="1919090"/>
                <a:ext cx="1501887" cy="186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>
                    <a:solidFill>
                      <a:srgbClr val="484848"/>
                    </a:solidFill>
                    <a:latin typeface="Roboto"/>
                  </a:rPr>
                  <a:t>before/after chips,</a:t>
                </a:r>
              </a:p>
            </p:txBody>
          </p:sp>
          <p:sp>
            <p:nvSpPr>
              <p:cNvPr id="17508" name="TextBox 17507">
                <a:extLst>
                  <a:ext uri="{FF2B5EF4-FFF2-40B4-BE49-F238E27FC236}">
                    <a16:creationId xmlns:a16="http://schemas.microsoft.com/office/drawing/2014/main" id="{A8942DAF-C072-95A6-62D9-76D4384D6284}"/>
                  </a:ext>
                </a:extLst>
              </p:cNvPr>
              <p:cNvSpPr txBox="1"/>
              <p:nvPr/>
            </p:nvSpPr>
            <p:spPr>
              <a:xfrm>
                <a:off x="5664120" y="2105410"/>
                <a:ext cx="1501887" cy="186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>
                    <a:solidFill>
                      <a:srgbClr val="484848"/>
                    </a:solidFill>
                    <a:latin typeface="Roboto"/>
                  </a:rPr>
                  <a:t>confirm / reject →</a:t>
                </a:r>
              </a:p>
            </p:txBody>
          </p:sp>
          <p:sp>
            <p:nvSpPr>
              <p:cNvPr id="17509" name="TextBox 17508">
                <a:extLst>
                  <a:ext uri="{FF2B5EF4-FFF2-40B4-BE49-F238E27FC236}">
                    <a16:creationId xmlns:a16="http://schemas.microsoft.com/office/drawing/2014/main" id="{4933A53B-7E3B-27A2-135D-02B31BA21D75}"/>
                  </a:ext>
                </a:extLst>
              </p:cNvPr>
              <p:cNvSpPr txBox="1"/>
              <p:nvPr/>
            </p:nvSpPr>
            <p:spPr>
              <a:xfrm>
                <a:off x="5664120" y="2291730"/>
                <a:ext cx="1501887" cy="186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>
                    <a:solidFill>
                      <a:srgbClr val="484848"/>
                    </a:solidFill>
                    <a:latin typeface="Roboto"/>
                  </a:rPr>
                  <a:t>re-rank; GeoJSON, PDF</a:t>
                </a:r>
              </a:p>
            </p:txBody>
          </p:sp>
          <p:sp>
            <p:nvSpPr>
              <p:cNvPr id="17510" name="TextBox 17509">
                <a:extLst>
                  <a:ext uri="{FF2B5EF4-FFF2-40B4-BE49-F238E27FC236}">
                    <a16:creationId xmlns:a16="http://schemas.microsoft.com/office/drawing/2014/main" id="{32D31C46-9D23-5E64-FC27-048A8EA9FCD7}"/>
                  </a:ext>
                </a:extLst>
              </p:cNvPr>
              <p:cNvSpPr txBox="1"/>
              <p:nvPr/>
            </p:nvSpPr>
            <p:spPr>
              <a:xfrm>
                <a:off x="5664120" y="2478049"/>
                <a:ext cx="1501887" cy="1862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>
                    <a:solidFill>
                      <a:srgbClr val="484848"/>
                    </a:solidFill>
                    <a:latin typeface="Roboto"/>
                  </a:rPr>
                  <a:t>with full provenance</a:t>
                </a:r>
              </a:p>
            </p:txBody>
          </p:sp>
        </p:grpSp>
        <p:grpSp>
          <p:nvGrpSpPr>
            <p:cNvPr id="17461" name="Group 17460">
              <a:extLst>
                <a:ext uri="{FF2B5EF4-FFF2-40B4-BE49-F238E27FC236}">
                  <a16:creationId xmlns:a16="http://schemas.microsoft.com/office/drawing/2014/main" id="{D9240A7C-9B53-8A19-16A7-B2754DC59C5E}"/>
                </a:ext>
              </a:extLst>
            </p:cNvPr>
            <p:cNvGrpSpPr/>
            <p:nvPr/>
          </p:nvGrpSpPr>
          <p:grpSpPr>
            <a:xfrm>
              <a:off x="1483750" y="2376299"/>
              <a:ext cx="1332186" cy="745232"/>
              <a:chOff x="633487" y="1919099"/>
              <a:chExt cx="1332186" cy="745232"/>
            </a:xfrm>
          </p:grpSpPr>
          <p:sp>
            <p:nvSpPr>
              <p:cNvPr id="17502" name="TextBox 17501">
                <a:extLst>
                  <a:ext uri="{FF2B5EF4-FFF2-40B4-BE49-F238E27FC236}">
                    <a16:creationId xmlns:a16="http://schemas.microsoft.com/office/drawing/2014/main" id="{624E3CE0-AF98-042A-B5BD-FCA697423E01}"/>
                  </a:ext>
                </a:extLst>
              </p:cNvPr>
              <p:cNvSpPr txBox="1"/>
              <p:nvPr/>
            </p:nvSpPr>
            <p:spPr>
              <a:xfrm>
                <a:off x="633487" y="1919099"/>
                <a:ext cx="1532013" cy="186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>
                    <a:solidFill>
                      <a:srgbClr val="484848"/>
                    </a:solidFill>
                    <a:latin typeface="Roboto"/>
                  </a:rPr>
                  <a:t>GeoTIFF or COG from</a:t>
                </a:r>
              </a:p>
            </p:txBody>
          </p:sp>
          <p:sp>
            <p:nvSpPr>
              <p:cNvPr id="17503" name="TextBox 17502">
                <a:extLst>
                  <a:ext uri="{FF2B5EF4-FFF2-40B4-BE49-F238E27FC236}">
                    <a16:creationId xmlns:a16="http://schemas.microsoft.com/office/drawing/2014/main" id="{02E9CBDB-83D2-E741-F7D5-EEF9082ABBCF}"/>
                  </a:ext>
                </a:extLst>
              </p:cNvPr>
              <p:cNvSpPr txBox="1"/>
              <p:nvPr/>
            </p:nvSpPr>
            <p:spPr>
              <a:xfrm>
                <a:off x="633487" y="2105419"/>
                <a:ext cx="1532013" cy="186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>
                    <a:solidFill>
                      <a:srgbClr val="484848"/>
                    </a:solidFill>
                    <a:latin typeface="Roboto"/>
                  </a:rPr>
                  <a:t>Sentinel-1/2, Landsat</a:t>
                </a:r>
              </a:p>
            </p:txBody>
          </p:sp>
          <p:sp>
            <p:nvSpPr>
              <p:cNvPr id="17504" name="TextBox 17503">
                <a:extLst>
                  <a:ext uri="{FF2B5EF4-FFF2-40B4-BE49-F238E27FC236}">
                    <a16:creationId xmlns:a16="http://schemas.microsoft.com/office/drawing/2014/main" id="{9D15EA03-564B-EC87-0A06-F97C3B0781F3}"/>
                  </a:ext>
                </a:extLst>
              </p:cNvPr>
              <p:cNvSpPr txBox="1"/>
              <p:nvPr/>
            </p:nvSpPr>
            <p:spPr>
              <a:xfrm>
                <a:off x="633487" y="2291739"/>
                <a:ext cx="1532013" cy="186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 dirty="0">
                    <a:solidFill>
                      <a:srgbClr val="484848"/>
                    </a:solidFill>
                    <a:latin typeface="Roboto"/>
                  </a:rPr>
                  <a:t>&amp; high-res; metadata,</a:t>
                </a:r>
              </a:p>
            </p:txBody>
          </p:sp>
          <p:sp>
            <p:nvSpPr>
              <p:cNvPr id="17505" name="TextBox 17504">
                <a:extLst>
                  <a:ext uri="{FF2B5EF4-FFF2-40B4-BE49-F238E27FC236}">
                    <a16:creationId xmlns:a16="http://schemas.microsoft.com/office/drawing/2014/main" id="{631D093D-D912-EBC0-C24C-6AF3E641A3F2}"/>
                  </a:ext>
                </a:extLst>
              </p:cNvPr>
              <p:cNvSpPr txBox="1"/>
              <p:nvPr/>
            </p:nvSpPr>
            <p:spPr>
              <a:xfrm>
                <a:off x="633487" y="2478059"/>
                <a:ext cx="1532013" cy="1862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 dirty="0">
                    <a:solidFill>
                      <a:srgbClr val="484848"/>
                    </a:solidFill>
                    <a:latin typeface="Roboto"/>
                  </a:rPr>
                  <a:t>checksums preserved</a:t>
                </a:r>
              </a:p>
            </p:txBody>
          </p:sp>
        </p:grpSp>
        <p:grpSp>
          <p:nvGrpSpPr>
            <p:cNvPr id="17462" name="Group 17461">
              <a:extLst>
                <a:ext uri="{FF2B5EF4-FFF2-40B4-BE49-F238E27FC236}">
                  <a16:creationId xmlns:a16="http://schemas.microsoft.com/office/drawing/2014/main" id="{963084F4-EB2F-0822-D9D4-00CCC0112BCD}"/>
                </a:ext>
              </a:extLst>
            </p:cNvPr>
            <p:cNvGrpSpPr/>
            <p:nvPr/>
          </p:nvGrpSpPr>
          <p:grpSpPr>
            <a:xfrm>
              <a:off x="4837505" y="2189974"/>
              <a:ext cx="1115589" cy="447167"/>
              <a:chOff x="3987242" y="1732774"/>
              <a:chExt cx="1115589" cy="447167"/>
            </a:xfrm>
          </p:grpSpPr>
          <p:sp>
            <p:nvSpPr>
              <p:cNvPr id="17500" name="TextBox 17499">
                <a:extLst>
                  <a:ext uri="{FF2B5EF4-FFF2-40B4-BE49-F238E27FC236}">
                    <a16:creationId xmlns:a16="http://schemas.microsoft.com/office/drawing/2014/main" id="{06F2DDA4-8499-D425-448B-45A868329E8F}"/>
                  </a:ext>
                </a:extLst>
              </p:cNvPr>
              <p:cNvSpPr txBox="1"/>
              <p:nvPr/>
            </p:nvSpPr>
            <p:spPr>
              <a:xfrm>
                <a:off x="3987242" y="1732774"/>
                <a:ext cx="1282927" cy="223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400" b="0">
                    <a:solidFill>
                      <a:srgbClr val="E0CB15"/>
                    </a:solidFill>
                    <a:latin typeface="Roboto"/>
                  </a:rPr>
                  <a:t>SEARCH &amp;</a:t>
                </a:r>
              </a:p>
            </p:txBody>
          </p:sp>
          <p:sp>
            <p:nvSpPr>
              <p:cNvPr id="17501" name="TextBox 17500">
                <a:extLst>
                  <a:ext uri="{FF2B5EF4-FFF2-40B4-BE49-F238E27FC236}">
                    <a16:creationId xmlns:a16="http://schemas.microsoft.com/office/drawing/2014/main" id="{7A64A154-ADC5-9761-B665-407C7517EAD8}"/>
                  </a:ext>
                </a:extLst>
              </p:cNvPr>
              <p:cNvSpPr txBox="1"/>
              <p:nvPr/>
            </p:nvSpPr>
            <p:spPr>
              <a:xfrm>
                <a:off x="3987242" y="1956358"/>
                <a:ext cx="1282927" cy="223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400" b="0">
                    <a:solidFill>
                      <a:srgbClr val="E0CB15"/>
                    </a:solidFill>
                    <a:latin typeface="Roboto"/>
                  </a:rPr>
                  <a:t>DISCOVER</a:t>
                </a:r>
              </a:p>
            </p:txBody>
          </p:sp>
        </p:grpSp>
        <p:sp>
          <p:nvSpPr>
            <p:cNvPr id="17463" name="TextBox 17462">
              <a:extLst>
                <a:ext uri="{FF2B5EF4-FFF2-40B4-BE49-F238E27FC236}">
                  <a16:creationId xmlns:a16="http://schemas.microsoft.com/office/drawing/2014/main" id="{E67937C5-3865-3801-9959-EFC43ABFFF66}"/>
                </a:ext>
              </a:extLst>
            </p:cNvPr>
            <p:cNvSpPr txBox="1"/>
            <p:nvPr/>
          </p:nvSpPr>
          <p:spPr>
            <a:xfrm>
              <a:off x="1483750" y="2040920"/>
              <a:ext cx="738687" cy="223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400" b="0">
                  <a:solidFill>
                    <a:srgbClr val="4E88E7"/>
                  </a:solidFill>
                  <a:latin typeface="Roboto"/>
                </a:rPr>
                <a:t>INGEST</a:t>
              </a:r>
            </a:p>
          </p:txBody>
        </p:sp>
        <p:sp>
          <p:nvSpPr>
            <p:cNvPr id="17464" name="TextBox 17463">
              <a:extLst>
                <a:ext uri="{FF2B5EF4-FFF2-40B4-BE49-F238E27FC236}">
                  <a16:creationId xmlns:a16="http://schemas.microsoft.com/office/drawing/2014/main" id="{DBDC61E5-B317-5728-AA21-E4BA3DE7792E}"/>
                </a:ext>
              </a:extLst>
            </p:cNvPr>
            <p:cNvSpPr txBox="1"/>
            <p:nvPr/>
          </p:nvSpPr>
          <p:spPr>
            <a:xfrm>
              <a:off x="6514383" y="1854600"/>
              <a:ext cx="816230" cy="223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400" b="0">
                  <a:solidFill>
                    <a:srgbClr val="E55753"/>
                  </a:solidFill>
                  <a:latin typeface="Roboto"/>
                </a:rPr>
                <a:t>REVIEW &amp; EXPORT</a:t>
              </a:r>
            </a:p>
          </p:txBody>
        </p:sp>
        <p:grpSp>
          <p:nvGrpSpPr>
            <p:cNvPr id="17465" name="Group 17464">
              <a:extLst>
                <a:ext uri="{FF2B5EF4-FFF2-40B4-BE49-F238E27FC236}">
                  <a16:creationId xmlns:a16="http://schemas.microsoft.com/office/drawing/2014/main" id="{7429EFDC-FF5B-EBFB-C9FB-7EBFCEB51BDB}"/>
                </a:ext>
              </a:extLst>
            </p:cNvPr>
            <p:cNvGrpSpPr/>
            <p:nvPr/>
          </p:nvGrpSpPr>
          <p:grpSpPr>
            <a:xfrm>
              <a:off x="3160628" y="1631015"/>
              <a:ext cx="956174" cy="447167"/>
              <a:chOff x="2310365" y="1173815"/>
              <a:chExt cx="956174" cy="447167"/>
            </a:xfrm>
          </p:grpSpPr>
          <p:sp>
            <p:nvSpPr>
              <p:cNvPr id="17498" name="TextBox 17497">
                <a:extLst>
                  <a:ext uri="{FF2B5EF4-FFF2-40B4-BE49-F238E27FC236}">
                    <a16:creationId xmlns:a16="http://schemas.microsoft.com/office/drawing/2014/main" id="{04BA7B2C-80BA-1CF9-D3CA-D31929899B20}"/>
                  </a:ext>
                </a:extLst>
              </p:cNvPr>
              <p:cNvSpPr txBox="1"/>
              <p:nvPr/>
            </p:nvSpPr>
            <p:spPr>
              <a:xfrm>
                <a:off x="2310365" y="1173815"/>
                <a:ext cx="1099600" cy="223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400" b="0">
                    <a:solidFill>
                      <a:srgbClr val="3CC583"/>
                    </a:solidFill>
                    <a:latin typeface="Roboto"/>
                  </a:rPr>
                  <a:t>TILE &amp;</a:t>
                </a:r>
              </a:p>
            </p:txBody>
          </p:sp>
          <p:sp>
            <p:nvSpPr>
              <p:cNvPr id="17499" name="TextBox 17498">
                <a:extLst>
                  <a:ext uri="{FF2B5EF4-FFF2-40B4-BE49-F238E27FC236}">
                    <a16:creationId xmlns:a16="http://schemas.microsoft.com/office/drawing/2014/main" id="{31C27730-D459-F933-FD90-5ACD735E52CE}"/>
                  </a:ext>
                </a:extLst>
              </p:cNvPr>
              <p:cNvSpPr txBox="1"/>
              <p:nvPr/>
            </p:nvSpPr>
            <p:spPr>
              <a:xfrm>
                <a:off x="2310365" y="1397399"/>
                <a:ext cx="1099600" cy="223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400" b="0">
                    <a:solidFill>
                      <a:srgbClr val="3CC583"/>
                    </a:solidFill>
                    <a:latin typeface="Roboto"/>
                  </a:rPr>
                  <a:t>EMBED</a:t>
                </a:r>
              </a:p>
            </p:txBody>
          </p:sp>
        </p:grpSp>
        <p:sp>
          <p:nvSpPr>
            <p:cNvPr id="17466" name="TextBox 17465">
              <a:extLst>
                <a:ext uri="{FF2B5EF4-FFF2-40B4-BE49-F238E27FC236}">
                  <a16:creationId xmlns:a16="http://schemas.microsoft.com/office/drawing/2014/main" id="{97BF0177-44B0-463C-FFC6-5C93189AFE1D}"/>
                </a:ext>
              </a:extLst>
            </p:cNvPr>
            <p:cNvSpPr txBox="1"/>
            <p:nvPr/>
          </p:nvSpPr>
          <p:spPr>
            <a:xfrm>
              <a:off x="1979127" y="904369"/>
              <a:ext cx="5176439" cy="2794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800" b="1">
                  <a:solidFill>
                    <a:srgbClr val="484848"/>
                  </a:solidFill>
                  <a:latin typeface="Roboto"/>
                </a:rPr>
                <a:t>SatQuery Arc: Search Widely, Verify First</a:t>
              </a:r>
            </a:p>
          </p:txBody>
        </p:sp>
        <p:grpSp>
          <p:nvGrpSpPr>
            <p:cNvPr id="17467" name="Group 17466">
              <a:extLst>
                <a:ext uri="{FF2B5EF4-FFF2-40B4-BE49-F238E27FC236}">
                  <a16:creationId xmlns:a16="http://schemas.microsoft.com/office/drawing/2014/main" id="{F0A51355-B823-EC6B-D08D-D1E8149C13D4}"/>
                </a:ext>
              </a:extLst>
            </p:cNvPr>
            <p:cNvGrpSpPr/>
            <p:nvPr/>
          </p:nvGrpSpPr>
          <p:grpSpPr>
            <a:xfrm>
              <a:off x="2322189" y="4239445"/>
              <a:ext cx="1021488" cy="447166"/>
              <a:chOff x="1471926" y="3782245"/>
              <a:chExt cx="1021488" cy="447166"/>
            </a:xfrm>
          </p:grpSpPr>
          <p:sp>
            <p:nvSpPr>
              <p:cNvPr id="17496" name="TextBox 17495">
                <a:extLst>
                  <a:ext uri="{FF2B5EF4-FFF2-40B4-BE49-F238E27FC236}">
                    <a16:creationId xmlns:a16="http://schemas.microsoft.com/office/drawing/2014/main" id="{3C936A28-7988-B832-DDD0-05AD88BEDFC0}"/>
                  </a:ext>
                </a:extLst>
              </p:cNvPr>
              <p:cNvSpPr txBox="1"/>
              <p:nvPr/>
            </p:nvSpPr>
            <p:spPr>
              <a:xfrm>
                <a:off x="1471926" y="3782245"/>
                <a:ext cx="1174711" cy="223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400" b="0">
                    <a:solidFill>
                      <a:srgbClr val="1EABDA"/>
                    </a:solidFill>
                    <a:latin typeface="Roboto"/>
                  </a:rPr>
                  <a:t>QUALITY</a:t>
                </a:r>
              </a:p>
            </p:txBody>
          </p:sp>
          <p:sp>
            <p:nvSpPr>
              <p:cNvPr id="17497" name="TextBox 17496">
                <a:extLst>
                  <a:ext uri="{FF2B5EF4-FFF2-40B4-BE49-F238E27FC236}">
                    <a16:creationId xmlns:a16="http://schemas.microsoft.com/office/drawing/2014/main" id="{FAB535FE-11B2-E153-008B-C9F0183E38D1}"/>
                  </a:ext>
                </a:extLst>
              </p:cNvPr>
              <p:cNvSpPr txBox="1"/>
              <p:nvPr/>
            </p:nvSpPr>
            <p:spPr>
              <a:xfrm>
                <a:off x="1471926" y="4005828"/>
                <a:ext cx="1174711" cy="223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400" b="0">
                    <a:solidFill>
                      <a:srgbClr val="1EABDA"/>
                    </a:solidFill>
                    <a:latin typeface="Roboto"/>
                  </a:rPr>
                  <a:t>GATE</a:t>
                </a:r>
              </a:p>
            </p:txBody>
          </p:sp>
        </p:grpSp>
        <p:grpSp>
          <p:nvGrpSpPr>
            <p:cNvPr id="17468" name="Group 17467">
              <a:extLst>
                <a:ext uri="{FF2B5EF4-FFF2-40B4-BE49-F238E27FC236}">
                  <a16:creationId xmlns:a16="http://schemas.microsoft.com/office/drawing/2014/main" id="{BF2997AF-03E2-C59E-61F6-DF1B7A35F421}"/>
                </a:ext>
              </a:extLst>
            </p:cNvPr>
            <p:cNvGrpSpPr/>
            <p:nvPr/>
          </p:nvGrpSpPr>
          <p:grpSpPr>
            <a:xfrm>
              <a:off x="3999067" y="4239445"/>
              <a:ext cx="1041061" cy="447166"/>
              <a:chOff x="3148804" y="3782245"/>
              <a:chExt cx="1041061" cy="447166"/>
            </a:xfrm>
          </p:grpSpPr>
          <p:sp>
            <p:nvSpPr>
              <p:cNvPr id="17494" name="TextBox 17493">
                <a:extLst>
                  <a:ext uri="{FF2B5EF4-FFF2-40B4-BE49-F238E27FC236}">
                    <a16:creationId xmlns:a16="http://schemas.microsoft.com/office/drawing/2014/main" id="{3923EC79-FED9-B921-CD95-57FC5F0CC782}"/>
                  </a:ext>
                </a:extLst>
              </p:cNvPr>
              <p:cNvSpPr txBox="1"/>
              <p:nvPr/>
            </p:nvSpPr>
            <p:spPr>
              <a:xfrm>
                <a:off x="3148804" y="3782245"/>
                <a:ext cx="1197220" cy="223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400" b="0">
                    <a:solidFill>
                      <a:srgbClr val="92BD39"/>
                    </a:solidFill>
                    <a:latin typeface="Roboto"/>
                  </a:rPr>
                  <a:t>HYBRID</a:t>
                </a:r>
              </a:p>
            </p:txBody>
          </p:sp>
          <p:sp>
            <p:nvSpPr>
              <p:cNvPr id="17495" name="TextBox 17494">
                <a:extLst>
                  <a:ext uri="{FF2B5EF4-FFF2-40B4-BE49-F238E27FC236}">
                    <a16:creationId xmlns:a16="http://schemas.microsoft.com/office/drawing/2014/main" id="{2C08C146-29F1-508A-C45F-C4A9B6351F06}"/>
                  </a:ext>
                </a:extLst>
              </p:cNvPr>
              <p:cNvSpPr txBox="1"/>
              <p:nvPr/>
            </p:nvSpPr>
            <p:spPr>
              <a:xfrm>
                <a:off x="3148804" y="4005828"/>
                <a:ext cx="1197220" cy="223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400" b="0">
                    <a:solidFill>
                      <a:srgbClr val="92BD39"/>
                    </a:solidFill>
                    <a:latin typeface="Roboto"/>
                  </a:rPr>
                  <a:t>INDEX</a:t>
                </a:r>
              </a:p>
            </p:txBody>
          </p:sp>
        </p:grpSp>
        <p:grpSp>
          <p:nvGrpSpPr>
            <p:cNvPr id="17469" name="Group 17468">
              <a:extLst>
                <a:ext uri="{FF2B5EF4-FFF2-40B4-BE49-F238E27FC236}">
                  <a16:creationId xmlns:a16="http://schemas.microsoft.com/office/drawing/2014/main" id="{73522207-0E36-65E3-A8A5-F06E9F8705B9}"/>
                </a:ext>
              </a:extLst>
            </p:cNvPr>
            <p:cNvGrpSpPr/>
            <p:nvPr/>
          </p:nvGrpSpPr>
          <p:grpSpPr>
            <a:xfrm>
              <a:off x="5675944" y="4239445"/>
              <a:ext cx="784750" cy="447166"/>
              <a:chOff x="4825681" y="3782245"/>
              <a:chExt cx="784750" cy="447166"/>
            </a:xfrm>
          </p:grpSpPr>
          <p:sp>
            <p:nvSpPr>
              <p:cNvPr id="17492" name="TextBox 17491">
                <a:extLst>
                  <a:ext uri="{FF2B5EF4-FFF2-40B4-BE49-F238E27FC236}">
                    <a16:creationId xmlns:a16="http://schemas.microsoft.com/office/drawing/2014/main" id="{431A3215-B9E3-12CF-D45D-6BD30919031A}"/>
                  </a:ext>
                </a:extLst>
              </p:cNvPr>
              <p:cNvSpPr txBox="1"/>
              <p:nvPr/>
            </p:nvSpPr>
            <p:spPr>
              <a:xfrm>
                <a:off x="4825681" y="3782245"/>
                <a:ext cx="902462" cy="223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400" b="0">
                    <a:solidFill>
                      <a:srgbClr val="DE8431"/>
                    </a:solidFill>
                    <a:latin typeface="Roboto"/>
                  </a:rPr>
                  <a:t>VERIFY</a:t>
                </a:r>
              </a:p>
            </p:txBody>
          </p:sp>
          <p:sp>
            <p:nvSpPr>
              <p:cNvPr id="17493" name="TextBox 17492">
                <a:extLst>
                  <a:ext uri="{FF2B5EF4-FFF2-40B4-BE49-F238E27FC236}">
                    <a16:creationId xmlns:a16="http://schemas.microsoft.com/office/drawing/2014/main" id="{AA75375E-78CE-C43E-0883-23E4CCC5E401}"/>
                  </a:ext>
                </a:extLst>
              </p:cNvPr>
              <p:cNvSpPr txBox="1"/>
              <p:nvPr/>
            </p:nvSpPr>
            <p:spPr>
              <a:xfrm>
                <a:off x="4825681" y="4005828"/>
                <a:ext cx="902462" cy="223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400" b="0">
                    <a:solidFill>
                      <a:srgbClr val="DE8431"/>
                    </a:solidFill>
                    <a:latin typeface="Roboto"/>
                  </a:rPr>
                  <a:t>CHANGE</a:t>
                </a:r>
              </a:p>
            </p:txBody>
          </p:sp>
        </p:grpSp>
        <p:grpSp>
          <p:nvGrpSpPr>
            <p:cNvPr id="17470" name="Group 17469">
              <a:extLst>
                <a:ext uri="{FF2B5EF4-FFF2-40B4-BE49-F238E27FC236}">
                  <a16:creationId xmlns:a16="http://schemas.microsoft.com/office/drawing/2014/main" id="{3AEA1C1E-C4A7-F0DD-03E1-8A053EB71E3F}"/>
                </a:ext>
              </a:extLst>
            </p:cNvPr>
            <p:cNvGrpSpPr/>
            <p:nvPr/>
          </p:nvGrpSpPr>
          <p:grpSpPr>
            <a:xfrm>
              <a:off x="2322189" y="4798400"/>
              <a:ext cx="1199312" cy="931551"/>
              <a:chOff x="1471926" y="4341200"/>
              <a:chExt cx="1199312" cy="931551"/>
            </a:xfrm>
          </p:grpSpPr>
          <p:sp>
            <p:nvSpPr>
              <p:cNvPr id="17487" name="TextBox 17486">
                <a:extLst>
                  <a:ext uri="{FF2B5EF4-FFF2-40B4-BE49-F238E27FC236}">
                    <a16:creationId xmlns:a16="http://schemas.microsoft.com/office/drawing/2014/main" id="{299554CD-17FD-C807-BC36-387B77A6895A}"/>
                  </a:ext>
                </a:extLst>
              </p:cNvPr>
              <p:cNvSpPr txBox="1"/>
              <p:nvPr/>
            </p:nvSpPr>
            <p:spPr>
              <a:xfrm>
                <a:off x="1471926" y="4341200"/>
                <a:ext cx="1379208" cy="186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>
                    <a:solidFill>
                      <a:srgbClr val="484848"/>
                    </a:solidFill>
                    <a:latin typeface="Roboto"/>
                  </a:rPr>
                  <a:t>Cloud, haze, snow,</a:t>
                </a:r>
              </a:p>
            </p:txBody>
          </p:sp>
          <p:sp>
            <p:nvSpPr>
              <p:cNvPr id="17488" name="TextBox 17487">
                <a:extLst>
                  <a:ext uri="{FF2B5EF4-FFF2-40B4-BE49-F238E27FC236}">
                    <a16:creationId xmlns:a16="http://schemas.microsoft.com/office/drawing/2014/main" id="{1410F5D5-8B73-5894-0AA0-1F0518A5CE8B}"/>
                  </a:ext>
                </a:extLst>
              </p:cNvPr>
              <p:cNvSpPr txBox="1"/>
              <p:nvPr/>
            </p:nvSpPr>
            <p:spPr>
              <a:xfrm>
                <a:off x="1471926" y="4527519"/>
                <a:ext cx="1379208" cy="186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>
                    <a:solidFill>
                      <a:srgbClr val="484848"/>
                    </a:solidFill>
                    <a:latin typeface="Roboto"/>
                  </a:rPr>
                  <a:t>shadow masks; CRS,</a:t>
                </a:r>
              </a:p>
            </p:txBody>
          </p:sp>
          <p:sp>
            <p:nvSpPr>
              <p:cNvPr id="17489" name="TextBox 17488">
                <a:extLst>
                  <a:ext uri="{FF2B5EF4-FFF2-40B4-BE49-F238E27FC236}">
                    <a16:creationId xmlns:a16="http://schemas.microsoft.com/office/drawing/2014/main" id="{D10861FF-9AEE-1C3D-EEE3-9EDE00813994}"/>
                  </a:ext>
                </a:extLst>
              </p:cNvPr>
              <p:cNvSpPr txBox="1"/>
              <p:nvPr/>
            </p:nvSpPr>
            <p:spPr>
              <a:xfrm>
                <a:off x="1471926" y="4713839"/>
                <a:ext cx="1379208" cy="186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>
                    <a:solidFill>
                      <a:srgbClr val="484848"/>
                    </a:solidFill>
                    <a:latin typeface="Roboto"/>
                  </a:rPr>
                  <a:t>GSD, co-registration,</a:t>
                </a:r>
              </a:p>
            </p:txBody>
          </p:sp>
          <p:sp>
            <p:nvSpPr>
              <p:cNvPr id="17490" name="TextBox 17489">
                <a:extLst>
                  <a:ext uri="{FF2B5EF4-FFF2-40B4-BE49-F238E27FC236}">
                    <a16:creationId xmlns:a16="http://schemas.microsoft.com/office/drawing/2014/main" id="{10740D57-73D5-1387-FF16-9AA335D1EF6C}"/>
                  </a:ext>
                </a:extLst>
              </p:cNvPr>
              <p:cNvSpPr txBox="1"/>
              <p:nvPr/>
            </p:nvSpPr>
            <p:spPr>
              <a:xfrm>
                <a:off x="1471926" y="4900159"/>
                <a:ext cx="1379208" cy="186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>
                    <a:solidFill>
                      <a:srgbClr val="484848"/>
                    </a:solidFill>
                    <a:latin typeface="Roboto"/>
                  </a:rPr>
                  <a:t>radiometric</a:t>
                </a:r>
              </a:p>
            </p:txBody>
          </p:sp>
          <p:sp>
            <p:nvSpPr>
              <p:cNvPr id="17491" name="TextBox 17490">
                <a:extLst>
                  <a:ext uri="{FF2B5EF4-FFF2-40B4-BE49-F238E27FC236}">
                    <a16:creationId xmlns:a16="http://schemas.microsoft.com/office/drawing/2014/main" id="{B8AC0DB1-D853-5A2A-B77A-1C96A994F896}"/>
                  </a:ext>
                </a:extLst>
              </p:cNvPr>
              <p:cNvSpPr txBox="1"/>
              <p:nvPr/>
            </p:nvSpPr>
            <p:spPr>
              <a:xfrm>
                <a:off x="1471926" y="5086478"/>
                <a:ext cx="1379208" cy="1862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>
                    <a:solidFill>
                      <a:srgbClr val="484848"/>
                    </a:solidFill>
                    <a:latin typeface="Roboto"/>
                  </a:rPr>
                  <a:t>normalisation</a:t>
                </a:r>
              </a:p>
            </p:txBody>
          </p:sp>
        </p:grpSp>
        <p:grpSp>
          <p:nvGrpSpPr>
            <p:cNvPr id="17471" name="Group 17470">
              <a:extLst>
                <a:ext uri="{FF2B5EF4-FFF2-40B4-BE49-F238E27FC236}">
                  <a16:creationId xmlns:a16="http://schemas.microsoft.com/office/drawing/2014/main" id="{EFE6E4E6-557E-5917-B946-BCEB6EA190CE}"/>
                </a:ext>
              </a:extLst>
            </p:cNvPr>
            <p:cNvGrpSpPr/>
            <p:nvPr/>
          </p:nvGrpSpPr>
          <p:grpSpPr>
            <a:xfrm>
              <a:off x="3999067" y="4798409"/>
              <a:ext cx="1312510" cy="745231"/>
              <a:chOff x="3148804" y="4341209"/>
              <a:chExt cx="1312510" cy="745231"/>
            </a:xfrm>
          </p:grpSpPr>
          <p:sp>
            <p:nvSpPr>
              <p:cNvPr id="17483" name="TextBox 17482">
                <a:extLst>
                  <a:ext uri="{FF2B5EF4-FFF2-40B4-BE49-F238E27FC236}">
                    <a16:creationId xmlns:a16="http://schemas.microsoft.com/office/drawing/2014/main" id="{38979601-3C49-38A5-18A6-B12874747C08}"/>
                  </a:ext>
                </a:extLst>
              </p:cNvPr>
              <p:cNvSpPr txBox="1"/>
              <p:nvPr/>
            </p:nvSpPr>
            <p:spPr>
              <a:xfrm>
                <a:off x="3148804" y="4341209"/>
                <a:ext cx="1509386" cy="186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>
                    <a:solidFill>
                      <a:srgbClr val="484848"/>
                    </a:solidFill>
                    <a:latin typeface="Roboto"/>
                  </a:rPr>
                  <a:t>PostGIS + pgvector</a:t>
                </a:r>
              </a:p>
            </p:txBody>
          </p:sp>
          <p:sp>
            <p:nvSpPr>
              <p:cNvPr id="17484" name="TextBox 17483">
                <a:extLst>
                  <a:ext uri="{FF2B5EF4-FFF2-40B4-BE49-F238E27FC236}">
                    <a16:creationId xmlns:a16="http://schemas.microsoft.com/office/drawing/2014/main" id="{F9E068CA-9BF5-D2A2-4575-81EE9550E94F}"/>
                  </a:ext>
                </a:extLst>
              </p:cNvPr>
              <p:cNvSpPr txBox="1"/>
              <p:nvPr/>
            </p:nvSpPr>
            <p:spPr>
              <a:xfrm>
                <a:off x="3148804" y="4527528"/>
                <a:ext cx="1509386" cy="186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>
                    <a:solidFill>
                      <a:srgbClr val="484848"/>
                    </a:solidFill>
                    <a:latin typeface="Roboto"/>
                  </a:rPr>
                  <a:t>HNSW with place, time,</a:t>
                </a:r>
              </a:p>
            </p:txBody>
          </p:sp>
          <p:sp>
            <p:nvSpPr>
              <p:cNvPr id="17485" name="TextBox 17484">
                <a:extLst>
                  <a:ext uri="{FF2B5EF4-FFF2-40B4-BE49-F238E27FC236}">
                    <a16:creationId xmlns:a16="http://schemas.microsoft.com/office/drawing/2014/main" id="{6F62EC83-CF3A-79FD-A3B9-8BC85806D4DA}"/>
                  </a:ext>
                </a:extLst>
              </p:cNvPr>
              <p:cNvSpPr txBox="1"/>
              <p:nvPr/>
            </p:nvSpPr>
            <p:spPr>
              <a:xfrm>
                <a:off x="3148804" y="4713848"/>
                <a:ext cx="1509386" cy="186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>
                    <a:solidFill>
                      <a:srgbClr val="484848"/>
                    </a:solidFill>
                    <a:latin typeface="Roboto"/>
                  </a:rPr>
                  <a:t>sensor, quality; adds</a:t>
                </a:r>
              </a:p>
            </p:txBody>
          </p:sp>
          <p:sp>
            <p:nvSpPr>
              <p:cNvPr id="17486" name="TextBox 17485">
                <a:extLst>
                  <a:ext uri="{FF2B5EF4-FFF2-40B4-BE49-F238E27FC236}">
                    <a16:creationId xmlns:a16="http://schemas.microsoft.com/office/drawing/2014/main" id="{01B1F814-886B-4B8D-C596-8DBD390F922D}"/>
                  </a:ext>
                </a:extLst>
              </p:cNvPr>
              <p:cNvSpPr txBox="1"/>
              <p:nvPr/>
            </p:nvSpPr>
            <p:spPr>
              <a:xfrm>
                <a:off x="3148804" y="4900168"/>
                <a:ext cx="1509386" cy="1862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>
                    <a:solidFill>
                      <a:srgbClr val="484848"/>
                    </a:solidFill>
                    <a:latin typeface="Roboto"/>
                  </a:rPr>
                  <a:t>without a rebuild</a:t>
                </a:r>
              </a:p>
            </p:txBody>
          </p:sp>
        </p:grpSp>
        <p:grpSp>
          <p:nvGrpSpPr>
            <p:cNvPr id="17472" name="Group 17471">
              <a:extLst>
                <a:ext uri="{FF2B5EF4-FFF2-40B4-BE49-F238E27FC236}">
                  <a16:creationId xmlns:a16="http://schemas.microsoft.com/office/drawing/2014/main" id="{DAC184D1-CEF4-DC70-3C61-EE59D67C6030}"/>
                </a:ext>
              </a:extLst>
            </p:cNvPr>
            <p:cNvGrpSpPr/>
            <p:nvPr/>
          </p:nvGrpSpPr>
          <p:grpSpPr>
            <a:xfrm>
              <a:off x="5675944" y="4798409"/>
              <a:ext cx="1126768" cy="745231"/>
              <a:chOff x="4825681" y="4341209"/>
              <a:chExt cx="1126768" cy="745231"/>
            </a:xfrm>
          </p:grpSpPr>
          <p:sp>
            <p:nvSpPr>
              <p:cNvPr id="17479" name="TextBox 17478">
                <a:extLst>
                  <a:ext uri="{FF2B5EF4-FFF2-40B4-BE49-F238E27FC236}">
                    <a16:creationId xmlns:a16="http://schemas.microsoft.com/office/drawing/2014/main" id="{F758138A-1C66-D790-45C6-9F50B8E748DB}"/>
                  </a:ext>
                </a:extLst>
              </p:cNvPr>
              <p:cNvSpPr txBox="1"/>
              <p:nvPr/>
            </p:nvSpPr>
            <p:spPr>
              <a:xfrm>
                <a:off x="4825681" y="4341209"/>
                <a:ext cx="1295783" cy="186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>
                    <a:solidFill>
                      <a:srgbClr val="484848"/>
                    </a:solidFill>
                    <a:latin typeface="Roboto"/>
                  </a:rPr>
                  <a:t>Seasonal time-series</a:t>
                </a:r>
              </a:p>
            </p:txBody>
          </p:sp>
          <p:sp>
            <p:nvSpPr>
              <p:cNvPr id="17480" name="TextBox 17479">
                <a:extLst>
                  <a:ext uri="{FF2B5EF4-FFF2-40B4-BE49-F238E27FC236}">
                    <a16:creationId xmlns:a16="http://schemas.microsoft.com/office/drawing/2014/main" id="{7B6DA203-D076-3419-FE7B-84CEAA01685F}"/>
                  </a:ext>
                </a:extLst>
              </p:cNvPr>
              <p:cNvSpPr txBox="1"/>
              <p:nvPr/>
            </p:nvSpPr>
            <p:spPr>
              <a:xfrm>
                <a:off x="4825681" y="4527528"/>
                <a:ext cx="1295783" cy="186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 dirty="0">
                    <a:solidFill>
                      <a:srgbClr val="484848"/>
                    </a:solidFill>
                    <a:latin typeface="Roboto"/>
                  </a:rPr>
                  <a:t>breaks + confounder</a:t>
                </a:r>
              </a:p>
            </p:txBody>
          </p:sp>
          <p:sp>
            <p:nvSpPr>
              <p:cNvPr id="17481" name="TextBox 17480">
                <a:extLst>
                  <a:ext uri="{FF2B5EF4-FFF2-40B4-BE49-F238E27FC236}">
                    <a16:creationId xmlns:a16="http://schemas.microsoft.com/office/drawing/2014/main" id="{FC44D7AF-B633-CA7E-071B-461610C3D172}"/>
                  </a:ext>
                </a:extLst>
              </p:cNvPr>
              <p:cNvSpPr txBox="1"/>
              <p:nvPr/>
            </p:nvSpPr>
            <p:spPr>
              <a:xfrm>
                <a:off x="4825681" y="4713848"/>
                <a:ext cx="1295783" cy="186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>
                    <a:solidFill>
                      <a:srgbClr val="484848"/>
                    </a:solidFill>
                    <a:latin typeface="Roboto"/>
                  </a:rPr>
                  <a:t>tests → type, earliest</a:t>
                </a:r>
              </a:p>
            </p:txBody>
          </p:sp>
          <p:sp>
            <p:nvSpPr>
              <p:cNvPr id="17482" name="TextBox 17481">
                <a:extLst>
                  <a:ext uri="{FF2B5EF4-FFF2-40B4-BE49-F238E27FC236}">
                    <a16:creationId xmlns:a16="http://schemas.microsoft.com/office/drawing/2014/main" id="{5E423121-3AD7-449A-A7B8-9348E95A11B1}"/>
                  </a:ext>
                </a:extLst>
              </p:cNvPr>
              <p:cNvSpPr txBox="1"/>
              <p:nvPr/>
            </p:nvSpPr>
            <p:spPr>
              <a:xfrm>
                <a:off x="4825681" y="4900168"/>
                <a:ext cx="1295783" cy="1862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>
                    <a:solidFill>
                      <a:srgbClr val="484848"/>
                    </a:solidFill>
                    <a:latin typeface="Roboto"/>
                  </a:rPr>
                  <a:t>date, confidence</a:t>
                </a:r>
              </a:p>
            </p:txBody>
          </p:sp>
        </p:grpSp>
        <p:grpSp>
          <p:nvGrpSpPr>
            <p:cNvPr id="17473" name="Group 17472">
              <a:extLst>
                <a:ext uri="{FF2B5EF4-FFF2-40B4-BE49-F238E27FC236}">
                  <a16:creationId xmlns:a16="http://schemas.microsoft.com/office/drawing/2014/main" id="{7E17E93A-B4D6-FF33-6860-3F17960C6B97}"/>
                </a:ext>
              </a:extLst>
            </p:cNvPr>
            <p:cNvGrpSpPr/>
            <p:nvPr/>
          </p:nvGrpSpPr>
          <p:grpSpPr>
            <a:xfrm>
              <a:off x="3160628" y="2189970"/>
              <a:ext cx="1325320" cy="931552"/>
              <a:chOff x="2310365" y="1732770"/>
              <a:chExt cx="1325320" cy="931552"/>
            </a:xfrm>
          </p:grpSpPr>
          <p:sp>
            <p:nvSpPr>
              <p:cNvPr id="17474" name="TextBox 17473">
                <a:extLst>
                  <a:ext uri="{FF2B5EF4-FFF2-40B4-BE49-F238E27FC236}">
                    <a16:creationId xmlns:a16="http://schemas.microsoft.com/office/drawing/2014/main" id="{C4C20A45-1BEE-6DD0-30FF-F239C36020F4}"/>
                  </a:ext>
                </a:extLst>
              </p:cNvPr>
              <p:cNvSpPr txBox="1"/>
              <p:nvPr/>
            </p:nvSpPr>
            <p:spPr>
              <a:xfrm>
                <a:off x="2310365" y="1732770"/>
                <a:ext cx="1524118" cy="186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>
                    <a:solidFill>
                      <a:srgbClr val="484848"/>
                    </a:solidFill>
                    <a:latin typeface="Roboto"/>
                  </a:rPr>
                  <a:t>Multi-scale tiles →</a:t>
                </a:r>
              </a:p>
            </p:txBody>
          </p:sp>
          <p:sp>
            <p:nvSpPr>
              <p:cNvPr id="17475" name="TextBox 17474">
                <a:extLst>
                  <a:ext uri="{FF2B5EF4-FFF2-40B4-BE49-F238E27FC236}">
                    <a16:creationId xmlns:a16="http://schemas.microsoft.com/office/drawing/2014/main" id="{89ABAA71-1DAD-B17B-2B28-1B1B12AA5284}"/>
                  </a:ext>
                </a:extLst>
              </p:cNvPr>
              <p:cNvSpPr txBox="1"/>
              <p:nvPr/>
            </p:nvSpPr>
            <p:spPr>
              <a:xfrm>
                <a:off x="2310365" y="1919090"/>
                <a:ext cx="1524118" cy="186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>
                    <a:solidFill>
                      <a:srgbClr val="484848"/>
                    </a:solidFill>
                    <a:latin typeface="Roboto"/>
                  </a:rPr>
                  <a:t>RemoteCLIP for text,</a:t>
                </a:r>
              </a:p>
            </p:txBody>
          </p:sp>
          <p:sp>
            <p:nvSpPr>
              <p:cNvPr id="17476" name="TextBox 17475">
                <a:extLst>
                  <a:ext uri="{FF2B5EF4-FFF2-40B4-BE49-F238E27FC236}">
                    <a16:creationId xmlns:a16="http://schemas.microsoft.com/office/drawing/2014/main" id="{CE81577C-1C91-E867-33CB-8718E1C5EDB7}"/>
                  </a:ext>
                </a:extLst>
              </p:cNvPr>
              <p:cNvSpPr txBox="1"/>
              <p:nvPr/>
            </p:nvSpPr>
            <p:spPr>
              <a:xfrm>
                <a:off x="2310365" y="2105410"/>
                <a:ext cx="1524118" cy="186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>
                    <a:solidFill>
                      <a:srgbClr val="484848"/>
                    </a:solidFill>
                    <a:latin typeface="Roboto"/>
                  </a:rPr>
                  <a:t>DINOv2, SSL4EO-S12</a:t>
                </a:r>
              </a:p>
            </p:txBody>
          </p:sp>
          <p:sp>
            <p:nvSpPr>
              <p:cNvPr id="17477" name="TextBox 17476">
                <a:extLst>
                  <a:ext uri="{FF2B5EF4-FFF2-40B4-BE49-F238E27FC236}">
                    <a16:creationId xmlns:a16="http://schemas.microsoft.com/office/drawing/2014/main" id="{0D965419-FA4A-6BB4-BDB8-863F7CE3ED7B}"/>
                  </a:ext>
                </a:extLst>
              </p:cNvPr>
              <p:cNvSpPr txBox="1"/>
              <p:nvPr/>
            </p:nvSpPr>
            <p:spPr>
              <a:xfrm>
                <a:off x="2310365" y="2291730"/>
                <a:ext cx="1524118" cy="186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>
                    <a:solidFill>
                      <a:srgbClr val="484848"/>
                    </a:solidFill>
                    <a:latin typeface="Roboto"/>
                  </a:rPr>
                  <a:t>for image, MSI, SAR;</a:t>
                </a:r>
              </a:p>
            </p:txBody>
          </p:sp>
          <p:sp>
            <p:nvSpPr>
              <p:cNvPr id="17478" name="TextBox 17477">
                <a:extLst>
                  <a:ext uri="{FF2B5EF4-FFF2-40B4-BE49-F238E27FC236}">
                    <a16:creationId xmlns:a16="http://schemas.microsoft.com/office/drawing/2014/main" id="{240CF381-7D90-6D66-E079-15796899FF27}"/>
                  </a:ext>
                </a:extLst>
              </p:cNvPr>
              <p:cNvSpPr txBox="1"/>
              <p:nvPr/>
            </p:nvSpPr>
            <p:spPr>
              <a:xfrm>
                <a:off x="2310365" y="2478049"/>
                <a:ext cx="1524118" cy="1862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>
                    <a:solidFill>
                      <a:srgbClr val="484848"/>
                    </a:solidFill>
                    <a:latin typeface="Roboto"/>
                  </a:rPr>
                  <a:t>ONNX on local CPU</a:t>
                </a:r>
              </a:p>
            </p:txBody>
          </p:sp>
        </p:grpSp>
      </p:grpSp>
      <p:pic>
        <p:nvPicPr>
          <p:cNvPr id="4" name="Picture 3" descr="GitHub - microsoft/onnxruntime: ONNX Runtime: cross-platform, high performance ML inferencing and training accelerator · GitHub">
            <a:extLst>
              <a:ext uri="{FF2B5EF4-FFF2-40B4-BE49-F238E27FC236}">
                <a16:creationId xmlns:a16="http://schemas.microsoft.com/office/drawing/2014/main" id="{FD0631A1-CDA7-528B-1CE4-4F2C0247592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55020" y="4354204"/>
            <a:ext cx="1265810" cy="632905"/>
          </a:xfrm>
          <a:prstGeom prst="rect">
            <a:avLst/>
          </a:prstGeom>
        </p:spPr>
      </p:pic>
      <p:pic>
        <p:nvPicPr>
          <p:cNvPr id="9" name="Picture 8" descr="How to Install and Configure PGVector - A Detailed Guide">
            <a:extLst>
              <a:ext uri="{FF2B5EF4-FFF2-40B4-BE49-F238E27FC236}">
                <a16:creationId xmlns:a16="http://schemas.microsoft.com/office/drawing/2014/main" id="{0BA7711D-DF91-69F6-D391-9EB7D821FE55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31852" t="3926" r="31431" b="10522"/>
          <a:stretch>
            <a:fillRect/>
          </a:stretch>
        </p:blipFill>
        <p:spPr>
          <a:xfrm>
            <a:off x="10087883" y="5396083"/>
            <a:ext cx="638272" cy="6509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1" name="Rectangle 17720">
            <a:extLst>
              <a:ext uri="{FF2B5EF4-FFF2-40B4-BE49-F238E27FC236}">
                <a16:creationId xmlns:a16="http://schemas.microsoft.com/office/drawing/2014/main" id="{C75D5D7D-EA2C-7E3D-2B29-299DB7933139}"/>
              </a:ext>
            </a:extLst>
          </p:cNvPr>
          <p:cNvSpPr/>
          <p:nvPr/>
        </p:nvSpPr>
        <p:spPr>
          <a:xfrm>
            <a:off x="2" y="-8369"/>
            <a:ext cx="12192000" cy="1143000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2710" y="-90863"/>
            <a:ext cx="12192000" cy="1186238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236004"/>
            <a:ext cx="1931646" cy="593328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Byte Bandits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-18093"/>
            <a:ext cx="2249850" cy="1062337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5806337-2163-43AA-01DC-93B599D09187}"/>
              </a:ext>
            </a:extLst>
          </p:cNvPr>
          <p:cNvCxnSpPr>
            <a:cxnSpLocks/>
          </p:cNvCxnSpPr>
          <p:nvPr/>
        </p:nvCxnSpPr>
        <p:spPr>
          <a:xfrm>
            <a:off x="3494661" y="1221310"/>
            <a:ext cx="0" cy="4852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484" name="Group 17483">
            <a:extLst>
              <a:ext uri="{FF2B5EF4-FFF2-40B4-BE49-F238E27FC236}">
                <a16:creationId xmlns:a16="http://schemas.microsoft.com/office/drawing/2014/main" id="{B70D9C91-5D50-23EF-57E4-B89D988E2DF8}"/>
              </a:ext>
            </a:extLst>
          </p:cNvPr>
          <p:cNvGrpSpPr/>
          <p:nvPr/>
        </p:nvGrpSpPr>
        <p:grpSpPr>
          <a:xfrm>
            <a:off x="3621883" y="1395050"/>
            <a:ext cx="5035265" cy="3419363"/>
            <a:chOff x="1714500" y="1056221"/>
            <a:chExt cx="5829300" cy="4573054"/>
          </a:xfrm>
        </p:grpSpPr>
        <p:sp>
          <p:nvSpPr>
            <p:cNvPr id="17486" name="Rounded Rectangle 2">
              <a:extLst>
                <a:ext uri="{FF2B5EF4-FFF2-40B4-BE49-F238E27FC236}">
                  <a16:creationId xmlns:a16="http://schemas.microsoft.com/office/drawing/2014/main" id="{EBE1B038-E67B-7144-5DA7-EA0029577ED8}"/>
                </a:ext>
              </a:extLst>
            </p:cNvPr>
            <p:cNvSpPr/>
            <p:nvPr/>
          </p:nvSpPr>
          <p:spPr>
            <a:xfrm>
              <a:off x="1714500" y="1743074"/>
              <a:ext cx="2628899" cy="685800"/>
            </a:xfrm>
            <a:custGeom>
              <a:avLst/>
              <a:gdLst/>
              <a:ahLst/>
              <a:cxnLst/>
              <a:rect l="0" t="0" r="0" b="0"/>
              <a:pathLst>
                <a:path w="2628900" h="685800">
                  <a:moveTo>
                    <a:pt x="0" y="342900"/>
                  </a:moveTo>
                  <a:cubicBezTo>
                    <a:pt x="0" y="469152"/>
                    <a:pt x="102347" y="571500"/>
                    <a:pt x="228600" y="571500"/>
                  </a:cubicBezTo>
                  <a:cubicBezTo>
                    <a:pt x="354852" y="571500"/>
                    <a:pt x="457200" y="469152"/>
                    <a:pt x="457200" y="342900"/>
                  </a:cubicBezTo>
                  <a:cubicBezTo>
                    <a:pt x="457200" y="216647"/>
                    <a:pt x="354852" y="114300"/>
                    <a:pt x="228600" y="114300"/>
                  </a:cubicBezTo>
                  <a:cubicBezTo>
                    <a:pt x="102347" y="114300"/>
                    <a:pt x="0" y="216647"/>
                    <a:pt x="0" y="342900"/>
                  </a:cubicBezTo>
                  <a:moveTo>
                    <a:pt x="228600" y="571500"/>
                  </a:moveTo>
                  <a:lnTo>
                    <a:pt x="228600" y="590550"/>
                  </a:lnTo>
                  <a:moveTo>
                    <a:pt x="2628900" y="590550"/>
                  </a:moveTo>
                  <a:lnTo>
                    <a:pt x="2628900" y="581025"/>
                  </a:lnTo>
                  <a:lnTo>
                    <a:pt x="2628900" y="571500"/>
                  </a:lnTo>
                  <a:moveTo>
                    <a:pt x="228600" y="114300"/>
                  </a:moveTo>
                  <a:lnTo>
                    <a:pt x="228600" y="95250"/>
                  </a:lnTo>
                  <a:cubicBezTo>
                    <a:pt x="228600" y="42645"/>
                    <a:pt x="271245" y="0"/>
                    <a:pt x="323850" y="0"/>
                  </a:cubicBezTo>
                  <a:lnTo>
                    <a:pt x="2533650" y="0"/>
                  </a:lnTo>
                  <a:cubicBezTo>
                    <a:pt x="2586254" y="0"/>
                    <a:pt x="2628900" y="42645"/>
                    <a:pt x="2628900" y="95250"/>
                  </a:cubicBezTo>
                  <a:lnTo>
                    <a:pt x="2628900" y="571500"/>
                  </a:lnTo>
                  <a:moveTo>
                    <a:pt x="228600" y="590550"/>
                  </a:moveTo>
                  <a:cubicBezTo>
                    <a:pt x="228600" y="643155"/>
                    <a:pt x="271245" y="685800"/>
                    <a:pt x="323850" y="685800"/>
                  </a:cubicBezTo>
                  <a:lnTo>
                    <a:pt x="2533650" y="685800"/>
                  </a:lnTo>
                  <a:cubicBezTo>
                    <a:pt x="2586254" y="685800"/>
                    <a:pt x="2628900" y="643155"/>
                    <a:pt x="2628900" y="590550"/>
                  </a:cubicBezTo>
                </a:path>
              </a:pathLst>
            </a:custGeom>
            <a:noFill/>
            <a:ln w="28575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7487" name="Group 17486">
              <a:extLst>
                <a:ext uri="{FF2B5EF4-FFF2-40B4-BE49-F238E27FC236}">
                  <a16:creationId xmlns:a16="http://schemas.microsoft.com/office/drawing/2014/main" id="{A02A50C3-47D0-D4D1-88FF-7B0105C1EF11}"/>
                </a:ext>
              </a:extLst>
            </p:cNvPr>
            <p:cNvGrpSpPr/>
            <p:nvPr/>
          </p:nvGrpSpPr>
          <p:grpSpPr>
            <a:xfrm>
              <a:off x="4457700" y="1998345"/>
              <a:ext cx="322896" cy="175260"/>
              <a:chOff x="3314700" y="1455420"/>
              <a:chExt cx="322896" cy="175260"/>
            </a:xfrm>
          </p:grpSpPr>
          <p:sp>
            <p:nvSpPr>
              <p:cNvPr id="17534" name="Rounded Rectangle 3">
                <a:extLst>
                  <a:ext uri="{FF2B5EF4-FFF2-40B4-BE49-F238E27FC236}">
                    <a16:creationId xmlns:a16="http://schemas.microsoft.com/office/drawing/2014/main" id="{6838EE65-BE96-85A6-08DC-ECE9CD5C9558}"/>
                  </a:ext>
                </a:extLst>
              </p:cNvPr>
              <p:cNvSpPr/>
              <p:nvPr/>
            </p:nvSpPr>
            <p:spPr>
              <a:xfrm>
                <a:off x="3314700" y="1543050"/>
                <a:ext cx="315944" cy="9525"/>
              </a:xfrm>
              <a:custGeom>
                <a:avLst/>
                <a:gdLst/>
                <a:ahLst/>
                <a:cxnLst/>
                <a:rect l="0" t="0" r="0" b="0"/>
                <a:pathLst>
                  <a:path w="315944" h="9525">
                    <a:moveTo>
                      <a:pt x="0" y="0"/>
                    </a:moveTo>
                    <a:lnTo>
                      <a:pt x="315944" y="0"/>
                    </a:lnTo>
                  </a:path>
                </a:pathLst>
              </a:custGeom>
              <a:noFill/>
              <a:ln w="28575">
                <a:solidFill>
                  <a:srgbClr val="384F61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535" name="Rounded Rectangle 4">
                <a:extLst>
                  <a:ext uri="{FF2B5EF4-FFF2-40B4-BE49-F238E27FC236}">
                    <a16:creationId xmlns:a16="http://schemas.microsoft.com/office/drawing/2014/main" id="{D64D07B9-B802-1B96-E8D8-68C1E7F08558}"/>
                  </a:ext>
                </a:extLst>
              </p:cNvPr>
              <p:cNvSpPr/>
              <p:nvPr/>
            </p:nvSpPr>
            <p:spPr>
              <a:xfrm>
                <a:off x="3549967" y="1455420"/>
                <a:ext cx="87629" cy="175260"/>
              </a:xfrm>
              <a:custGeom>
                <a:avLst/>
                <a:gdLst/>
                <a:ahLst/>
                <a:cxnLst/>
                <a:rect l="0" t="0" r="0" b="0"/>
                <a:pathLst>
                  <a:path w="87629" h="175259">
                    <a:moveTo>
                      <a:pt x="0" y="175259"/>
                    </a:moveTo>
                    <a:lnTo>
                      <a:pt x="87629" y="87629"/>
                    </a:ln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384F61"/>
                </a:solidFill>
              </a:ln>
            </p:spPr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488" name="Rounded Rectangle 6">
              <a:extLst>
                <a:ext uri="{FF2B5EF4-FFF2-40B4-BE49-F238E27FC236}">
                  <a16:creationId xmlns:a16="http://schemas.microsoft.com/office/drawing/2014/main" id="{6001B4A2-253C-3DAB-04F5-21230FA350F0}"/>
                </a:ext>
              </a:extLst>
            </p:cNvPr>
            <p:cNvSpPr/>
            <p:nvPr/>
          </p:nvSpPr>
          <p:spPr>
            <a:xfrm>
              <a:off x="4914901" y="1743074"/>
              <a:ext cx="2628899" cy="685800"/>
            </a:xfrm>
            <a:custGeom>
              <a:avLst/>
              <a:gdLst/>
              <a:ahLst/>
              <a:cxnLst/>
              <a:rect l="0" t="0" r="0" b="0"/>
              <a:pathLst>
                <a:path w="2628900" h="685800">
                  <a:moveTo>
                    <a:pt x="2400300" y="571500"/>
                  </a:moveTo>
                  <a:lnTo>
                    <a:pt x="2400300" y="590550"/>
                  </a:lnTo>
                  <a:moveTo>
                    <a:pt x="0" y="590550"/>
                  </a:moveTo>
                  <a:lnTo>
                    <a:pt x="0" y="581025"/>
                  </a:lnTo>
                  <a:lnTo>
                    <a:pt x="0" y="571500"/>
                  </a:lnTo>
                  <a:moveTo>
                    <a:pt x="2400300" y="114300"/>
                  </a:moveTo>
                  <a:lnTo>
                    <a:pt x="2400300" y="95250"/>
                  </a:lnTo>
                  <a:cubicBezTo>
                    <a:pt x="2400300" y="42645"/>
                    <a:pt x="2357654" y="0"/>
                    <a:pt x="2305050" y="0"/>
                  </a:cubicBezTo>
                  <a:lnTo>
                    <a:pt x="95250" y="0"/>
                  </a:lnTo>
                  <a:cubicBezTo>
                    <a:pt x="42645" y="0"/>
                    <a:pt x="0" y="42645"/>
                    <a:pt x="0" y="95250"/>
                  </a:cubicBezTo>
                  <a:lnTo>
                    <a:pt x="0" y="571500"/>
                  </a:lnTo>
                  <a:moveTo>
                    <a:pt x="2400300" y="590550"/>
                  </a:moveTo>
                  <a:cubicBezTo>
                    <a:pt x="2400300" y="643155"/>
                    <a:pt x="2357654" y="685800"/>
                    <a:pt x="2305050" y="685800"/>
                  </a:cubicBezTo>
                  <a:lnTo>
                    <a:pt x="95250" y="685800"/>
                  </a:lnTo>
                  <a:cubicBezTo>
                    <a:pt x="42645" y="685800"/>
                    <a:pt x="0" y="643155"/>
                    <a:pt x="0" y="590550"/>
                  </a:cubicBezTo>
                  <a:moveTo>
                    <a:pt x="2171700" y="342900"/>
                  </a:moveTo>
                  <a:cubicBezTo>
                    <a:pt x="2171700" y="469152"/>
                    <a:pt x="2274047" y="571500"/>
                    <a:pt x="2400300" y="571500"/>
                  </a:cubicBezTo>
                  <a:cubicBezTo>
                    <a:pt x="2526552" y="571500"/>
                    <a:pt x="2628900" y="469152"/>
                    <a:pt x="2628900" y="342900"/>
                  </a:cubicBezTo>
                  <a:cubicBezTo>
                    <a:pt x="2628900" y="216647"/>
                    <a:pt x="2526552" y="114300"/>
                    <a:pt x="2400300" y="114300"/>
                  </a:cubicBezTo>
                  <a:cubicBezTo>
                    <a:pt x="2274047" y="114300"/>
                    <a:pt x="2171700" y="216647"/>
                    <a:pt x="2171700" y="342900"/>
                  </a:cubicBezTo>
                </a:path>
              </a:pathLst>
            </a:custGeom>
            <a:noFill/>
            <a:ln w="28575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89" name="Rounded Rectangle 7">
              <a:extLst>
                <a:ext uri="{FF2B5EF4-FFF2-40B4-BE49-F238E27FC236}">
                  <a16:creationId xmlns:a16="http://schemas.microsoft.com/office/drawing/2014/main" id="{1BAD0B37-3B93-FCF2-E6A3-6230D188CF91}"/>
                </a:ext>
              </a:extLst>
            </p:cNvPr>
            <p:cNvSpPr/>
            <p:nvPr/>
          </p:nvSpPr>
          <p:spPr>
            <a:xfrm>
              <a:off x="1714500" y="2543176"/>
              <a:ext cx="2628899" cy="685800"/>
            </a:xfrm>
            <a:custGeom>
              <a:avLst/>
              <a:gdLst/>
              <a:ahLst/>
              <a:cxnLst/>
              <a:rect l="0" t="0" r="0" b="0"/>
              <a:pathLst>
                <a:path w="2628900" h="685800">
                  <a:moveTo>
                    <a:pt x="0" y="342900"/>
                  </a:moveTo>
                  <a:cubicBezTo>
                    <a:pt x="0" y="469152"/>
                    <a:pt x="102347" y="571500"/>
                    <a:pt x="228600" y="571500"/>
                  </a:cubicBezTo>
                  <a:cubicBezTo>
                    <a:pt x="354852" y="571500"/>
                    <a:pt x="457200" y="469152"/>
                    <a:pt x="457200" y="342900"/>
                  </a:cubicBezTo>
                  <a:cubicBezTo>
                    <a:pt x="457200" y="216647"/>
                    <a:pt x="354852" y="114300"/>
                    <a:pt x="228600" y="114300"/>
                  </a:cubicBezTo>
                  <a:cubicBezTo>
                    <a:pt x="102347" y="114300"/>
                    <a:pt x="0" y="216647"/>
                    <a:pt x="0" y="342900"/>
                  </a:cubicBezTo>
                  <a:moveTo>
                    <a:pt x="228600" y="571500"/>
                  </a:moveTo>
                  <a:lnTo>
                    <a:pt x="228600" y="590550"/>
                  </a:lnTo>
                  <a:moveTo>
                    <a:pt x="2628900" y="590550"/>
                  </a:moveTo>
                  <a:lnTo>
                    <a:pt x="2628900" y="581025"/>
                  </a:lnTo>
                  <a:lnTo>
                    <a:pt x="2628900" y="571500"/>
                  </a:lnTo>
                  <a:moveTo>
                    <a:pt x="228600" y="114300"/>
                  </a:moveTo>
                  <a:lnTo>
                    <a:pt x="228600" y="95250"/>
                  </a:lnTo>
                  <a:cubicBezTo>
                    <a:pt x="228600" y="42645"/>
                    <a:pt x="271245" y="0"/>
                    <a:pt x="323850" y="0"/>
                  </a:cubicBezTo>
                  <a:lnTo>
                    <a:pt x="2533650" y="0"/>
                  </a:lnTo>
                  <a:cubicBezTo>
                    <a:pt x="2586254" y="0"/>
                    <a:pt x="2628900" y="42645"/>
                    <a:pt x="2628900" y="95250"/>
                  </a:cubicBezTo>
                  <a:lnTo>
                    <a:pt x="2628900" y="571500"/>
                  </a:lnTo>
                  <a:moveTo>
                    <a:pt x="228600" y="590550"/>
                  </a:moveTo>
                  <a:cubicBezTo>
                    <a:pt x="228600" y="643155"/>
                    <a:pt x="271245" y="685800"/>
                    <a:pt x="323850" y="685800"/>
                  </a:cubicBezTo>
                  <a:lnTo>
                    <a:pt x="2533650" y="685800"/>
                  </a:lnTo>
                  <a:cubicBezTo>
                    <a:pt x="2586254" y="685800"/>
                    <a:pt x="2628900" y="643155"/>
                    <a:pt x="2628900" y="590550"/>
                  </a:cubicBezTo>
                </a:path>
              </a:pathLst>
            </a:custGeom>
            <a:noFill/>
            <a:ln w="28575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7490" name="Group 17489">
              <a:extLst>
                <a:ext uri="{FF2B5EF4-FFF2-40B4-BE49-F238E27FC236}">
                  <a16:creationId xmlns:a16="http://schemas.microsoft.com/office/drawing/2014/main" id="{3A15ABAE-5D44-AF71-03F1-F2A4911C556F}"/>
                </a:ext>
              </a:extLst>
            </p:cNvPr>
            <p:cNvGrpSpPr/>
            <p:nvPr/>
          </p:nvGrpSpPr>
          <p:grpSpPr>
            <a:xfrm>
              <a:off x="4457700" y="2798444"/>
              <a:ext cx="322896" cy="175259"/>
              <a:chOff x="3314700" y="2255519"/>
              <a:chExt cx="322896" cy="175259"/>
            </a:xfrm>
          </p:grpSpPr>
          <p:sp>
            <p:nvSpPr>
              <p:cNvPr id="17532" name="Rounded Rectangle 8">
                <a:extLst>
                  <a:ext uri="{FF2B5EF4-FFF2-40B4-BE49-F238E27FC236}">
                    <a16:creationId xmlns:a16="http://schemas.microsoft.com/office/drawing/2014/main" id="{CF46588A-6202-D94E-080C-5D32C6A1AA44}"/>
                  </a:ext>
                </a:extLst>
              </p:cNvPr>
              <p:cNvSpPr/>
              <p:nvPr/>
            </p:nvSpPr>
            <p:spPr>
              <a:xfrm>
                <a:off x="3314700" y="2343149"/>
                <a:ext cx="315945" cy="9525"/>
              </a:xfrm>
              <a:custGeom>
                <a:avLst/>
                <a:gdLst/>
                <a:ahLst/>
                <a:cxnLst/>
                <a:rect l="0" t="0" r="0" b="0"/>
                <a:pathLst>
                  <a:path w="315944" h="9525">
                    <a:moveTo>
                      <a:pt x="0" y="0"/>
                    </a:moveTo>
                    <a:lnTo>
                      <a:pt x="315944" y="0"/>
                    </a:lnTo>
                  </a:path>
                </a:pathLst>
              </a:custGeom>
              <a:noFill/>
              <a:ln w="28575">
                <a:solidFill>
                  <a:srgbClr val="384F61"/>
                </a:solidFill>
              </a:ln>
            </p:spPr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533" name="Rounded Rectangle 9">
                <a:extLst>
                  <a:ext uri="{FF2B5EF4-FFF2-40B4-BE49-F238E27FC236}">
                    <a16:creationId xmlns:a16="http://schemas.microsoft.com/office/drawing/2014/main" id="{919ADD69-8EBB-CDE2-681E-EB31579AC7BD}"/>
                  </a:ext>
                </a:extLst>
              </p:cNvPr>
              <p:cNvSpPr/>
              <p:nvPr/>
            </p:nvSpPr>
            <p:spPr>
              <a:xfrm>
                <a:off x="3549967" y="2255519"/>
                <a:ext cx="87629" cy="175259"/>
              </a:xfrm>
              <a:custGeom>
                <a:avLst/>
                <a:gdLst/>
                <a:ahLst/>
                <a:cxnLst/>
                <a:rect l="0" t="0" r="0" b="0"/>
                <a:pathLst>
                  <a:path w="87629" h="175259">
                    <a:moveTo>
                      <a:pt x="0" y="175259"/>
                    </a:moveTo>
                    <a:lnTo>
                      <a:pt x="87629" y="87629"/>
                    </a:ln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384F61"/>
                </a:solidFill>
              </a:ln>
            </p:spPr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491" name="Rounded Rectangle 11">
              <a:extLst>
                <a:ext uri="{FF2B5EF4-FFF2-40B4-BE49-F238E27FC236}">
                  <a16:creationId xmlns:a16="http://schemas.microsoft.com/office/drawing/2014/main" id="{51687A2E-5790-145A-2B76-82ACF4EE4780}"/>
                </a:ext>
              </a:extLst>
            </p:cNvPr>
            <p:cNvSpPr/>
            <p:nvPr/>
          </p:nvSpPr>
          <p:spPr>
            <a:xfrm>
              <a:off x="4914901" y="2543176"/>
              <a:ext cx="2628899" cy="685800"/>
            </a:xfrm>
            <a:custGeom>
              <a:avLst/>
              <a:gdLst/>
              <a:ahLst/>
              <a:cxnLst/>
              <a:rect l="0" t="0" r="0" b="0"/>
              <a:pathLst>
                <a:path w="2628900" h="685800">
                  <a:moveTo>
                    <a:pt x="2400300" y="571500"/>
                  </a:moveTo>
                  <a:lnTo>
                    <a:pt x="2400300" y="590550"/>
                  </a:lnTo>
                  <a:moveTo>
                    <a:pt x="0" y="590550"/>
                  </a:moveTo>
                  <a:lnTo>
                    <a:pt x="0" y="581025"/>
                  </a:lnTo>
                  <a:lnTo>
                    <a:pt x="0" y="571500"/>
                  </a:lnTo>
                  <a:moveTo>
                    <a:pt x="2400300" y="114300"/>
                  </a:moveTo>
                  <a:lnTo>
                    <a:pt x="2400300" y="95250"/>
                  </a:lnTo>
                  <a:cubicBezTo>
                    <a:pt x="2400300" y="42645"/>
                    <a:pt x="2357654" y="0"/>
                    <a:pt x="2305050" y="0"/>
                  </a:cubicBezTo>
                  <a:lnTo>
                    <a:pt x="95250" y="0"/>
                  </a:lnTo>
                  <a:cubicBezTo>
                    <a:pt x="42645" y="0"/>
                    <a:pt x="0" y="42645"/>
                    <a:pt x="0" y="95250"/>
                  </a:cubicBezTo>
                  <a:lnTo>
                    <a:pt x="0" y="571500"/>
                  </a:lnTo>
                  <a:moveTo>
                    <a:pt x="2400300" y="590550"/>
                  </a:moveTo>
                  <a:cubicBezTo>
                    <a:pt x="2400300" y="643155"/>
                    <a:pt x="2357654" y="685800"/>
                    <a:pt x="2305050" y="685800"/>
                  </a:cubicBezTo>
                  <a:lnTo>
                    <a:pt x="95250" y="685800"/>
                  </a:lnTo>
                  <a:cubicBezTo>
                    <a:pt x="42645" y="685800"/>
                    <a:pt x="0" y="643155"/>
                    <a:pt x="0" y="590550"/>
                  </a:cubicBezTo>
                  <a:moveTo>
                    <a:pt x="2171700" y="342900"/>
                  </a:moveTo>
                  <a:cubicBezTo>
                    <a:pt x="2171700" y="469152"/>
                    <a:pt x="2274047" y="571500"/>
                    <a:pt x="2400300" y="571500"/>
                  </a:cubicBezTo>
                  <a:cubicBezTo>
                    <a:pt x="2526552" y="571500"/>
                    <a:pt x="2628900" y="469152"/>
                    <a:pt x="2628900" y="342900"/>
                  </a:cubicBezTo>
                  <a:cubicBezTo>
                    <a:pt x="2628900" y="216647"/>
                    <a:pt x="2526552" y="114300"/>
                    <a:pt x="2400300" y="114300"/>
                  </a:cubicBezTo>
                  <a:cubicBezTo>
                    <a:pt x="2274047" y="114300"/>
                    <a:pt x="2171700" y="216647"/>
                    <a:pt x="2171700" y="342900"/>
                  </a:cubicBezTo>
                </a:path>
              </a:pathLst>
            </a:custGeom>
            <a:noFill/>
            <a:ln w="28575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92" name="Rounded Rectangle 12">
              <a:extLst>
                <a:ext uri="{FF2B5EF4-FFF2-40B4-BE49-F238E27FC236}">
                  <a16:creationId xmlns:a16="http://schemas.microsoft.com/office/drawing/2014/main" id="{B0BFF03D-B9BE-3603-F05A-4DF69423765A}"/>
                </a:ext>
              </a:extLst>
            </p:cNvPr>
            <p:cNvSpPr/>
            <p:nvPr/>
          </p:nvSpPr>
          <p:spPr>
            <a:xfrm>
              <a:off x="1714500" y="3343275"/>
              <a:ext cx="2628899" cy="685800"/>
            </a:xfrm>
            <a:custGeom>
              <a:avLst/>
              <a:gdLst/>
              <a:ahLst/>
              <a:cxnLst/>
              <a:rect l="0" t="0" r="0" b="0"/>
              <a:pathLst>
                <a:path w="2628900" h="685800">
                  <a:moveTo>
                    <a:pt x="0" y="342900"/>
                  </a:moveTo>
                  <a:cubicBezTo>
                    <a:pt x="0" y="469152"/>
                    <a:pt x="102347" y="571500"/>
                    <a:pt x="228600" y="571500"/>
                  </a:cubicBezTo>
                  <a:cubicBezTo>
                    <a:pt x="354852" y="571500"/>
                    <a:pt x="457200" y="469152"/>
                    <a:pt x="457200" y="342900"/>
                  </a:cubicBezTo>
                  <a:cubicBezTo>
                    <a:pt x="457200" y="216647"/>
                    <a:pt x="354852" y="114300"/>
                    <a:pt x="228600" y="114300"/>
                  </a:cubicBezTo>
                  <a:cubicBezTo>
                    <a:pt x="102347" y="114300"/>
                    <a:pt x="0" y="216647"/>
                    <a:pt x="0" y="342900"/>
                  </a:cubicBezTo>
                  <a:moveTo>
                    <a:pt x="228600" y="571500"/>
                  </a:moveTo>
                  <a:lnTo>
                    <a:pt x="228600" y="590550"/>
                  </a:lnTo>
                  <a:moveTo>
                    <a:pt x="2628900" y="590550"/>
                  </a:moveTo>
                  <a:lnTo>
                    <a:pt x="2628900" y="581025"/>
                  </a:lnTo>
                  <a:lnTo>
                    <a:pt x="2628900" y="571500"/>
                  </a:lnTo>
                  <a:moveTo>
                    <a:pt x="228600" y="114300"/>
                  </a:moveTo>
                  <a:lnTo>
                    <a:pt x="228600" y="95250"/>
                  </a:lnTo>
                  <a:cubicBezTo>
                    <a:pt x="228600" y="42645"/>
                    <a:pt x="271245" y="0"/>
                    <a:pt x="323850" y="0"/>
                  </a:cubicBezTo>
                  <a:lnTo>
                    <a:pt x="2533650" y="0"/>
                  </a:lnTo>
                  <a:cubicBezTo>
                    <a:pt x="2586254" y="0"/>
                    <a:pt x="2628900" y="42645"/>
                    <a:pt x="2628900" y="95250"/>
                  </a:cubicBezTo>
                  <a:lnTo>
                    <a:pt x="2628900" y="571500"/>
                  </a:lnTo>
                  <a:moveTo>
                    <a:pt x="228600" y="590550"/>
                  </a:moveTo>
                  <a:cubicBezTo>
                    <a:pt x="228600" y="643155"/>
                    <a:pt x="271245" y="685800"/>
                    <a:pt x="323850" y="685800"/>
                  </a:cubicBezTo>
                  <a:lnTo>
                    <a:pt x="2533650" y="685800"/>
                  </a:lnTo>
                  <a:cubicBezTo>
                    <a:pt x="2586254" y="685800"/>
                    <a:pt x="2628900" y="643155"/>
                    <a:pt x="2628900" y="590550"/>
                  </a:cubicBezTo>
                </a:path>
              </a:pathLst>
            </a:custGeom>
            <a:noFill/>
            <a:ln w="28575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7493" name="Group 17492">
              <a:extLst>
                <a:ext uri="{FF2B5EF4-FFF2-40B4-BE49-F238E27FC236}">
                  <a16:creationId xmlns:a16="http://schemas.microsoft.com/office/drawing/2014/main" id="{E9FA0BF7-03BF-0DAA-47B8-9B19AF56AE2F}"/>
                </a:ext>
              </a:extLst>
            </p:cNvPr>
            <p:cNvGrpSpPr/>
            <p:nvPr/>
          </p:nvGrpSpPr>
          <p:grpSpPr>
            <a:xfrm>
              <a:off x="4457700" y="3598545"/>
              <a:ext cx="322896" cy="175259"/>
              <a:chOff x="3314700" y="3055620"/>
              <a:chExt cx="322896" cy="175259"/>
            </a:xfrm>
          </p:grpSpPr>
          <p:sp>
            <p:nvSpPr>
              <p:cNvPr id="17530" name="Rounded Rectangle 13">
                <a:extLst>
                  <a:ext uri="{FF2B5EF4-FFF2-40B4-BE49-F238E27FC236}">
                    <a16:creationId xmlns:a16="http://schemas.microsoft.com/office/drawing/2014/main" id="{BDFDF3E4-0917-9730-5B51-FDE283321909}"/>
                  </a:ext>
                </a:extLst>
              </p:cNvPr>
              <p:cNvSpPr/>
              <p:nvPr/>
            </p:nvSpPr>
            <p:spPr>
              <a:xfrm>
                <a:off x="3314700" y="3143250"/>
                <a:ext cx="315944" cy="9525"/>
              </a:xfrm>
              <a:custGeom>
                <a:avLst/>
                <a:gdLst/>
                <a:ahLst/>
                <a:cxnLst/>
                <a:rect l="0" t="0" r="0" b="0"/>
                <a:pathLst>
                  <a:path w="315944" h="9525">
                    <a:moveTo>
                      <a:pt x="0" y="0"/>
                    </a:moveTo>
                    <a:lnTo>
                      <a:pt x="315944" y="0"/>
                    </a:lnTo>
                  </a:path>
                </a:pathLst>
              </a:custGeom>
              <a:noFill/>
              <a:ln w="28575">
                <a:solidFill>
                  <a:srgbClr val="384F61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531" name="Rounded Rectangle 14">
                <a:extLst>
                  <a:ext uri="{FF2B5EF4-FFF2-40B4-BE49-F238E27FC236}">
                    <a16:creationId xmlns:a16="http://schemas.microsoft.com/office/drawing/2014/main" id="{64B41D3A-4DC0-972A-D32F-82A0D9E98CC4}"/>
                  </a:ext>
                </a:extLst>
              </p:cNvPr>
              <p:cNvSpPr/>
              <p:nvPr/>
            </p:nvSpPr>
            <p:spPr>
              <a:xfrm>
                <a:off x="3549967" y="3055620"/>
                <a:ext cx="87629" cy="175259"/>
              </a:xfrm>
              <a:custGeom>
                <a:avLst/>
                <a:gdLst/>
                <a:ahLst/>
                <a:cxnLst/>
                <a:rect l="0" t="0" r="0" b="0"/>
                <a:pathLst>
                  <a:path w="87629" h="175259">
                    <a:moveTo>
                      <a:pt x="0" y="175259"/>
                    </a:moveTo>
                    <a:lnTo>
                      <a:pt x="87629" y="87629"/>
                    </a:ln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384F61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494" name="Rounded Rectangle 16">
              <a:extLst>
                <a:ext uri="{FF2B5EF4-FFF2-40B4-BE49-F238E27FC236}">
                  <a16:creationId xmlns:a16="http://schemas.microsoft.com/office/drawing/2014/main" id="{C927830B-5F99-D20F-B0B7-99934649E154}"/>
                </a:ext>
              </a:extLst>
            </p:cNvPr>
            <p:cNvSpPr/>
            <p:nvPr/>
          </p:nvSpPr>
          <p:spPr>
            <a:xfrm>
              <a:off x="4914900" y="3343275"/>
              <a:ext cx="2628900" cy="685800"/>
            </a:xfrm>
            <a:custGeom>
              <a:avLst/>
              <a:gdLst/>
              <a:ahLst/>
              <a:cxnLst/>
              <a:rect l="0" t="0" r="0" b="0"/>
              <a:pathLst>
                <a:path w="2628900" h="685800">
                  <a:moveTo>
                    <a:pt x="2400300" y="571500"/>
                  </a:moveTo>
                  <a:lnTo>
                    <a:pt x="2400300" y="590550"/>
                  </a:lnTo>
                  <a:moveTo>
                    <a:pt x="0" y="590550"/>
                  </a:moveTo>
                  <a:lnTo>
                    <a:pt x="0" y="581025"/>
                  </a:lnTo>
                  <a:lnTo>
                    <a:pt x="0" y="571500"/>
                  </a:lnTo>
                  <a:moveTo>
                    <a:pt x="2400300" y="114300"/>
                  </a:moveTo>
                  <a:lnTo>
                    <a:pt x="2400300" y="95250"/>
                  </a:lnTo>
                  <a:cubicBezTo>
                    <a:pt x="2400300" y="42645"/>
                    <a:pt x="2357654" y="0"/>
                    <a:pt x="2305050" y="0"/>
                  </a:cubicBezTo>
                  <a:lnTo>
                    <a:pt x="95250" y="0"/>
                  </a:lnTo>
                  <a:cubicBezTo>
                    <a:pt x="42645" y="0"/>
                    <a:pt x="0" y="42645"/>
                    <a:pt x="0" y="95250"/>
                  </a:cubicBezTo>
                  <a:lnTo>
                    <a:pt x="0" y="571500"/>
                  </a:lnTo>
                  <a:moveTo>
                    <a:pt x="2400300" y="590550"/>
                  </a:moveTo>
                  <a:cubicBezTo>
                    <a:pt x="2400300" y="643155"/>
                    <a:pt x="2357654" y="685800"/>
                    <a:pt x="2305050" y="685800"/>
                  </a:cubicBezTo>
                  <a:lnTo>
                    <a:pt x="95250" y="685800"/>
                  </a:lnTo>
                  <a:cubicBezTo>
                    <a:pt x="42645" y="685800"/>
                    <a:pt x="0" y="643155"/>
                    <a:pt x="0" y="590550"/>
                  </a:cubicBezTo>
                  <a:moveTo>
                    <a:pt x="2171700" y="342900"/>
                  </a:moveTo>
                  <a:cubicBezTo>
                    <a:pt x="2171700" y="469152"/>
                    <a:pt x="2274047" y="571500"/>
                    <a:pt x="2400300" y="571500"/>
                  </a:cubicBezTo>
                  <a:cubicBezTo>
                    <a:pt x="2526552" y="571500"/>
                    <a:pt x="2628900" y="469152"/>
                    <a:pt x="2628900" y="342900"/>
                  </a:cubicBezTo>
                  <a:cubicBezTo>
                    <a:pt x="2628900" y="216647"/>
                    <a:pt x="2526552" y="114300"/>
                    <a:pt x="2400300" y="114300"/>
                  </a:cubicBezTo>
                  <a:cubicBezTo>
                    <a:pt x="2274047" y="114300"/>
                    <a:pt x="2171700" y="216647"/>
                    <a:pt x="2171700" y="342900"/>
                  </a:cubicBezTo>
                </a:path>
              </a:pathLst>
            </a:custGeom>
            <a:noFill/>
            <a:ln w="28575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95" name="Rounded Rectangle 17">
              <a:extLst>
                <a:ext uri="{FF2B5EF4-FFF2-40B4-BE49-F238E27FC236}">
                  <a16:creationId xmlns:a16="http://schemas.microsoft.com/office/drawing/2014/main" id="{8637F44D-C3FD-52E1-1E46-5DC49B9C17A0}"/>
                </a:ext>
              </a:extLst>
            </p:cNvPr>
            <p:cNvSpPr/>
            <p:nvPr/>
          </p:nvSpPr>
          <p:spPr>
            <a:xfrm>
              <a:off x="1714500" y="4143375"/>
              <a:ext cx="2628899" cy="685800"/>
            </a:xfrm>
            <a:custGeom>
              <a:avLst/>
              <a:gdLst/>
              <a:ahLst/>
              <a:cxnLst/>
              <a:rect l="0" t="0" r="0" b="0"/>
              <a:pathLst>
                <a:path w="2628900" h="685800">
                  <a:moveTo>
                    <a:pt x="0" y="342900"/>
                  </a:moveTo>
                  <a:cubicBezTo>
                    <a:pt x="0" y="469152"/>
                    <a:pt x="102347" y="571500"/>
                    <a:pt x="228600" y="571500"/>
                  </a:cubicBezTo>
                  <a:cubicBezTo>
                    <a:pt x="354852" y="571500"/>
                    <a:pt x="457200" y="469152"/>
                    <a:pt x="457200" y="342900"/>
                  </a:cubicBezTo>
                  <a:cubicBezTo>
                    <a:pt x="457200" y="216647"/>
                    <a:pt x="354852" y="114300"/>
                    <a:pt x="228600" y="114300"/>
                  </a:cubicBezTo>
                  <a:cubicBezTo>
                    <a:pt x="102347" y="114300"/>
                    <a:pt x="0" y="216647"/>
                    <a:pt x="0" y="342900"/>
                  </a:cubicBezTo>
                  <a:moveTo>
                    <a:pt x="228600" y="571500"/>
                  </a:moveTo>
                  <a:lnTo>
                    <a:pt x="228600" y="590550"/>
                  </a:lnTo>
                  <a:moveTo>
                    <a:pt x="2628900" y="590550"/>
                  </a:moveTo>
                  <a:lnTo>
                    <a:pt x="2628900" y="581025"/>
                  </a:lnTo>
                  <a:lnTo>
                    <a:pt x="2628900" y="571500"/>
                  </a:lnTo>
                  <a:moveTo>
                    <a:pt x="228600" y="114300"/>
                  </a:moveTo>
                  <a:lnTo>
                    <a:pt x="228600" y="95250"/>
                  </a:lnTo>
                  <a:cubicBezTo>
                    <a:pt x="228600" y="42645"/>
                    <a:pt x="271245" y="0"/>
                    <a:pt x="323850" y="0"/>
                  </a:cubicBezTo>
                  <a:lnTo>
                    <a:pt x="2533650" y="0"/>
                  </a:lnTo>
                  <a:cubicBezTo>
                    <a:pt x="2586254" y="0"/>
                    <a:pt x="2628900" y="42645"/>
                    <a:pt x="2628900" y="95250"/>
                  </a:cubicBezTo>
                  <a:lnTo>
                    <a:pt x="2628900" y="571500"/>
                  </a:lnTo>
                  <a:moveTo>
                    <a:pt x="228600" y="590550"/>
                  </a:moveTo>
                  <a:cubicBezTo>
                    <a:pt x="228600" y="643155"/>
                    <a:pt x="271245" y="685800"/>
                    <a:pt x="323850" y="685800"/>
                  </a:cubicBezTo>
                  <a:lnTo>
                    <a:pt x="2533650" y="685800"/>
                  </a:lnTo>
                  <a:cubicBezTo>
                    <a:pt x="2586254" y="685800"/>
                    <a:pt x="2628900" y="643155"/>
                    <a:pt x="2628900" y="590550"/>
                  </a:cubicBezTo>
                </a:path>
              </a:pathLst>
            </a:custGeom>
            <a:noFill/>
            <a:ln w="28575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7496" name="Group 17495">
              <a:extLst>
                <a:ext uri="{FF2B5EF4-FFF2-40B4-BE49-F238E27FC236}">
                  <a16:creationId xmlns:a16="http://schemas.microsoft.com/office/drawing/2014/main" id="{9D453D7D-4C0F-81CD-8005-705ED03A4D48}"/>
                </a:ext>
              </a:extLst>
            </p:cNvPr>
            <p:cNvGrpSpPr/>
            <p:nvPr/>
          </p:nvGrpSpPr>
          <p:grpSpPr>
            <a:xfrm>
              <a:off x="4457700" y="4398645"/>
              <a:ext cx="322896" cy="175259"/>
              <a:chOff x="3314700" y="3855720"/>
              <a:chExt cx="322896" cy="175259"/>
            </a:xfrm>
          </p:grpSpPr>
          <p:sp>
            <p:nvSpPr>
              <p:cNvPr id="17528" name="Rounded Rectangle 18">
                <a:extLst>
                  <a:ext uri="{FF2B5EF4-FFF2-40B4-BE49-F238E27FC236}">
                    <a16:creationId xmlns:a16="http://schemas.microsoft.com/office/drawing/2014/main" id="{CEF13C6F-C39A-AA42-E394-9149E7FBE011}"/>
                  </a:ext>
                </a:extLst>
              </p:cNvPr>
              <p:cNvSpPr/>
              <p:nvPr/>
            </p:nvSpPr>
            <p:spPr>
              <a:xfrm>
                <a:off x="3314700" y="3943350"/>
                <a:ext cx="315944" cy="9525"/>
              </a:xfrm>
              <a:custGeom>
                <a:avLst/>
                <a:gdLst/>
                <a:ahLst/>
                <a:cxnLst/>
                <a:rect l="0" t="0" r="0" b="0"/>
                <a:pathLst>
                  <a:path w="315944" h="9525">
                    <a:moveTo>
                      <a:pt x="0" y="0"/>
                    </a:moveTo>
                    <a:lnTo>
                      <a:pt x="315944" y="0"/>
                    </a:lnTo>
                  </a:path>
                </a:pathLst>
              </a:custGeom>
              <a:noFill/>
              <a:ln w="28575">
                <a:solidFill>
                  <a:srgbClr val="384F61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529" name="Rounded Rectangle 19">
                <a:extLst>
                  <a:ext uri="{FF2B5EF4-FFF2-40B4-BE49-F238E27FC236}">
                    <a16:creationId xmlns:a16="http://schemas.microsoft.com/office/drawing/2014/main" id="{7532484D-9257-88C7-0320-CE864BC45D4F}"/>
                  </a:ext>
                </a:extLst>
              </p:cNvPr>
              <p:cNvSpPr/>
              <p:nvPr/>
            </p:nvSpPr>
            <p:spPr>
              <a:xfrm>
                <a:off x="3549967" y="3855720"/>
                <a:ext cx="87629" cy="175259"/>
              </a:xfrm>
              <a:custGeom>
                <a:avLst/>
                <a:gdLst/>
                <a:ahLst/>
                <a:cxnLst/>
                <a:rect l="0" t="0" r="0" b="0"/>
                <a:pathLst>
                  <a:path w="87629" h="175259">
                    <a:moveTo>
                      <a:pt x="0" y="175259"/>
                    </a:moveTo>
                    <a:lnTo>
                      <a:pt x="87629" y="87629"/>
                    </a:ln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384F61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497" name="Rounded Rectangle 21">
              <a:extLst>
                <a:ext uri="{FF2B5EF4-FFF2-40B4-BE49-F238E27FC236}">
                  <a16:creationId xmlns:a16="http://schemas.microsoft.com/office/drawing/2014/main" id="{E4680A74-2D7A-42C7-8576-57D9C1E47367}"/>
                </a:ext>
              </a:extLst>
            </p:cNvPr>
            <p:cNvSpPr/>
            <p:nvPr/>
          </p:nvSpPr>
          <p:spPr>
            <a:xfrm>
              <a:off x="4914900" y="4143375"/>
              <a:ext cx="2628900" cy="685800"/>
            </a:xfrm>
            <a:custGeom>
              <a:avLst/>
              <a:gdLst/>
              <a:ahLst/>
              <a:cxnLst/>
              <a:rect l="0" t="0" r="0" b="0"/>
              <a:pathLst>
                <a:path w="2628900" h="685800">
                  <a:moveTo>
                    <a:pt x="2400300" y="571500"/>
                  </a:moveTo>
                  <a:lnTo>
                    <a:pt x="2400300" y="590550"/>
                  </a:lnTo>
                  <a:moveTo>
                    <a:pt x="0" y="590550"/>
                  </a:moveTo>
                  <a:lnTo>
                    <a:pt x="0" y="581025"/>
                  </a:lnTo>
                  <a:lnTo>
                    <a:pt x="0" y="571500"/>
                  </a:lnTo>
                  <a:moveTo>
                    <a:pt x="2400300" y="114300"/>
                  </a:moveTo>
                  <a:lnTo>
                    <a:pt x="2400300" y="95250"/>
                  </a:lnTo>
                  <a:cubicBezTo>
                    <a:pt x="2400300" y="42645"/>
                    <a:pt x="2357654" y="0"/>
                    <a:pt x="2305050" y="0"/>
                  </a:cubicBezTo>
                  <a:lnTo>
                    <a:pt x="95250" y="0"/>
                  </a:lnTo>
                  <a:cubicBezTo>
                    <a:pt x="42645" y="0"/>
                    <a:pt x="0" y="42645"/>
                    <a:pt x="0" y="95250"/>
                  </a:cubicBezTo>
                  <a:lnTo>
                    <a:pt x="0" y="571500"/>
                  </a:lnTo>
                  <a:moveTo>
                    <a:pt x="2400300" y="590550"/>
                  </a:moveTo>
                  <a:cubicBezTo>
                    <a:pt x="2400300" y="643155"/>
                    <a:pt x="2357654" y="685800"/>
                    <a:pt x="2305050" y="685800"/>
                  </a:cubicBezTo>
                  <a:lnTo>
                    <a:pt x="95250" y="685800"/>
                  </a:lnTo>
                  <a:cubicBezTo>
                    <a:pt x="42645" y="685800"/>
                    <a:pt x="0" y="643155"/>
                    <a:pt x="0" y="590550"/>
                  </a:cubicBezTo>
                  <a:moveTo>
                    <a:pt x="2171700" y="342900"/>
                  </a:moveTo>
                  <a:cubicBezTo>
                    <a:pt x="2171700" y="469152"/>
                    <a:pt x="2274047" y="571500"/>
                    <a:pt x="2400300" y="571500"/>
                  </a:cubicBezTo>
                  <a:cubicBezTo>
                    <a:pt x="2526552" y="571500"/>
                    <a:pt x="2628900" y="469152"/>
                    <a:pt x="2628900" y="342900"/>
                  </a:cubicBezTo>
                  <a:cubicBezTo>
                    <a:pt x="2628900" y="216647"/>
                    <a:pt x="2526552" y="114300"/>
                    <a:pt x="2400300" y="114300"/>
                  </a:cubicBezTo>
                  <a:cubicBezTo>
                    <a:pt x="2274047" y="114300"/>
                    <a:pt x="2171700" y="216647"/>
                    <a:pt x="2171700" y="342900"/>
                  </a:cubicBezTo>
                </a:path>
              </a:pathLst>
            </a:custGeom>
            <a:noFill/>
            <a:ln w="28575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98" name="Rounded Rectangle 22">
              <a:extLst>
                <a:ext uri="{FF2B5EF4-FFF2-40B4-BE49-F238E27FC236}">
                  <a16:creationId xmlns:a16="http://schemas.microsoft.com/office/drawing/2014/main" id="{DBE2E981-CC3D-CD94-B1C4-B85FC1677CCE}"/>
                </a:ext>
              </a:extLst>
            </p:cNvPr>
            <p:cNvSpPr/>
            <p:nvPr/>
          </p:nvSpPr>
          <p:spPr>
            <a:xfrm>
              <a:off x="1714500" y="4943475"/>
              <a:ext cx="2628899" cy="685800"/>
            </a:xfrm>
            <a:custGeom>
              <a:avLst/>
              <a:gdLst/>
              <a:ahLst/>
              <a:cxnLst/>
              <a:rect l="0" t="0" r="0" b="0"/>
              <a:pathLst>
                <a:path w="2628900" h="685800">
                  <a:moveTo>
                    <a:pt x="0" y="342900"/>
                  </a:moveTo>
                  <a:cubicBezTo>
                    <a:pt x="0" y="469152"/>
                    <a:pt x="102347" y="571500"/>
                    <a:pt x="228600" y="571500"/>
                  </a:cubicBezTo>
                  <a:cubicBezTo>
                    <a:pt x="354852" y="571500"/>
                    <a:pt x="457200" y="469152"/>
                    <a:pt x="457200" y="342900"/>
                  </a:cubicBezTo>
                  <a:cubicBezTo>
                    <a:pt x="457200" y="216647"/>
                    <a:pt x="354852" y="114300"/>
                    <a:pt x="228600" y="114300"/>
                  </a:cubicBezTo>
                  <a:cubicBezTo>
                    <a:pt x="102347" y="114300"/>
                    <a:pt x="0" y="216647"/>
                    <a:pt x="0" y="342900"/>
                  </a:cubicBezTo>
                  <a:moveTo>
                    <a:pt x="228600" y="571500"/>
                  </a:moveTo>
                  <a:lnTo>
                    <a:pt x="228600" y="590550"/>
                  </a:lnTo>
                  <a:moveTo>
                    <a:pt x="2628900" y="590550"/>
                  </a:moveTo>
                  <a:lnTo>
                    <a:pt x="2628900" y="581025"/>
                  </a:lnTo>
                  <a:lnTo>
                    <a:pt x="2628900" y="571500"/>
                  </a:lnTo>
                  <a:moveTo>
                    <a:pt x="228600" y="114300"/>
                  </a:moveTo>
                  <a:lnTo>
                    <a:pt x="228600" y="95250"/>
                  </a:lnTo>
                  <a:cubicBezTo>
                    <a:pt x="228600" y="42645"/>
                    <a:pt x="271245" y="0"/>
                    <a:pt x="323850" y="0"/>
                  </a:cubicBezTo>
                  <a:lnTo>
                    <a:pt x="2533650" y="0"/>
                  </a:lnTo>
                  <a:cubicBezTo>
                    <a:pt x="2586254" y="0"/>
                    <a:pt x="2628900" y="42645"/>
                    <a:pt x="2628900" y="95250"/>
                  </a:cubicBezTo>
                  <a:lnTo>
                    <a:pt x="2628900" y="571500"/>
                  </a:lnTo>
                  <a:moveTo>
                    <a:pt x="228600" y="590550"/>
                  </a:moveTo>
                  <a:cubicBezTo>
                    <a:pt x="228600" y="643155"/>
                    <a:pt x="271245" y="685800"/>
                    <a:pt x="323850" y="685800"/>
                  </a:cubicBezTo>
                  <a:lnTo>
                    <a:pt x="2533650" y="685800"/>
                  </a:lnTo>
                  <a:cubicBezTo>
                    <a:pt x="2586254" y="685800"/>
                    <a:pt x="2628900" y="643155"/>
                    <a:pt x="2628900" y="590550"/>
                  </a:cubicBezTo>
                </a:path>
              </a:pathLst>
            </a:custGeom>
            <a:noFill/>
            <a:ln w="28575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7499" name="Group 17498">
              <a:extLst>
                <a:ext uri="{FF2B5EF4-FFF2-40B4-BE49-F238E27FC236}">
                  <a16:creationId xmlns:a16="http://schemas.microsoft.com/office/drawing/2014/main" id="{5D34E966-7555-D3EA-CA37-A8C1AC675DAE}"/>
                </a:ext>
              </a:extLst>
            </p:cNvPr>
            <p:cNvGrpSpPr/>
            <p:nvPr/>
          </p:nvGrpSpPr>
          <p:grpSpPr>
            <a:xfrm>
              <a:off x="4457700" y="5198745"/>
              <a:ext cx="322896" cy="175259"/>
              <a:chOff x="3314700" y="4655820"/>
              <a:chExt cx="322896" cy="175259"/>
            </a:xfrm>
          </p:grpSpPr>
          <p:sp>
            <p:nvSpPr>
              <p:cNvPr id="17526" name="Rounded Rectangle 23">
                <a:extLst>
                  <a:ext uri="{FF2B5EF4-FFF2-40B4-BE49-F238E27FC236}">
                    <a16:creationId xmlns:a16="http://schemas.microsoft.com/office/drawing/2014/main" id="{123F512D-3CCB-7850-5A9C-C6E00B81DF08}"/>
                  </a:ext>
                </a:extLst>
              </p:cNvPr>
              <p:cNvSpPr/>
              <p:nvPr/>
            </p:nvSpPr>
            <p:spPr>
              <a:xfrm>
                <a:off x="3314700" y="4743450"/>
                <a:ext cx="315944" cy="9525"/>
              </a:xfrm>
              <a:custGeom>
                <a:avLst/>
                <a:gdLst/>
                <a:ahLst/>
                <a:cxnLst/>
                <a:rect l="0" t="0" r="0" b="0"/>
                <a:pathLst>
                  <a:path w="315944" h="9525">
                    <a:moveTo>
                      <a:pt x="0" y="0"/>
                    </a:moveTo>
                    <a:lnTo>
                      <a:pt x="315944" y="0"/>
                    </a:lnTo>
                  </a:path>
                </a:pathLst>
              </a:custGeom>
              <a:noFill/>
              <a:ln w="28575">
                <a:solidFill>
                  <a:srgbClr val="384F61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527" name="Rounded Rectangle 24">
                <a:extLst>
                  <a:ext uri="{FF2B5EF4-FFF2-40B4-BE49-F238E27FC236}">
                    <a16:creationId xmlns:a16="http://schemas.microsoft.com/office/drawing/2014/main" id="{BE3B5A1C-06C8-816B-097A-D02CF59AFB2F}"/>
                  </a:ext>
                </a:extLst>
              </p:cNvPr>
              <p:cNvSpPr/>
              <p:nvPr/>
            </p:nvSpPr>
            <p:spPr>
              <a:xfrm>
                <a:off x="3549967" y="4655820"/>
                <a:ext cx="87629" cy="175259"/>
              </a:xfrm>
              <a:custGeom>
                <a:avLst/>
                <a:gdLst/>
                <a:ahLst/>
                <a:cxnLst/>
                <a:rect l="0" t="0" r="0" b="0"/>
                <a:pathLst>
                  <a:path w="87629" h="175259">
                    <a:moveTo>
                      <a:pt x="0" y="175259"/>
                    </a:moveTo>
                    <a:lnTo>
                      <a:pt x="87629" y="87629"/>
                    </a:ln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384F61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500" name="Rounded Rectangle 26">
              <a:extLst>
                <a:ext uri="{FF2B5EF4-FFF2-40B4-BE49-F238E27FC236}">
                  <a16:creationId xmlns:a16="http://schemas.microsoft.com/office/drawing/2014/main" id="{59CE7580-F78B-79D9-8FA1-D9FE2AE3EE32}"/>
                </a:ext>
              </a:extLst>
            </p:cNvPr>
            <p:cNvSpPr/>
            <p:nvPr/>
          </p:nvSpPr>
          <p:spPr>
            <a:xfrm>
              <a:off x="4914900" y="4943475"/>
              <a:ext cx="2628900" cy="685800"/>
            </a:xfrm>
            <a:custGeom>
              <a:avLst/>
              <a:gdLst/>
              <a:ahLst/>
              <a:cxnLst/>
              <a:rect l="0" t="0" r="0" b="0"/>
              <a:pathLst>
                <a:path w="2628900" h="685800">
                  <a:moveTo>
                    <a:pt x="2400300" y="571500"/>
                  </a:moveTo>
                  <a:lnTo>
                    <a:pt x="2400300" y="590550"/>
                  </a:lnTo>
                  <a:moveTo>
                    <a:pt x="0" y="590550"/>
                  </a:moveTo>
                  <a:lnTo>
                    <a:pt x="0" y="581025"/>
                  </a:lnTo>
                  <a:lnTo>
                    <a:pt x="0" y="571500"/>
                  </a:lnTo>
                  <a:moveTo>
                    <a:pt x="2400300" y="114300"/>
                  </a:moveTo>
                  <a:lnTo>
                    <a:pt x="2400300" y="95250"/>
                  </a:lnTo>
                  <a:cubicBezTo>
                    <a:pt x="2400300" y="42645"/>
                    <a:pt x="2357654" y="0"/>
                    <a:pt x="2305050" y="0"/>
                  </a:cubicBezTo>
                  <a:lnTo>
                    <a:pt x="95250" y="0"/>
                  </a:lnTo>
                  <a:cubicBezTo>
                    <a:pt x="42645" y="0"/>
                    <a:pt x="0" y="42645"/>
                    <a:pt x="0" y="95250"/>
                  </a:cubicBezTo>
                  <a:lnTo>
                    <a:pt x="0" y="571500"/>
                  </a:lnTo>
                  <a:moveTo>
                    <a:pt x="2400300" y="590550"/>
                  </a:moveTo>
                  <a:cubicBezTo>
                    <a:pt x="2400300" y="643155"/>
                    <a:pt x="2357654" y="685800"/>
                    <a:pt x="2305050" y="685800"/>
                  </a:cubicBezTo>
                  <a:lnTo>
                    <a:pt x="95250" y="685800"/>
                  </a:lnTo>
                  <a:cubicBezTo>
                    <a:pt x="42645" y="685800"/>
                    <a:pt x="0" y="643155"/>
                    <a:pt x="0" y="590550"/>
                  </a:cubicBezTo>
                  <a:moveTo>
                    <a:pt x="2171700" y="342900"/>
                  </a:moveTo>
                  <a:cubicBezTo>
                    <a:pt x="2171700" y="469152"/>
                    <a:pt x="2274047" y="571500"/>
                    <a:pt x="2400300" y="571500"/>
                  </a:cubicBezTo>
                  <a:cubicBezTo>
                    <a:pt x="2526552" y="571500"/>
                    <a:pt x="2628900" y="469152"/>
                    <a:pt x="2628900" y="342900"/>
                  </a:cubicBezTo>
                  <a:cubicBezTo>
                    <a:pt x="2628900" y="216647"/>
                    <a:pt x="2526552" y="114300"/>
                    <a:pt x="2400300" y="114300"/>
                  </a:cubicBezTo>
                  <a:cubicBezTo>
                    <a:pt x="2274047" y="114300"/>
                    <a:pt x="2171700" y="216647"/>
                    <a:pt x="2171700" y="342900"/>
                  </a:cubicBezTo>
                </a:path>
              </a:pathLst>
            </a:custGeom>
            <a:noFill/>
            <a:ln w="28575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01" name="Rounded Rectangle 27">
              <a:extLst>
                <a:ext uri="{FF2B5EF4-FFF2-40B4-BE49-F238E27FC236}">
                  <a16:creationId xmlns:a16="http://schemas.microsoft.com/office/drawing/2014/main" id="{04D54692-B0FA-4BFD-A860-F105C53CF44D}"/>
                </a:ext>
              </a:extLst>
            </p:cNvPr>
            <p:cNvSpPr/>
            <p:nvPr/>
          </p:nvSpPr>
          <p:spPr>
            <a:xfrm>
              <a:off x="7201566" y="2773737"/>
              <a:ext cx="227780" cy="226560"/>
            </a:xfrm>
            <a:custGeom>
              <a:avLst/>
              <a:gdLst/>
              <a:ahLst/>
              <a:cxnLst/>
              <a:rect l="0" t="0" r="0" b="0"/>
              <a:pathLst>
                <a:path w="227780" h="226561">
                  <a:moveTo>
                    <a:pt x="55816" y="86286"/>
                  </a:moveTo>
                  <a:cubicBezTo>
                    <a:pt x="55806" y="49148"/>
                    <a:pt x="85915" y="19030"/>
                    <a:pt x="123053" y="19030"/>
                  </a:cubicBezTo>
                  <a:cubicBezTo>
                    <a:pt x="160191" y="19030"/>
                    <a:pt x="190299" y="49148"/>
                    <a:pt x="190290" y="86286"/>
                  </a:cubicBezTo>
                  <a:cubicBezTo>
                    <a:pt x="190280" y="123415"/>
                    <a:pt x="160181" y="153504"/>
                    <a:pt x="123053" y="153504"/>
                  </a:cubicBezTo>
                  <a:cubicBezTo>
                    <a:pt x="85925" y="153504"/>
                    <a:pt x="55826" y="123415"/>
                    <a:pt x="55816" y="86286"/>
                  </a:cubicBezTo>
                  <a:moveTo>
                    <a:pt x="123062" y="9"/>
                  </a:moveTo>
                  <a:cubicBezTo>
                    <a:pt x="85267" y="9"/>
                    <a:pt x="51863" y="24603"/>
                    <a:pt x="40652" y="60702"/>
                  </a:cubicBezTo>
                  <a:cubicBezTo>
                    <a:pt x="29441" y="96802"/>
                    <a:pt x="43033" y="135988"/>
                    <a:pt x="74180" y="157400"/>
                  </a:cubicBezTo>
                  <a:cubicBezTo>
                    <a:pt x="105327" y="178812"/>
                    <a:pt x="146780" y="177460"/>
                    <a:pt x="176469" y="154066"/>
                  </a:cubicBezTo>
                  <a:lnTo>
                    <a:pt x="210816" y="187785"/>
                  </a:lnTo>
                  <a:cubicBezTo>
                    <a:pt x="213217" y="190290"/>
                    <a:pt x="216798" y="191300"/>
                    <a:pt x="220151" y="190404"/>
                  </a:cubicBezTo>
                  <a:cubicBezTo>
                    <a:pt x="223504" y="189509"/>
                    <a:pt x="226104" y="186861"/>
                    <a:pt x="226942" y="183489"/>
                  </a:cubicBezTo>
                  <a:cubicBezTo>
                    <a:pt x="227780" y="180117"/>
                    <a:pt x="226714" y="176555"/>
                    <a:pt x="224161" y="174202"/>
                  </a:cubicBezTo>
                  <a:lnTo>
                    <a:pt x="190042" y="140684"/>
                  </a:lnTo>
                  <a:cubicBezTo>
                    <a:pt x="211026" y="114852"/>
                    <a:pt x="215274" y="79248"/>
                    <a:pt x="200967" y="49196"/>
                  </a:cubicBezTo>
                  <a:cubicBezTo>
                    <a:pt x="186661" y="19145"/>
                    <a:pt x="156343" y="0"/>
                    <a:pt x="123062" y="0"/>
                  </a:cubicBezTo>
                  <a:moveTo>
                    <a:pt x="0" y="50349"/>
                  </a:moveTo>
                  <a:cubicBezTo>
                    <a:pt x="0" y="34613"/>
                    <a:pt x="12839" y="21774"/>
                    <a:pt x="28575" y="21774"/>
                  </a:cubicBezTo>
                  <a:cubicBezTo>
                    <a:pt x="33832" y="21774"/>
                    <a:pt x="38100" y="26041"/>
                    <a:pt x="38100" y="31299"/>
                  </a:cubicBezTo>
                  <a:cubicBezTo>
                    <a:pt x="38100" y="36556"/>
                    <a:pt x="33832" y="40824"/>
                    <a:pt x="28575" y="40824"/>
                  </a:cubicBezTo>
                  <a:cubicBezTo>
                    <a:pt x="23355" y="40824"/>
                    <a:pt x="19050" y="45129"/>
                    <a:pt x="19050" y="50349"/>
                  </a:cubicBezTo>
                  <a:lnTo>
                    <a:pt x="19050" y="197986"/>
                  </a:lnTo>
                  <a:cubicBezTo>
                    <a:pt x="19050" y="203206"/>
                    <a:pt x="23355" y="207511"/>
                    <a:pt x="28575" y="207511"/>
                  </a:cubicBezTo>
                  <a:lnTo>
                    <a:pt x="123825" y="207511"/>
                  </a:lnTo>
                  <a:cubicBezTo>
                    <a:pt x="129044" y="207511"/>
                    <a:pt x="133350" y="203206"/>
                    <a:pt x="133350" y="197986"/>
                  </a:cubicBezTo>
                  <a:lnTo>
                    <a:pt x="133350" y="196938"/>
                  </a:lnTo>
                  <a:cubicBezTo>
                    <a:pt x="133350" y="191681"/>
                    <a:pt x="137617" y="187413"/>
                    <a:pt x="142875" y="187413"/>
                  </a:cubicBezTo>
                  <a:cubicBezTo>
                    <a:pt x="148132" y="187413"/>
                    <a:pt x="152400" y="191681"/>
                    <a:pt x="152400" y="196938"/>
                  </a:cubicBezTo>
                  <a:lnTo>
                    <a:pt x="152400" y="197986"/>
                  </a:lnTo>
                  <a:cubicBezTo>
                    <a:pt x="152400" y="213721"/>
                    <a:pt x="139560" y="226561"/>
                    <a:pt x="123825" y="226561"/>
                  </a:cubicBezTo>
                  <a:lnTo>
                    <a:pt x="28575" y="226561"/>
                  </a:lnTo>
                  <a:cubicBezTo>
                    <a:pt x="12839" y="226561"/>
                    <a:pt x="0" y="213721"/>
                    <a:pt x="0" y="197986"/>
                  </a:cubicBezTo>
                  <a:lnTo>
                    <a:pt x="0" y="50349"/>
                  </a:lnTo>
                  <a:moveTo>
                    <a:pt x="115938" y="33318"/>
                  </a:moveTo>
                  <a:cubicBezTo>
                    <a:pt x="110680" y="33318"/>
                    <a:pt x="106413" y="37585"/>
                    <a:pt x="106413" y="42843"/>
                  </a:cubicBezTo>
                  <a:cubicBezTo>
                    <a:pt x="106413" y="48101"/>
                    <a:pt x="110680" y="52368"/>
                    <a:pt x="115938" y="52368"/>
                  </a:cubicBezTo>
                  <a:lnTo>
                    <a:pt x="132721" y="52368"/>
                  </a:lnTo>
                  <a:cubicBezTo>
                    <a:pt x="138455" y="52406"/>
                    <a:pt x="143094" y="57045"/>
                    <a:pt x="143132" y="62779"/>
                  </a:cubicBezTo>
                  <a:lnTo>
                    <a:pt x="143132" y="120815"/>
                  </a:lnTo>
                  <a:cubicBezTo>
                    <a:pt x="143132" y="126072"/>
                    <a:pt x="147399" y="130340"/>
                    <a:pt x="152657" y="130340"/>
                  </a:cubicBezTo>
                  <a:cubicBezTo>
                    <a:pt x="157914" y="130340"/>
                    <a:pt x="162182" y="126072"/>
                    <a:pt x="162182" y="120815"/>
                  </a:cubicBezTo>
                  <a:lnTo>
                    <a:pt x="162182" y="62779"/>
                  </a:lnTo>
                  <a:cubicBezTo>
                    <a:pt x="162144" y="46520"/>
                    <a:pt x="148980" y="33356"/>
                    <a:pt x="132721" y="33318"/>
                  </a:cubicBezTo>
                  <a:lnTo>
                    <a:pt x="115938" y="33318"/>
                  </a:lnTo>
                  <a:moveTo>
                    <a:pt x="86610" y="112337"/>
                  </a:moveTo>
                  <a:cubicBezTo>
                    <a:pt x="86610" y="117595"/>
                    <a:pt x="90878" y="121862"/>
                    <a:pt x="96135" y="121862"/>
                  </a:cubicBezTo>
                  <a:lnTo>
                    <a:pt x="116081" y="121862"/>
                  </a:lnTo>
                  <a:cubicBezTo>
                    <a:pt x="121338" y="121862"/>
                    <a:pt x="125606" y="117595"/>
                    <a:pt x="125606" y="112337"/>
                  </a:cubicBezTo>
                  <a:cubicBezTo>
                    <a:pt x="125606" y="107080"/>
                    <a:pt x="121338" y="102812"/>
                    <a:pt x="116081" y="102812"/>
                  </a:cubicBezTo>
                  <a:lnTo>
                    <a:pt x="96135" y="102812"/>
                  </a:lnTo>
                  <a:cubicBezTo>
                    <a:pt x="90878" y="102812"/>
                    <a:pt x="86610" y="107080"/>
                    <a:pt x="86610" y="112337"/>
                  </a:cubicBezTo>
                  <a:moveTo>
                    <a:pt x="86172" y="68332"/>
                  </a:moveTo>
                  <a:cubicBezTo>
                    <a:pt x="80914" y="68332"/>
                    <a:pt x="76647" y="72599"/>
                    <a:pt x="76647" y="77857"/>
                  </a:cubicBezTo>
                  <a:cubicBezTo>
                    <a:pt x="76647" y="83115"/>
                    <a:pt x="80914" y="87382"/>
                    <a:pt x="86172" y="87382"/>
                  </a:cubicBezTo>
                  <a:lnTo>
                    <a:pt x="116081" y="87382"/>
                  </a:lnTo>
                  <a:cubicBezTo>
                    <a:pt x="121338" y="87382"/>
                    <a:pt x="125606" y="83115"/>
                    <a:pt x="125606" y="77857"/>
                  </a:cubicBezTo>
                  <a:cubicBezTo>
                    <a:pt x="125606" y="72599"/>
                    <a:pt x="121338" y="68332"/>
                    <a:pt x="116081" y="68332"/>
                  </a:cubicBezTo>
                  <a:lnTo>
                    <a:pt x="86172" y="68332"/>
                  </a:lnTo>
                </a:path>
              </a:pathLst>
            </a:custGeom>
            <a:solidFill>
              <a:srgbClr val="384F6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02" name="Rounded Rectangle 28">
              <a:extLst>
                <a:ext uri="{FF2B5EF4-FFF2-40B4-BE49-F238E27FC236}">
                  <a16:creationId xmlns:a16="http://schemas.microsoft.com/office/drawing/2014/main" id="{351A90E9-EA58-493C-6ADC-5D640BD41BA2}"/>
                </a:ext>
              </a:extLst>
            </p:cNvPr>
            <p:cNvSpPr/>
            <p:nvPr/>
          </p:nvSpPr>
          <p:spPr>
            <a:xfrm>
              <a:off x="1828742" y="3570903"/>
              <a:ext cx="229628" cy="229629"/>
            </a:xfrm>
            <a:custGeom>
              <a:avLst/>
              <a:gdLst/>
              <a:ahLst/>
              <a:cxnLst/>
              <a:rect l="0" t="0" r="0" b="0"/>
              <a:pathLst>
                <a:path w="229628" h="229628">
                  <a:moveTo>
                    <a:pt x="225894" y="17259"/>
                  </a:moveTo>
                  <a:cubicBezTo>
                    <a:pt x="229628" y="13525"/>
                    <a:pt x="229628" y="7467"/>
                    <a:pt x="225894" y="3733"/>
                  </a:cubicBezTo>
                  <a:cubicBezTo>
                    <a:pt x="222161" y="0"/>
                    <a:pt x="216103" y="0"/>
                    <a:pt x="212369" y="3733"/>
                  </a:cubicBezTo>
                  <a:lnTo>
                    <a:pt x="200082" y="16116"/>
                  </a:lnTo>
                  <a:lnTo>
                    <a:pt x="200082" y="10496"/>
                  </a:lnTo>
                  <a:cubicBezTo>
                    <a:pt x="200082" y="5238"/>
                    <a:pt x="195814" y="971"/>
                    <a:pt x="190557" y="971"/>
                  </a:cubicBezTo>
                  <a:cubicBezTo>
                    <a:pt x="185299" y="971"/>
                    <a:pt x="181032" y="5238"/>
                    <a:pt x="181032" y="10496"/>
                  </a:cubicBezTo>
                  <a:lnTo>
                    <a:pt x="181032" y="29546"/>
                  </a:lnTo>
                  <a:lnTo>
                    <a:pt x="123882" y="29546"/>
                  </a:lnTo>
                  <a:lnTo>
                    <a:pt x="123882" y="10496"/>
                  </a:lnTo>
                  <a:cubicBezTo>
                    <a:pt x="123882" y="5238"/>
                    <a:pt x="119614" y="971"/>
                    <a:pt x="114357" y="971"/>
                  </a:cubicBezTo>
                  <a:cubicBezTo>
                    <a:pt x="109099" y="971"/>
                    <a:pt x="104832" y="5238"/>
                    <a:pt x="104832" y="10496"/>
                  </a:cubicBezTo>
                  <a:lnTo>
                    <a:pt x="104832" y="29546"/>
                  </a:lnTo>
                  <a:lnTo>
                    <a:pt x="47682" y="29546"/>
                  </a:lnTo>
                  <a:lnTo>
                    <a:pt x="47682" y="10496"/>
                  </a:lnTo>
                  <a:cubicBezTo>
                    <a:pt x="47682" y="5238"/>
                    <a:pt x="43414" y="971"/>
                    <a:pt x="38157" y="971"/>
                  </a:cubicBezTo>
                  <a:cubicBezTo>
                    <a:pt x="32899" y="971"/>
                    <a:pt x="28632" y="5238"/>
                    <a:pt x="28632" y="10496"/>
                  </a:cubicBezTo>
                  <a:lnTo>
                    <a:pt x="28632" y="29546"/>
                  </a:lnTo>
                  <a:lnTo>
                    <a:pt x="9582" y="29546"/>
                  </a:lnTo>
                  <a:cubicBezTo>
                    <a:pt x="4324" y="29546"/>
                    <a:pt x="57" y="33813"/>
                    <a:pt x="57" y="39071"/>
                  </a:cubicBezTo>
                  <a:cubicBezTo>
                    <a:pt x="57" y="44329"/>
                    <a:pt x="4324" y="48596"/>
                    <a:pt x="9582" y="48596"/>
                  </a:cubicBezTo>
                  <a:lnTo>
                    <a:pt x="28632" y="48596"/>
                  </a:lnTo>
                  <a:lnTo>
                    <a:pt x="28632" y="105746"/>
                  </a:lnTo>
                  <a:lnTo>
                    <a:pt x="9582" y="105746"/>
                  </a:lnTo>
                  <a:cubicBezTo>
                    <a:pt x="4324" y="105746"/>
                    <a:pt x="57" y="110013"/>
                    <a:pt x="57" y="115271"/>
                  </a:cubicBezTo>
                  <a:cubicBezTo>
                    <a:pt x="57" y="120529"/>
                    <a:pt x="4324" y="124796"/>
                    <a:pt x="9582" y="124796"/>
                  </a:cubicBezTo>
                  <a:lnTo>
                    <a:pt x="28632" y="124796"/>
                  </a:lnTo>
                  <a:lnTo>
                    <a:pt x="28632" y="181946"/>
                  </a:lnTo>
                  <a:lnTo>
                    <a:pt x="9582" y="181946"/>
                  </a:lnTo>
                  <a:cubicBezTo>
                    <a:pt x="4324" y="181946"/>
                    <a:pt x="57" y="186213"/>
                    <a:pt x="57" y="191471"/>
                  </a:cubicBezTo>
                  <a:cubicBezTo>
                    <a:pt x="57" y="196729"/>
                    <a:pt x="4324" y="200996"/>
                    <a:pt x="9582" y="200996"/>
                  </a:cubicBezTo>
                  <a:lnTo>
                    <a:pt x="15201" y="200996"/>
                  </a:lnTo>
                  <a:lnTo>
                    <a:pt x="2819" y="213283"/>
                  </a:lnTo>
                  <a:cubicBezTo>
                    <a:pt x="1019" y="215074"/>
                    <a:pt x="0" y="217503"/>
                    <a:pt x="0" y="220046"/>
                  </a:cubicBezTo>
                  <a:cubicBezTo>
                    <a:pt x="0" y="222589"/>
                    <a:pt x="1019" y="225018"/>
                    <a:pt x="2819" y="226809"/>
                  </a:cubicBezTo>
                  <a:cubicBezTo>
                    <a:pt x="4610" y="228609"/>
                    <a:pt x="7038" y="229628"/>
                    <a:pt x="9582" y="229628"/>
                  </a:cubicBezTo>
                  <a:cubicBezTo>
                    <a:pt x="12125" y="229628"/>
                    <a:pt x="14554" y="228609"/>
                    <a:pt x="16344" y="226809"/>
                  </a:cubicBezTo>
                  <a:lnTo>
                    <a:pt x="225894" y="17259"/>
                  </a:lnTo>
                  <a:moveTo>
                    <a:pt x="167601" y="48596"/>
                  </a:moveTo>
                  <a:lnTo>
                    <a:pt x="123882" y="92316"/>
                  </a:lnTo>
                  <a:lnTo>
                    <a:pt x="123882" y="48596"/>
                  </a:lnTo>
                  <a:lnTo>
                    <a:pt x="167601" y="48596"/>
                  </a:lnTo>
                  <a:moveTo>
                    <a:pt x="47682" y="48596"/>
                  </a:moveTo>
                  <a:lnTo>
                    <a:pt x="104832" y="48596"/>
                  </a:lnTo>
                  <a:lnTo>
                    <a:pt x="104832" y="105746"/>
                  </a:lnTo>
                  <a:lnTo>
                    <a:pt x="47682" y="105746"/>
                  </a:lnTo>
                  <a:lnTo>
                    <a:pt x="47682" y="48596"/>
                  </a:lnTo>
                  <a:moveTo>
                    <a:pt x="91401" y="124796"/>
                  </a:moveTo>
                  <a:lnTo>
                    <a:pt x="47682" y="168516"/>
                  </a:lnTo>
                  <a:lnTo>
                    <a:pt x="47682" y="124796"/>
                  </a:lnTo>
                  <a:lnTo>
                    <a:pt x="91401" y="124796"/>
                  </a:lnTo>
                  <a:moveTo>
                    <a:pt x="219132" y="124796"/>
                  </a:moveTo>
                  <a:lnTo>
                    <a:pt x="200082" y="124796"/>
                  </a:lnTo>
                  <a:lnTo>
                    <a:pt x="200082" y="181946"/>
                  </a:lnTo>
                  <a:lnTo>
                    <a:pt x="219132" y="181946"/>
                  </a:lnTo>
                  <a:cubicBezTo>
                    <a:pt x="224389" y="181946"/>
                    <a:pt x="228657" y="186213"/>
                    <a:pt x="228657" y="191471"/>
                  </a:cubicBezTo>
                  <a:cubicBezTo>
                    <a:pt x="228657" y="196729"/>
                    <a:pt x="224389" y="200996"/>
                    <a:pt x="219132" y="200996"/>
                  </a:cubicBezTo>
                  <a:lnTo>
                    <a:pt x="200082" y="200996"/>
                  </a:lnTo>
                  <a:lnTo>
                    <a:pt x="200082" y="220046"/>
                  </a:lnTo>
                  <a:cubicBezTo>
                    <a:pt x="200082" y="225304"/>
                    <a:pt x="195814" y="229571"/>
                    <a:pt x="190557" y="229571"/>
                  </a:cubicBezTo>
                  <a:cubicBezTo>
                    <a:pt x="185299" y="229571"/>
                    <a:pt x="181032" y="225304"/>
                    <a:pt x="181032" y="220046"/>
                  </a:cubicBezTo>
                  <a:lnTo>
                    <a:pt x="181032" y="200996"/>
                  </a:lnTo>
                  <a:lnTo>
                    <a:pt x="123882" y="200996"/>
                  </a:lnTo>
                  <a:lnTo>
                    <a:pt x="123882" y="220046"/>
                  </a:lnTo>
                  <a:cubicBezTo>
                    <a:pt x="123882" y="225304"/>
                    <a:pt x="119614" y="229571"/>
                    <a:pt x="114357" y="229571"/>
                  </a:cubicBezTo>
                  <a:cubicBezTo>
                    <a:pt x="109099" y="229571"/>
                    <a:pt x="104832" y="225304"/>
                    <a:pt x="104832" y="220046"/>
                  </a:cubicBezTo>
                  <a:lnTo>
                    <a:pt x="104832" y="200996"/>
                  </a:lnTo>
                  <a:lnTo>
                    <a:pt x="90544" y="200996"/>
                  </a:lnTo>
                  <a:cubicBezTo>
                    <a:pt x="85286" y="200996"/>
                    <a:pt x="81019" y="196729"/>
                    <a:pt x="81019" y="191471"/>
                  </a:cubicBezTo>
                  <a:cubicBezTo>
                    <a:pt x="81019" y="186213"/>
                    <a:pt x="85286" y="181946"/>
                    <a:pt x="90544" y="181946"/>
                  </a:cubicBezTo>
                  <a:lnTo>
                    <a:pt x="104832" y="181946"/>
                  </a:lnTo>
                  <a:lnTo>
                    <a:pt x="104832" y="167659"/>
                  </a:lnTo>
                  <a:cubicBezTo>
                    <a:pt x="104832" y="162401"/>
                    <a:pt x="109099" y="158134"/>
                    <a:pt x="114357" y="158134"/>
                  </a:cubicBezTo>
                  <a:cubicBezTo>
                    <a:pt x="119614" y="158134"/>
                    <a:pt x="123882" y="162401"/>
                    <a:pt x="123882" y="167659"/>
                  </a:cubicBezTo>
                  <a:lnTo>
                    <a:pt x="123882" y="181946"/>
                  </a:lnTo>
                  <a:lnTo>
                    <a:pt x="181032" y="181946"/>
                  </a:lnTo>
                  <a:lnTo>
                    <a:pt x="181032" y="124796"/>
                  </a:lnTo>
                  <a:lnTo>
                    <a:pt x="166744" y="124796"/>
                  </a:lnTo>
                  <a:cubicBezTo>
                    <a:pt x="161486" y="124796"/>
                    <a:pt x="157219" y="120529"/>
                    <a:pt x="157219" y="115271"/>
                  </a:cubicBezTo>
                  <a:cubicBezTo>
                    <a:pt x="157219" y="110013"/>
                    <a:pt x="161486" y="105746"/>
                    <a:pt x="166744" y="105746"/>
                  </a:cubicBezTo>
                  <a:lnTo>
                    <a:pt x="181032" y="105746"/>
                  </a:lnTo>
                  <a:lnTo>
                    <a:pt x="181032" y="91459"/>
                  </a:lnTo>
                  <a:cubicBezTo>
                    <a:pt x="181032" y="86201"/>
                    <a:pt x="185299" y="81934"/>
                    <a:pt x="190557" y="81934"/>
                  </a:cubicBezTo>
                  <a:cubicBezTo>
                    <a:pt x="195814" y="81934"/>
                    <a:pt x="200082" y="86201"/>
                    <a:pt x="200082" y="91459"/>
                  </a:cubicBezTo>
                  <a:lnTo>
                    <a:pt x="200082" y="105746"/>
                  </a:lnTo>
                  <a:lnTo>
                    <a:pt x="219132" y="105746"/>
                  </a:lnTo>
                  <a:cubicBezTo>
                    <a:pt x="224389" y="105746"/>
                    <a:pt x="228657" y="110013"/>
                    <a:pt x="228657" y="115271"/>
                  </a:cubicBezTo>
                  <a:cubicBezTo>
                    <a:pt x="228657" y="120529"/>
                    <a:pt x="224389" y="124796"/>
                    <a:pt x="219132" y="124796"/>
                  </a:cubicBezTo>
                </a:path>
              </a:pathLst>
            </a:custGeom>
            <a:solidFill>
              <a:srgbClr val="384F6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03" name="Rounded Rectangle 29">
              <a:extLst>
                <a:ext uri="{FF2B5EF4-FFF2-40B4-BE49-F238E27FC236}">
                  <a16:creationId xmlns:a16="http://schemas.microsoft.com/office/drawing/2014/main" id="{8E3E7FA2-A789-7595-04D1-6093B59ED5F6}"/>
                </a:ext>
              </a:extLst>
            </p:cNvPr>
            <p:cNvSpPr/>
            <p:nvPr/>
          </p:nvSpPr>
          <p:spPr>
            <a:xfrm>
              <a:off x="7203224" y="1972779"/>
              <a:ext cx="223951" cy="226580"/>
            </a:xfrm>
            <a:custGeom>
              <a:avLst/>
              <a:gdLst/>
              <a:ahLst/>
              <a:cxnLst/>
              <a:rect l="0" t="0" r="0" b="0"/>
              <a:pathLst>
                <a:path w="223951" h="226580">
                  <a:moveTo>
                    <a:pt x="8724" y="69380"/>
                  </a:moveTo>
                  <a:lnTo>
                    <a:pt x="100545" y="109289"/>
                  </a:lnTo>
                  <a:cubicBezTo>
                    <a:pt x="107832" y="112471"/>
                    <a:pt x="116119" y="112471"/>
                    <a:pt x="123405" y="109289"/>
                  </a:cubicBezTo>
                  <a:lnTo>
                    <a:pt x="215322" y="69380"/>
                  </a:lnTo>
                  <a:cubicBezTo>
                    <a:pt x="220579" y="67036"/>
                    <a:pt x="223942" y="61798"/>
                    <a:pt x="223894" y="56045"/>
                  </a:cubicBezTo>
                  <a:cubicBezTo>
                    <a:pt x="223913" y="50339"/>
                    <a:pt x="220494" y="45196"/>
                    <a:pt x="215226" y="42995"/>
                  </a:cubicBezTo>
                  <a:lnTo>
                    <a:pt x="123405" y="3181"/>
                  </a:lnTo>
                  <a:cubicBezTo>
                    <a:pt x="116119" y="0"/>
                    <a:pt x="107832" y="0"/>
                    <a:pt x="100545" y="3181"/>
                  </a:cubicBezTo>
                  <a:lnTo>
                    <a:pt x="8724" y="43186"/>
                  </a:lnTo>
                  <a:cubicBezTo>
                    <a:pt x="3524" y="45358"/>
                    <a:pt x="114" y="50415"/>
                    <a:pt x="57" y="56045"/>
                  </a:cubicBezTo>
                  <a:cubicBezTo>
                    <a:pt x="0" y="61826"/>
                    <a:pt x="3419" y="67084"/>
                    <a:pt x="8724" y="69380"/>
                  </a:cubicBezTo>
                  <a:moveTo>
                    <a:pt x="215226" y="100336"/>
                  </a:moveTo>
                  <a:lnTo>
                    <a:pt x="203415" y="95192"/>
                  </a:lnTo>
                  <a:cubicBezTo>
                    <a:pt x="200987" y="94135"/>
                    <a:pt x="198224" y="94135"/>
                    <a:pt x="195795" y="95192"/>
                  </a:cubicBezTo>
                  <a:lnTo>
                    <a:pt x="111975" y="131578"/>
                  </a:lnTo>
                  <a:lnTo>
                    <a:pt x="28155" y="95192"/>
                  </a:lnTo>
                  <a:cubicBezTo>
                    <a:pt x="25727" y="94135"/>
                    <a:pt x="22964" y="94135"/>
                    <a:pt x="20535" y="95192"/>
                  </a:cubicBezTo>
                  <a:lnTo>
                    <a:pt x="8724" y="100336"/>
                  </a:lnTo>
                  <a:cubicBezTo>
                    <a:pt x="3438" y="102546"/>
                    <a:pt x="0" y="107708"/>
                    <a:pt x="0" y="113433"/>
                  </a:cubicBezTo>
                  <a:cubicBezTo>
                    <a:pt x="0" y="119157"/>
                    <a:pt x="3438" y="124320"/>
                    <a:pt x="8724" y="126530"/>
                  </a:cubicBezTo>
                  <a:lnTo>
                    <a:pt x="100545" y="166439"/>
                  </a:lnTo>
                  <a:cubicBezTo>
                    <a:pt x="107832" y="169621"/>
                    <a:pt x="116119" y="169621"/>
                    <a:pt x="123405" y="166439"/>
                  </a:cubicBezTo>
                  <a:lnTo>
                    <a:pt x="215226" y="126530"/>
                  </a:lnTo>
                  <a:cubicBezTo>
                    <a:pt x="220532" y="124234"/>
                    <a:pt x="223951" y="118976"/>
                    <a:pt x="223894" y="113195"/>
                  </a:cubicBezTo>
                  <a:cubicBezTo>
                    <a:pt x="223837" y="107565"/>
                    <a:pt x="220427" y="102508"/>
                    <a:pt x="215226" y="100336"/>
                  </a:cubicBezTo>
                  <a:moveTo>
                    <a:pt x="215226" y="157010"/>
                  </a:moveTo>
                  <a:lnTo>
                    <a:pt x="203415" y="151866"/>
                  </a:lnTo>
                  <a:cubicBezTo>
                    <a:pt x="200987" y="150809"/>
                    <a:pt x="198224" y="150809"/>
                    <a:pt x="195795" y="151866"/>
                  </a:cubicBezTo>
                  <a:lnTo>
                    <a:pt x="111975" y="188347"/>
                  </a:lnTo>
                  <a:lnTo>
                    <a:pt x="28155" y="151866"/>
                  </a:lnTo>
                  <a:cubicBezTo>
                    <a:pt x="25727" y="150809"/>
                    <a:pt x="22964" y="150809"/>
                    <a:pt x="20535" y="151866"/>
                  </a:cubicBezTo>
                  <a:lnTo>
                    <a:pt x="8724" y="157010"/>
                  </a:lnTo>
                  <a:cubicBezTo>
                    <a:pt x="3419" y="159305"/>
                    <a:pt x="0" y="164563"/>
                    <a:pt x="57" y="170345"/>
                  </a:cubicBezTo>
                  <a:cubicBezTo>
                    <a:pt x="38" y="176050"/>
                    <a:pt x="3457" y="181194"/>
                    <a:pt x="8724" y="183394"/>
                  </a:cubicBezTo>
                  <a:lnTo>
                    <a:pt x="100545" y="223399"/>
                  </a:lnTo>
                  <a:cubicBezTo>
                    <a:pt x="107832" y="226580"/>
                    <a:pt x="116119" y="226580"/>
                    <a:pt x="123405" y="223399"/>
                  </a:cubicBezTo>
                  <a:lnTo>
                    <a:pt x="215226" y="183394"/>
                  </a:lnTo>
                  <a:cubicBezTo>
                    <a:pt x="220494" y="181194"/>
                    <a:pt x="223913" y="176050"/>
                    <a:pt x="223894" y="170345"/>
                  </a:cubicBezTo>
                  <a:cubicBezTo>
                    <a:pt x="223951" y="164563"/>
                    <a:pt x="220532" y="159305"/>
                    <a:pt x="215226" y="157010"/>
                  </a:cubicBezTo>
                </a:path>
              </a:pathLst>
            </a:custGeom>
            <a:solidFill>
              <a:srgbClr val="384F6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04" name="Rounded Rectangle 30">
              <a:extLst>
                <a:ext uri="{FF2B5EF4-FFF2-40B4-BE49-F238E27FC236}">
                  <a16:creationId xmlns:a16="http://schemas.microsoft.com/office/drawing/2014/main" id="{A51ED303-0160-3D76-0B93-0ABEFE98862F}"/>
                </a:ext>
              </a:extLst>
            </p:cNvPr>
            <p:cNvSpPr/>
            <p:nvPr/>
          </p:nvSpPr>
          <p:spPr>
            <a:xfrm>
              <a:off x="7200900" y="5172075"/>
              <a:ext cx="228600" cy="227323"/>
            </a:xfrm>
            <a:custGeom>
              <a:avLst/>
              <a:gdLst/>
              <a:ahLst/>
              <a:cxnLst/>
              <a:rect l="0" t="0" r="0" b="0"/>
              <a:pathLst>
                <a:path w="228600" h="227323">
                  <a:moveTo>
                    <a:pt x="0" y="26193"/>
                  </a:moveTo>
                  <a:cubicBezTo>
                    <a:pt x="28" y="11744"/>
                    <a:pt x="11744" y="28"/>
                    <a:pt x="26193" y="0"/>
                  </a:cubicBezTo>
                  <a:lnTo>
                    <a:pt x="202406" y="0"/>
                  </a:lnTo>
                  <a:cubicBezTo>
                    <a:pt x="216855" y="28"/>
                    <a:pt x="228571" y="11744"/>
                    <a:pt x="228600" y="26193"/>
                  </a:cubicBezTo>
                  <a:lnTo>
                    <a:pt x="228600" y="78581"/>
                  </a:lnTo>
                  <a:cubicBezTo>
                    <a:pt x="228571" y="93030"/>
                    <a:pt x="216855" y="104746"/>
                    <a:pt x="202406" y="104775"/>
                  </a:cubicBezTo>
                  <a:lnTo>
                    <a:pt x="26193" y="104775"/>
                  </a:lnTo>
                  <a:cubicBezTo>
                    <a:pt x="11744" y="104746"/>
                    <a:pt x="28" y="93030"/>
                    <a:pt x="0" y="78581"/>
                  </a:cubicBezTo>
                  <a:lnTo>
                    <a:pt x="0" y="26193"/>
                  </a:lnTo>
                  <a:moveTo>
                    <a:pt x="110832" y="126358"/>
                  </a:moveTo>
                  <a:cubicBezTo>
                    <a:pt x="112956" y="125177"/>
                    <a:pt x="115528" y="125168"/>
                    <a:pt x="117671" y="126311"/>
                  </a:cubicBezTo>
                  <a:lnTo>
                    <a:pt x="141522" y="139084"/>
                  </a:lnTo>
                  <a:cubicBezTo>
                    <a:pt x="143846" y="140331"/>
                    <a:pt x="145294" y="142751"/>
                    <a:pt x="145294" y="145380"/>
                  </a:cubicBezTo>
                  <a:lnTo>
                    <a:pt x="145294" y="148628"/>
                  </a:lnTo>
                  <a:lnTo>
                    <a:pt x="208006" y="148628"/>
                  </a:lnTo>
                  <a:cubicBezTo>
                    <a:pt x="213264" y="148628"/>
                    <a:pt x="217531" y="152895"/>
                    <a:pt x="217531" y="158153"/>
                  </a:cubicBezTo>
                  <a:cubicBezTo>
                    <a:pt x="217531" y="163410"/>
                    <a:pt x="213264" y="167678"/>
                    <a:pt x="208006" y="167678"/>
                  </a:cubicBezTo>
                  <a:lnTo>
                    <a:pt x="145294" y="167678"/>
                  </a:lnTo>
                  <a:lnTo>
                    <a:pt x="145294" y="170945"/>
                  </a:lnTo>
                  <a:cubicBezTo>
                    <a:pt x="145294" y="173574"/>
                    <a:pt x="143837" y="175993"/>
                    <a:pt x="141522" y="177231"/>
                  </a:cubicBezTo>
                  <a:lnTo>
                    <a:pt x="123825" y="186728"/>
                  </a:lnTo>
                  <a:lnTo>
                    <a:pt x="123825" y="217798"/>
                  </a:lnTo>
                  <a:cubicBezTo>
                    <a:pt x="123825" y="223056"/>
                    <a:pt x="119557" y="227323"/>
                    <a:pt x="114300" y="227323"/>
                  </a:cubicBezTo>
                  <a:cubicBezTo>
                    <a:pt x="109042" y="227323"/>
                    <a:pt x="104775" y="223056"/>
                    <a:pt x="104775" y="217798"/>
                  </a:cubicBezTo>
                  <a:lnTo>
                    <a:pt x="104775" y="186594"/>
                  </a:lnTo>
                  <a:lnTo>
                    <a:pt x="87830" y="177184"/>
                  </a:lnTo>
                  <a:cubicBezTo>
                    <a:pt x="85563" y="175926"/>
                    <a:pt x="84153" y="173535"/>
                    <a:pt x="84153" y="170945"/>
                  </a:cubicBezTo>
                  <a:lnTo>
                    <a:pt x="84153" y="167687"/>
                  </a:lnTo>
                  <a:lnTo>
                    <a:pt x="20593" y="167687"/>
                  </a:lnTo>
                  <a:cubicBezTo>
                    <a:pt x="15335" y="167687"/>
                    <a:pt x="11068" y="163420"/>
                    <a:pt x="11068" y="158162"/>
                  </a:cubicBezTo>
                  <a:cubicBezTo>
                    <a:pt x="11068" y="152904"/>
                    <a:pt x="15335" y="148637"/>
                    <a:pt x="20593" y="148637"/>
                  </a:cubicBezTo>
                  <a:lnTo>
                    <a:pt x="84153" y="148637"/>
                  </a:lnTo>
                  <a:lnTo>
                    <a:pt x="84153" y="145380"/>
                  </a:lnTo>
                  <a:cubicBezTo>
                    <a:pt x="84153" y="142789"/>
                    <a:pt x="85563" y="140398"/>
                    <a:pt x="87830" y="139141"/>
                  </a:cubicBezTo>
                  <a:lnTo>
                    <a:pt x="110832" y="126358"/>
                  </a:lnTo>
                  <a:moveTo>
                    <a:pt x="98107" y="51911"/>
                  </a:moveTo>
                  <a:cubicBezTo>
                    <a:pt x="98107" y="55854"/>
                    <a:pt x="101307" y="59054"/>
                    <a:pt x="105251" y="59054"/>
                  </a:cubicBezTo>
                  <a:lnTo>
                    <a:pt x="183356" y="59054"/>
                  </a:lnTo>
                  <a:cubicBezTo>
                    <a:pt x="187299" y="59054"/>
                    <a:pt x="190500" y="55854"/>
                    <a:pt x="190500" y="51911"/>
                  </a:cubicBezTo>
                  <a:cubicBezTo>
                    <a:pt x="190500" y="47967"/>
                    <a:pt x="187299" y="44767"/>
                    <a:pt x="183356" y="44767"/>
                  </a:cubicBezTo>
                  <a:lnTo>
                    <a:pt x="105251" y="44767"/>
                  </a:lnTo>
                  <a:cubicBezTo>
                    <a:pt x="101307" y="44767"/>
                    <a:pt x="98107" y="47967"/>
                    <a:pt x="98107" y="51911"/>
                  </a:cubicBezTo>
                  <a:moveTo>
                    <a:pt x="70008" y="51911"/>
                  </a:moveTo>
                  <a:cubicBezTo>
                    <a:pt x="70008" y="44443"/>
                    <a:pt x="63960" y="38395"/>
                    <a:pt x="56492" y="38395"/>
                  </a:cubicBezTo>
                  <a:cubicBezTo>
                    <a:pt x="49025" y="38395"/>
                    <a:pt x="42976" y="44443"/>
                    <a:pt x="42976" y="51911"/>
                  </a:cubicBezTo>
                  <a:cubicBezTo>
                    <a:pt x="42976" y="59378"/>
                    <a:pt x="49025" y="65427"/>
                    <a:pt x="56492" y="65427"/>
                  </a:cubicBezTo>
                  <a:cubicBezTo>
                    <a:pt x="63960" y="65427"/>
                    <a:pt x="70008" y="59378"/>
                    <a:pt x="70008" y="51911"/>
                  </a:cubicBezTo>
                </a:path>
              </a:pathLst>
            </a:custGeom>
            <a:solidFill>
              <a:srgbClr val="384F6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05" name="Rounded Rectangle 31">
              <a:extLst>
                <a:ext uri="{FF2B5EF4-FFF2-40B4-BE49-F238E27FC236}">
                  <a16:creationId xmlns:a16="http://schemas.microsoft.com/office/drawing/2014/main" id="{87811847-0D79-22CE-5506-8AC2572DC2C7}"/>
                </a:ext>
              </a:extLst>
            </p:cNvPr>
            <p:cNvSpPr/>
            <p:nvPr/>
          </p:nvSpPr>
          <p:spPr>
            <a:xfrm>
              <a:off x="7200900" y="4371975"/>
              <a:ext cx="228600" cy="228600"/>
            </a:xfrm>
            <a:custGeom>
              <a:avLst/>
              <a:gdLst/>
              <a:ahLst/>
              <a:cxnLst/>
              <a:rect l="0" t="0" r="0" b="0"/>
              <a:pathLst>
                <a:path w="228600" h="228600">
                  <a:moveTo>
                    <a:pt x="139826" y="116204"/>
                  </a:moveTo>
                  <a:cubicBezTo>
                    <a:pt x="136931" y="118510"/>
                    <a:pt x="132759" y="118214"/>
                    <a:pt x="130206" y="115538"/>
                  </a:cubicBezTo>
                  <a:lnTo>
                    <a:pt x="104775" y="88391"/>
                  </a:lnTo>
                  <a:cubicBezTo>
                    <a:pt x="102393" y="85667"/>
                    <a:pt x="102393" y="81591"/>
                    <a:pt x="104775" y="78866"/>
                  </a:cubicBezTo>
                  <a:lnTo>
                    <a:pt x="129730" y="52197"/>
                  </a:lnTo>
                  <a:cubicBezTo>
                    <a:pt x="132492" y="50301"/>
                    <a:pt x="136197" y="50577"/>
                    <a:pt x="138645" y="52863"/>
                  </a:cubicBezTo>
                  <a:cubicBezTo>
                    <a:pt x="141093" y="55159"/>
                    <a:pt x="141627" y="58835"/>
                    <a:pt x="139922" y="61722"/>
                  </a:cubicBezTo>
                  <a:lnTo>
                    <a:pt x="120872" y="82391"/>
                  </a:lnTo>
                  <a:cubicBezTo>
                    <a:pt x="120015" y="83334"/>
                    <a:pt x="120015" y="84782"/>
                    <a:pt x="120872" y="85725"/>
                  </a:cubicBezTo>
                  <a:lnTo>
                    <a:pt x="139826" y="106679"/>
                  </a:lnTo>
                  <a:cubicBezTo>
                    <a:pt x="142208" y="109404"/>
                    <a:pt x="142208" y="113480"/>
                    <a:pt x="139826" y="116204"/>
                  </a:cubicBezTo>
                  <a:moveTo>
                    <a:pt x="155162" y="106108"/>
                  </a:moveTo>
                  <a:lnTo>
                    <a:pt x="174498" y="85820"/>
                  </a:lnTo>
                  <a:cubicBezTo>
                    <a:pt x="175345" y="84905"/>
                    <a:pt x="175345" y="83496"/>
                    <a:pt x="174498" y="82581"/>
                  </a:cubicBezTo>
                  <a:lnTo>
                    <a:pt x="155448" y="61817"/>
                  </a:lnTo>
                  <a:cubicBezTo>
                    <a:pt x="154057" y="60502"/>
                    <a:pt x="153276" y="58674"/>
                    <a:pt x="153276" y="56768"/>
                  </a:cubicBezTo>
                  <a:cubicBezTo>
                    <a:pt x="153276" y="54863"/>
                    <a:pt x="154057" y="53035"/>
                    <a:pt x="155448" y="51720"/>
                  </a:cubicBezTo>
                  <a:cubicBezTo>
                    <a:pt x="158238" y="48939"/>
                    <a:pt x="162753" y="48939"/>
                    <a:pt x="165544" y="51720"/>
                  </a:cubicBezTo>
                  <a:lnTo>
                    <a:pt x="190785" y="78962"/>
                  </a:lnTo>
                  <a:cubicBezTo>
                    <a:pt x="193166" y="81686"/>
                    <a:pt x="193166" y="85763"/>
                    <a:pt x="190785" y="88487"/>
                  </a:cubicBezTo>
                  <a:lnTo>
                    <a:pt x="165354" y="115633"/>
                  </a:lnTo>
                  <a:cubicBezTo>
                    <a:pt x="162591" y="117528"/>
                    <a:pt x="158886" y="117252"/>
                    <a:pt x="156438" y="114966"/>
                  </a:cubicBezTo>
                  <a:cubicBezTo>
                    <a:pt x="153990" y="112671"/>
                    <a:pt x="153457" y="108994"/>
                    <a:pt x="155162" y="106108"/>
                  </a:cubicBezTo>
                  <a:moveTo>
                    <a:pt x="222980" y="28575"/>
                  </a:moveTo>
                  <a:lnTo>
                    <a:pt x="200025" y="5619"/>
                  </a:lnTo>
                  <a:cubicBezTo>
                    <a:pt x="196472" y="2038"/>
                    <a:pt x="191643" y="19"/>
                    <a:pt x="186594" y="0"/>
                  </a:cubicBezTo>
                  <a:lnTo>
                    <a:pt x="76200" y="0"/>
                  </a:lnTo>
                  <a:cubicBezTo>
                    <a:pt x="65674" y="0"/>
                    <a:pt x="57150" y="8524"/>
                    <a:pt x="57150" y="19050"/>
                  </a:cubicBezTo>
                  <a:lnTo>
                    <a:pt x="57150" y="87725"/>
                  </a:lnTo>
                  <a:cubicBezTo>
                    <a:pt x="57150" y="89001"/>
                    <a:pt x="58159" y="90058"/>
                    <a:pt x="59436" y="90106"/>
                  </a:cubicBezTo>
                  <a:cubicBezTo>
                    <a:pt x="62960" y="90106"/>
                    <a:pt x="68961" y="90106"/>
                    <a:pt x="73628" y="90963"/>
                  </a:cubicBezTo>
                  <a:cubicBezTo>
                    <a:pt x="74294" y="91020"/>
                    <a:pt x="74952" y="90792"/>
                    <a:pt x="75437" y="90335"/>
                  </a:cubicBezTo>
                  <a:cubicBezTo>
                    <a:pt x="75923" y="89887"/>
                    <a:pt x="76200" y="89249"/>
                    <a:pt x="76200" y="88582"/>
                  </a:cubicBezTo>
                  <a:lnTo>
                    <a:pt x="76200" y="23812"/>
                  </a:lnTo>
                  <a:cubicBezTo>
                    <a:pt x="76200" y="21183"/>
                    <a:pt x="78333" y="19050"/>
                    <a:pt x="80962" y="19050"/>
                  </a:cubicBezTo>
                  <a:lnTo>
                    <a:pt x="184594" y="19050"/>
                  </a:lnTo>
                  <a:cubicBezTo>
                    <a:pt x="185861" y="19030"/>
                    <a:pt x="187070" y="19554"/>
                    <a:pt x="187928" y="20478"/>
                  </a:cubicBezTo>
                  <a:lnTo>
                    <a:pt x="208121" y="40671"/>
                  </a:lnTo>
                  <a:cubicBezTo>
                    <a:pt x="209045" y="41529"/>
                    <a:pt x="209569" y="42738"/>
                    <a:pt x="209550" y="44005"/>
                  </a:cubicBezTo>
                  <a:lnTo>
                    <a:pt x="209550" y="171450"/>
                  </a:lnTo>
                  <a:cubicBezTo>
                    <a:pt x="209550" y="174078"/>
                    <a:pt x="207416" y="176212"/>
                    <a:pt x="204787" y="176212"/>
                  </a:cubicBezTo>
                  <a:lnTo>
                    <a:pt x="139350" y="176212"/>
                  </a:lnTo>
                  <a:cubicBezTo>
                    <a:pt x="138207" y="176241"/>
                    <a:pt x="137245" y="177079"/>
                    <a:pt x="137064" y="178212"/>
                  </a:cubicBezTo>
                  <a:cubicBezTo>
                    <a:pt x="136264" y="182956"/>
                    <a:pt x="135026" y="187613"/>
                    <a:pt x="133350" y="192119"/>
                  </a:cubicBezTo>
                  <a:cubicBezTo>
                    <a:pt x="133064" y="192824"/>
                    <a:pt x="133149" y="193614"/>
                    <a:pt x="133569" y="194243"/>
                  </a:cubicBezTo>
                  <a:cubicBezTo>
                    <a:pt x="133988" y="194871"/>
                    <a:pt x="134693" y="195252"/>
                    <a:pt x="135445" y="195262"/>
                  </a:cubicBezTo>
                  <a:lnTo>
                    <a:pt x="209550" y="195262"/>
                  </a:lnTo>
                  <a:cubicBezTo>
                    <a:pt x="220075" y="195262"/>
                    <a:pt x="228600" y="186737"/>
                    <a:pt x="228600" y="176212"/>
                  </a:cubicBezTo>
                  <a:lnTo>
                    <a:pt x="228600" y="42100"/>
                  </a:lnTo>
                  <a:cubicBezTo>
                    <a:pt x="228600" y="37023"/>
                    <a:pt x="226580" y="32156"/>
                    <a:pt x="222980" y="28575"/>
                  </a:cubicBezTo>
                  <a:moveTo>
                    <a:pt x="64293" y="100012"/>
                  </a:moveTo>
                  <a:cubicBezTo>
                    <a:pt x="28784" y="100012"/>
                    <a:pt x="0" y="128797"/>
                    <a:pt x="0" y="164306"/>
                  </a:cubicBezTo>
                  <a:cubicBezTo>
                    <a:pt x="0" y="199815"/>
                    <a:pt x="28784" y="228600"/>
                    <a:pt x="64293" y="228600"/>
                  </a:cubicBezTo>
                  <a:cubicBezTo>
                    <a:pt x="99802" y="228600"/>
                    <a:pt x="128587" y="199815"/>
                    <a:pt x="128587" y="164306"/>
                  </a:cubicBezTo>
                  <a:cubicBezTo>
                    <a:pt x="128530" y="128816"/>
                    <a:pt x="99783" y="100069"/>
                    <a:pt x="64293" y="100012"/>
                  </a:cubicBezTo>
                  <a:moveTo>
                    <a:pt x="64293" y="209550"/>
                  </a:moveTo>
                  <a:cubicBezTo>
                    <a:pt x="39309" y="209550"/>
                    <a:pt x="19050" y="189290"/>
                    <a:pt x="19050" y="164306"/>
                  </a:cubicBezTo>
                  <a:cubicBezTo>
                    <a:pt x="19050" y="139322"/>
                    <a:pt x="39309" y="119062"/>
                    <a:pt x="64293" y="119062"/>
                  </a:cubicBezTo>
                  <a:cubicBezTo>
                    <a:pt x="89277" y="119062"/>
                    <a:pt x="109537" y="139322"/>
                    <a:pt x="109537" y="164306"/>
                  </a:cubicBezTo>
                  <a:cubicBezTo>
                    <a:pt x="109537" y="189290"/>
                    <a:pt x="89277" y="209550"/>
                    <a:pt x="64293" y="209550"/>
                  </a:cubicBezTo>
                  <a:moveTo>
                    <a:pt x="83343" y="154781"/>
                  </a:moveTo>
                  <a:lnTo>
                    <a:pt x="76200" y="154781"/>
                  </a:lnTo>
                  <a:cubicBezTo>
                    <a:pt x="74885" y="154781"/>
                    <a:pt x="73818" y="153714"/>
                    <a:pt x="73818" y="152400"/>
                  </a:cubicBezTo>
                  <a:lnTo>
                    <a:pt x="73818" y="140493"/>
                  </a:lnTo>
                  <a:cubicBezTo>
                    <a:pt x="73818" y="135235"/>
                    <a:pt x="69551" y="130968"/>
                    <a:pt x="64293" y="130968"/>
                  </a:cubicBezTo>
                  <a:cubicBezTo>
                    <a:pt x="59035" y="130968"/>
                    <a:pt x="54768" y="135235"/>
                    <a:pt x="54768" y="140493"/>
                  </a:cubicBezTo>
                  <a:lnTo>
                    <a:pt x="54768" y="164306"/>
                  </a:lnTo>
                  <a:cubicBezTo>
                    <a:pt x="54768" y="169564"/>
                    <a:pt x="59035" y="173831"/>
                    <a:pt x="64293" y="173831"/>
                  </a:cubicBezTo>
                  <a:lnTo>
                    <a:pt x="83343" y="173831"/>
                  </a:lnTo>
                  <a:cubicBezTo>
                    <a:pt x="88601" y="173831"/>
                    <a:pt x="92868" y="169564"/>
                    <a:pt x="92868" y="164306"/>
                  </a:cubicBezTo>
                  <a:cubicBezTo>
                    <a:pt x="92868" y="159048"/>
                    <a:pt x="88601" y="154781"/>
                    <a:pt x="83343" y="154781"/>
                  </a:cubicBezTo>
                </a:path>
              </a:pathLst>
            </a:custGeom>
            <a:solidFill>
              <a:srgbClr val="384F6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06" name="Rounded Rectangle 32">
              <a:extLst>
                <a:ext uri="{FF2B5EF4-FFF2-40B4-BE49-F238E27FC236}">
                  <a16:creationId xmlns:a16="http://schemas.microsoft.com/office/drawing/2014/main" id="{460D2454-0374-AF3A-2767-EC5F46C4351A}"/>
                </a:ext>
              </a:extLst>
            </p:cNvPr>
            <p:cNvSpPr/>
            <p:nvPr/>
          </p:nvSpPr>
          <p:spPr>
            <a:xfrm>
              <a:off x="1837906" y="1974037"/>
              <a:ext cx="208902" cy="223856"/>
            </a:xfrm>
            <a:custGeom>
              <a:avLst/>
              <a:gdLst/>
              <a:ahLst/>
              <a:cxnLst/>
              <a:rect l="0" t="0" r="0" b="0"/>
              <a:pathLst>
                <a:path w="208902" h="223856">
                  <a:moveTo>
                    <a:pt x="43167" y="16306"/>
                  </a:moveTo>
                  <a:cubicBezTo>
                    <a:pt x="58788" y="5676"/>
                    <a:pt x="77247" y="0"/>
                    <a:pt x="96145" y="19"/>
                  </a:cubicBezTo>
                  <a:cubicBezTo>
                    <a:pt x="113823" y="19"/>
                    <a:pt x="128301" y="3667"/>
                    <a:pt x="140417" y="10344"/>
                  </a:cubicBezTo>
                  <a:cubicBezTo>
                    <a:pt x="152533" y="17011"/>
                    <a:pt x="162010" y="26536"/>
                    <a:pt x="169916" y="37919"/>
                  </a:cubicBezTo>
                  <a:cubicBezTo>
                    <a:pt x="182880" y="56559"/>
                    <a:pt x="191976" y="80762"/>
                    <a:pt x="201529" y="106184"/>
                  </a:cubicBezTo>
                  <a:cubicBezTo>
                    <a:pt x="203492" y="111404"/>
                    <a:pt x="205463" y="116662"/>
                    <a:pt x="207502" y="121939"/>
                  </a:cubicBezTo>
                  <a:cubicBezTo>
                    <a:pt x="208902" y="125596"/>
                    <a:pt x="208416" y="129720"/>
                    <a:pt x="206197" y="132949"/>
                  </a:cubicBezTo>
                  <a:cubicBezTo>
                    <a:pt x="203987" y="136188"/>
                    <a:pt x="200320" y="138122"/>
                    <a:pt x="196395" y="138131"/>
                  </a:cubicBezTo>
                  <a:lnTo>
                    <a:pt x="183060" y="138131"/>
                  </a:lnTo>
                  <a:lnTo>
                    <a:pt x="183060" y="161944"/>
                  </a:lnTo>
                  <a:cubicBezTo>
                    <a:pt x="183060" y="180355"/>
                    <a:pt x="168135" y="195281"/>
                    <a:pt x="149723" y="195281"/>
                  </a:cubicBezTo>
                  <a:lnTo>
                    <a:pt x="140198" y="195281"/>
                  </a:lnTo>
                  <a:lnTo>
                    <a:pt x="140198" y="219094"/>
                  </a:lnTo>
                  <a:cubicBezTo>
                    <a:pt x="140198" y="221722"/>
                    <a:pt x="138064" y="223856"/>
                    <a:pt x="135435" y="223856"/>
                  </a:cubicBezTo>
                  <a:lnTo>
                    <a:pt x="35423" y="223856"/>
                  </a:lnTo>
                  <a:cubicBezTo>
                    <a:pt x="32794" y="223856"/>
                    <a:pt x="30660" y="221722"/>
                    <a:pt x="30660" y="219094"/>
                  </a:cubicBezTo>
                  <a:lnTo>
                    <a:pt x="30660" y="161467"/>
                  </a:lnTo>
                  <a:cubicBezTo>
                    <a:pt x="10372" y="141808"/>
                    <a:pt x="0" y="114061"/>
                    <a:pt x="2419" y="85915"/>
                  </a:cubicBezTo>
                  <a:cubicBezTo>
                    <a:pt x="4848" y="57769"/>
                    <a:pt x="19802" y="32204"/>
                    <a:pt x="43157" y="16306"/>
                  </a:cubicBezTo>
                  <a:moveTo>
                    <a:pt x="75047" y="39214"/>
                  </a:moveTo>
                  <a:cubicBezTo>
                    <a:pt x="98926" y="29403"/>
                    <a:pt x="125453" y="36776"/>
                    <a:pt x="141779" y="56016"/>
                  </a:cubicBezTo>
                  <a:cubicBezTo>
                    <a:pt x="144141" y="58807"/>
                    <a:pt x="144494" y="62093"/>
                    <a:pt x="143275" y="65389"/>
                  </a:cubicBezTo>
                  <a:cubicBezTo>
                    <a:pt x="141998" y="68865"/>
                    <a:pt x="138922" y="72266"/>
                    <a:pt x="93992" y="91087"/>
                  </a:cubicBezTo>
                  <a:cubicBezTo>
                    <a:pt x="90335" y="92640"/>
                    <a:pt x="88553" y="96802"/>
                    <a:pt x="89963" y="100517"/>
                  </a:cubicBezTo>
                  <a:cubicBezTo>
                    <a:pt x="90630" y="102269"/>
                    <a:pt x="91982" y="103679"/>
                    <a:pt x="93706" y="104422"/>
                  </a:cubicBezTo>
                  <a:cubicBezTo>
                    <a:pt x="95430" y="105156"/>
                    <a:pt x="97393" y="105156"/>
                    <a:pt x="139750" y="87401"/>
                  </a:cubicBezTo>
                  <a:cubicBezTo>
                    <a:pt x="147589" y="84124"/>
                    <a:pt x="153723" y="77743"/>
                    <a:pt x="156495" y="70218"/>
                  </a:cubicBezTo>
                  <a:cubicBezTo>
                    <a:pt x="159343" y="62512"/>
                    <a:pt x="158610" y="53578"/>
                    <a:pt x="152552" y="46434"/>
                  </a:cubicBezTo>
                  <a:cubicBezTo>
                    <a:pt x="132511" y="22812"/>
                    <a:pt x="99526" y="13477"/>
                    <a:pt x="69513" y="26050"/>
                  </a:cubicBezTo>
                  <a:cubicBezTo>
                    <a:pt x="65903" y="27546"/>
                    <a:pt x="62417" y="29337"/>
                    <a:pt x="59093" y="31384"/>
                  </a:cubicBezTo>
                  <a:cubicBezTo>
                    <a:pt x="56864" y="32699"/>
                    <a:pt x="55521" y="35118"/>
                    <a:pt x="55587" y="37699"/>
                  </a:cubicBezTo>
                  <a:cubicBezTo>
                    <a:pt x="55645" y="40281"/>
                    <a:pt x="57092" y="42633"/>
                    <a:pt x="59378" y="43843"/>
                  </a:cubicBezTo>
                  <a:cubicBezTo>
                    <a:pt x="61664" y="45062"/>
                    <a:pt x="64427" y="44938"/>
                    <a:pt x="66598" y="43538"/>
                  </a:cubicBezTo>
                  <a:cubicBezTo>
                    <a:pt x="69294" y="41871"/>
                    <a:pt x="72123" y="40424"/>
                    <a:pt x="75047" y="39214"/>
                  </a:cubicBezTo>
                  <a:moveTo>
                    <a:pt x="47853" y="49920"/>
                  </a:moveTo>
                  <a:cubicBezTo>
                    <a:pt x="44605" y="47682"/>
                    <a:pt x="40166" y="48491"/>
                    <a:pt x="37919" y="51730"/>
                  </a:cubicBezTo>
                  <a:cubicBezTo>
                    <a:pt x="34556" y="56588"/>
                    <a:pt x="30622" y="62255"/>
                    <a:pt x="28174" y="68922"/>
                  </a:cubicBezTo>
                  <a:cubicBezTo>
                    <a:pt x="26812" y="72628"/>
                    <a:pt x="28717" y="76733"/>
                    <a:pt x="32423" y="78095"/>
                  </a:cubicBezTo>
                  <a:cubicBezTo>
                    <a:pt x="36128" y="79457"/>
                    <a:pt x="40233" y="77552"/>
                    <a:pt x="41595" y="73847"/>
                  </a:cubicBezTo>
                  <a:cubicBezTo>
                    <a:pt x="43310" y="69151"/>
                    <a:pt x="46167" y="64912"/>
                    <a:pt x="49663" y="59864"/>
                  </a:cubicBezTo>
                  <a:cubicBezTo>
                    <a:pt x="51901" y="56616"/>
                    <a:pt x="51092" y="52177"/>
                    <a:pt x="47853" y="49930"/>
                  </a:cubicBezTo>
                  <a:moveTo>
                    <a:pt x="28422" y="88763"/>
                  </a:moveTo>
                  <a:cubicBezTo>
                    <a:pt x="24479" y="88725"/>
                    <a:pt x="21240" y="91887"/>
                    <a:pt x="21202" y="95831"/>
                  </a:cubicBezTo>
                  <a:cubicBezTo>
                    <a:pt x="21107" y="104708"/>
                    <a:pt x="25155" y="111880"/>
                    <a:pt x="31375" y="116357"/>
                  </a:cubicBezTo>
                  <a:cubicBezTo>
                    <a:pt x="34575" y="118538"/>
                    <a:pt x="38928" y="117767"/>
                    <a:pt x="41195" y="114623"/>
                  </a:cubicBezTo>
                  <a:cubicBezTo>
                    <a:pt x="43453" y="111480"/>
                    <a:pt x="42805" y="107108"/>
                    <a:pt x="39719" y="104765"/>
                  </a:cubicBezTo>
                  <a:cubicBezTo>
                    <a:pt x="37176" y="102936"/>
                    <a:pt x="35452" y="100088"/>
                    <a:pt x="35490" y="95983"/>
                  </a:cubicBezTo>
                  <a:cubicBezTo>
                    <a:pt x="35528" y="92040"/>
                    <a:pt x="32365" y="88801"/>
                    <a:pt x="28422" y="88763"/>
                  </a:cubicBezTo>
                  <a:moveTo>
                    <a:pt x="80914" y="105098"/>
                  </a:moveTo>
                  <a:cubicBezTo>
                    <a:pt x="80219" y="103336"/>
                    <a:pt x="78847" y="101917"/>
                    <a:pt x="77104" y="101165"/>
                  </a:cubicBezTo>
                  <a:cubicBezTo>
                    <a:pt x="75371" y="100412"/>
                    <a:pt x="73399" y="100383"/>
                    <a:pt x="71637" y="101079"/>
                  </a:cubicBezTo>
                  <a:lnTo>
                    <a:pt x="57140" y="106822"/>
                  </a:lnTo>
                  <a:cubicBezTo>
                    <a:pt x="53625" y="108365"/>
                    <a:pt x="51958" y="112414"/>
                    <a:pt x="53368" y="115985"/>
                  </a:cubicBezTo>
                  <a:cubicBezTo>
                    <a:pt x="54778" y="119557"/>
                    <a:pt x="58769" y="121377"/>
                    <a:pt x="62388" y="120100"/>
                  </a:cubicBezTo>
                  <a:lnTo>
                    <a:pt x="76895" y="114366"/>
                  </a:lnTo>
                  <a:cubicBezTo>
                    <a:pt x="80562" y="112909"/>
                    <a:pt x="82353" y="108765"/>
                    <a:pt x="80905" y="105098"/>
                  </a:cubicBezTo>
                </a:path>
              </a:pathLst>
            </a:custGeom>
            <a:solidFill>
              <a:srgbClr val="384F6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07" name="Rounded Rectangle 33">
              <a:extLst>
                <a:ext uri="{FF2B5EF4-FFF2-40B4-BE49-F238E27FC236}">
                  <a16:creationId xmlns:a16="http://schemas.microsoft.com/office/drawing/2014/main" id="{ACB37677-EC2C-1E32-E433-5AA475EA9D69}"/>
                </a:ext>
              </a:extLst>
            </p:cNvPr>
            <p:cNvSpPr/>
            <p:nvPr/>
          </p:nvSpPr>
          <p:spPr>
            <a:xfrm>
              <a:off x="7200900" y="3571875"/>
              <a:ext cx="228600" cy="228600"/>
            </a:xfrm>
            <a:custGeom>
              <a:avLst/>
              <a:gdLst/>
              <a:ahLst/>
              <a:cxnLst/>
              <a:rect l="0" t="0" r="0" b="0"/>
              <a:pathLst>
                <a:path w="228600" h="228600">
                  <a:moveTo>
                    <a:pt x="204787" y="0"/>
                  </a:moveTo>
                  <a:lnTo>
                    <a:pt x="23812" y="0"/>
                  </a:lnTo>
                  <a:cubicBezTo>
                    <a:pt x="10658" y="0"/>
                    <a:pt x="0" y="10658"/>
                    <a:pt x="0" y="23812"/>
                  </a:cubicBezTo>
                  <a:lnTo>
                    <a:pt x="0" y="204787"/>
                  </a:lnTo>
                  <a:cubicBezTo>
                    <a:pt x="0" y="217941"/>
                    <a:pt x="10658" y="228600"/>
                    <a:pt x="23812" y="228600"/>
                  </a:cubicBezTo>
                  <a:lnTo>
                    <a:pt x="204787" y="228600"/>
                  </a:lnTo>
                  <a:cubicBezTo>
                    <a:pt x="217941" y="228600"/>
                    <a:pt x="228600" y="217941"/>
                    <a:pt x="228600" y="204787"/>
                  </a:cubicBezTo>
                  <a:lnTo>
                    <a:pt x="228600" y="23812"/>
                  </a:lnTo>
                  <a:cubicBezTo>
                    <a:pt x="228600" y="10658"/>
                    <a:pt x="217941" y="0"/>
                    <a:pt x="204787" y="0"/>
                  </a:cubicBezTo>
                  <a:moveTo>
                    <a:pt x="176212" y="90487"/>
                  </a:moveTo>
                  <a:lnTo>
                    <a:pt x="133350" y="90487"/>
                  </a:lnTo>
                  <a:cubicBezTo>
                    <a:pt x="128092" y="90487"/>
                    <a:pt x="123825" y="86220"/>
                    <a:pt x="123825" y="80962"/>
                  </a:cubicBezTo>
                  <a:cubicBezTo>
                    <a:pt x="123825" y="75704"/>
                    <a:pt x="128092" y="71437"/>
                    <a:pt x="133350" y="71437"/>
                  </a:cubicBezTo>
                  <a:lnTo>
                    <a:pt x="176212" y="71437"/>
                  </a:lnTo>
                  <a:cubicBezTo>
                    <a:pt x="181470" y="71437"/>
                    <a:pt x="185737" y="75704"/>
                    <a:pt x="185737" y="80962"/>
                  </a:cubicBezTo>
                  <a:cubicBezTo>
                    <a:pt x="185737" y="86220"/>
                    <a:pt x="181470" y="90487"/>
                    <a:pt x="176212" y="90487"/>
                  </a:cubicBezTo>
                  <a:moveTo>
                    <a:pt x="185737" y="166687"/>
                  </a:moveTo>
                  <a:cubicBezTo>
                    <a:pt x="185737" y="171945"/>
                    <a:pt x="181470" y="176212"/>
                    <a:pt x="176212" y="176212"/>
                  </a:cubicBezTo>
                  <a:lnTo>
                    <a:pt x="133350" y="176212"/>
                  </a:lnTo>
                  <a:cubicBezTo>
                    <a:pt x="128092" y="176212"/>
                    <a:pt x="123825" y="171945"/>
                    <a:pt x="123825" y="166687"/>
                  </a:cubicBezTo>
                  <a:cubicBezTo>
                    <a:pt x="123825" y="161429"/>
                    <a:pt x="128092" y="157162"/>
                    <a:pt x="133350" y="157162"/>
                  </a:cubicBezTo>
                  <a:lnTo>
                    <a:pt x="176212" y="157162"/>
                  </a:lnTo>
                  <a:cubicBezTo>
                    <a:pt x="181470" y="157162"/>
                    <a:pt x="185737" y="161429"/>
                    <a:pt x="185737" y="166687"/>
                  </a:cubicBezTo>
                  <a:moveTo>
                    <a:pt x="107632" y="53340"/>
                  </a:moveTo>
                  <a:lnTo>
                    <a:pt x="79057" y="91440"/>
                  </a:lnTo>
                  <a:cubicBezTo>
                    <a:pt x="77400" y="93659"/>
                    <a:pt x="74866" y="95049"/>
                    <a:pt x="72104" y="95250"/>
                  </a:cubicBezTo>
                  <a:cubicBezTo>
                    <a:pt x="69341" y="95450"/>
                    <a:pt x="66636" y="94440"/>
                    <a:pt x="64674" y="92487"/>
                  </a:cubicBezTo>
                  <a:lnTo>
                    <a:pt x="50387" y="78200"/>
                  </a:lnTo>
                  <a:cubicBezTo>
                    <a:pt x="46653" y="74466"/>
                    <a:pt x="46653" y="68408"/>
                    <a:pt x="50387" y="64674"/>
                  </a:cubicBezTo>
                  <a:cubicBezTo>
                    <a:pt x="54121" y="60940"/>
                    <a:pt x="60178" y="60940"/>
                    <a:pt x="63912" y="64674"/>
                  </a:cubicBezTo>
                  <a:lnTo>
                    <a:pt x="70389" y="71247"/>
                  </a:lnTo>
                  <a:lnTo>
                    <a:pt x="92392" y="41909"/>
                  </a:lnTo>
                  <a:cubicBezTo>
                    <a:pt x="95545" y="37699"/>
                    <a:pt x="101517" y="36852"/>
                    <a:pt x="105727" y="40004"/>
                  </a:cubicBezTo>
                  <a:cubicBezTo>
                    <a:pt x="109937" y="43157"/>
                    <a:pt x="110785" y="49129"/>
                    <a:pt x="107632" y="53340"/>
                  </a:cubicBezTo>
                  <a:moveTo>
                    <a:pt x="107632" y="148590"/>
                  </a:moveTo>
                  <a:lnTo>
                    <a:pt x="79057" y="186690"/>
                  </a:lnTo>
                  <a:cubicBezTo>
                    <a:pt x="77409" y="188909"/>
                    <a:pt x="74866" y="190309"/>
                    <a:pt x="72104" y="190509"/>
                  </a:cubicBezTo>
                  <a:cubicBezTo>
                    <a:pt x="69341" y="190709"/>
                    <a:pt x="66627" y="189699"/>
                    <a:pt x="64674" y="187737"/>
                  </a:cubicBezTo>
                  <a:lnTo>
                    <a:pt x="50387" y="173450"/>
                  </a:lnTo>
                  <a:cubicBezTo>
                    <a:pt x="46653" y="169716"/>
                    <a:pt x="46653" y="163658"/>
                    <a:pt x="50387" y="159924"/>
                  </a:cubicBezTo>
                  <a:cubicBezTo>
                    <a:pt x="54121" y="156190"/>
                    <a:pt x="60178" y="156190"/>
                    <a:pt x="63912" y="159924"/>
                  </a:cubicBezTo>
                  <a:lnTo>
                    <a:pt x="70389" y="166497"/>
                  </a:lnTo>
                  <a:lnTo>
                    <a:pt x="92392" y="137159"/>
                  </a:lnTo>
                  <a:cubicBezTo>
                    <a:pt x="95545" y="132949"/>
                    <a:pt x="101517" y="132102"/>
                    <a:pt x="105727" y="135254"/>
                  </a:cubicBezTo>
                  <a:cubicBezTo>
                    <a:pt x="109937" y="138407"/>
                    <a:pt x="110785" y="144379"/>
                    <a:pt x="107632" y="148590"/>
                  </a:cubicBezTo>
                </a:path>
              </a:pathLst>
            </a:custGeom>
            <a:solidFill>
              <a:srgbClr val="384F6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08" name="Rounded Rectangle 34">
              <a:extLst>
                <a:ext uri="{FF2B5EF4-FFF2-40B4-BE49-F238E27FC236}">
                  <a16:creationId xmlns:a16="http://schemas.microsoft.com/office/drawing/2014/main" id="{59380C1D-8238-C6BD-9523-32BA93594992}"/>
                </a:ext>
              </a:extLst>
            </p:cNvPr>
            <p:cNvSpPr/>
            <p:nvPr/>
          </p:nvSpPr>
          <p:spPr>
            <a:xfrm>
              <a:off x="1828666" y="2771776"/>
              <a:ext cx="228867" cy="228600"/>
            </a:xfrm>
            <a:custGeom>
              <a:avLst/>
              <a:gdLst/>
              <a:ahLst/>
              <a:cxnLst/>
              <a:rect l="0" t="0" r="0" b="0"/>
              <a:pathLst>
                <a:path w="228866" h="228600">
                  <a:moveTo>
                    <a:pt x="209683" y="19050"/>
                  </a:moveTo>
                  <a:lnTo>
                    <a:pt x="174059" y="19050"/>
                  </a:lnTo>
                  <a:lnTo>
                    <a:pt x="162534" y="2095"/>
                  </a:lnTo>
                  <a:cubicBezTo>
                    <a:pt x="161667" y="781"/>
                    <a:pt x="160200" y="0"/>
                    <a:pt x="158629" y="0"/>
                  </a:cubicBezTo>
                  <a:lnTo>
                    <a:pt x="127387" y="0"/>
                  </a:lnTo>
                  <a:cubicBezTo>
                    <a:pt x="125987" y="142"/>
                    <a:pt x="124729" y="914"/>
                    <a:pt x="123958" y="2095"/>
                  </a:cubicBezTo>
                  <a:lnTo>
                    <a:pt x="111956" y="19050"/>
                  </a:lnTo>
                  <a:lnTo>
                    <a:pt x="95383" y="19050"/>
                  </a:lnTo>
                  <a:cubicBezTo>
                    <a:pt x="84543" y="19850"/>
                    <a:pt x="76200" y="28946"/>
                    <a:pt x="76333" y="39814"/>
                  </a:cubicBezTo>
                  <a:lnTo>
                    <a:pt x="76333" y="88106"/>
                  </a:lnTo>
                  <a:cubicBezTo>
                    <a:pt x="76333" y="89420"/>
                    <a:pt x="77400" y="90487"/>
                    <a:pt x="78714" y="90487"/>
                  </a:cubicBezTo>
                  <a:lnTo>
                    <a:pt x="82429" y="90487"/>
                  </a:lnTo>
                  <a:cubicBezTo>
                    <a:pt x="88715" y="90487"/>
                    <a:pt x="94592" y="93592"/>
                    <a:pt x="98145" y="98774"/>
                  </a:cubicBezTo>
                  <a:lnTo>
                    <a:pt x="104717" y="108299"/>
                  </a:lnTo>
                  <a:cubicBezTo>
                    <a:pt x="105175" y="108946"/>
                    <a:pt x="105917" y="109337"/>
                    <a:pt x="106718" y="109346"/>
                  </a:cubicBezTo>
                  <a:lnTo>
                    <a:pt x="133483" y="109346"/>
                  </a:lnTo>
                  <a:cubicBezTo>
                    <a:pt x="143732" y="109470"/>
                    <a:pt x="153333" y="114404"/>
                    <a:pt x="159391" y="122681"/>
                  </a:cubicBezTo>
                  <a:cubicBezTo>
                    <a:pt x="159867" y="123253"/>
                    <a:pt x="160553" y="123596"/>
                    <a:pt x="161296" y="123634"/>
                  </a:cubicBezTo>
                  <a:lnTo>
                    <a:pt x="209683" y="123634"/>
                  </a:lnTo>
                  <a:cubicBezTo>
                    <a:pt x="220208" y="123634"/>
                    <a:pt x="228733" y="115109"/>
                    <a:pt x="228733" y="104584"/>
                  </a:cubicBezTo>
                  <a:lnTo>
                    <a:pt x="228733" y="39814"/>
                  </a:lnTo>
                  <a:cubicBezTo>
                    <a:pt x="228866" y="28946"/>
                    <a:pt x="220522" y="19850"/>
                    <a:pt x="209683" y="19050"/>
                  </a:cubicBezTo>
                  <a:moveTo>
                    <a:pt x="200158" y="38100"/>
                  </a:moveTo>
                  <a:cubicBezTo>
                    <a:pt x="205416" y="38100"/>
                    <a:pt x="209683" y="42367"/>
                    <a:pt x="209683" y="47625"/>
                  </a:cubicBezTo>
                  <a:cubicBezTo>
                    <a:pt x="209683" y="52882"/>
                    <a:pt x="205416" y="57150"/>
                    <a:pt x="200158" y="57150"/>
                  </a:cubicBezTo>
                  <a:cubicBezTo>
                    <a:pt x="194900" y="57150"/>
                    <a:pt x="190633" y="52882"/>
                    <a:pt x="190633" y="47625"/>
                  </a:cubicBezTo>
                  <a:cubicBezTo>
                    <a:pt x="190633" y="42367"/>
                    <a:pt x="194900" y="38100"/>
                    <a:pt x="200158" y="38100"/>
                  </a:cubicBezTo>
                  <a:moveTo>
                    <a:pt x="116814" y="64293"/>
                  </a:moveTo>
                  <a:cubicBezTo>
                    <a:pt x="116814" y="49825"/>
                    <a:pt x="128539" y="38100"/>
                    <a:pt x="143008" y="38100"/>
                  </a:cubicBezTo>
                  <a:cubicBezTo>
                    <a:pt x="157476" y="38100"/>
                    <a:pt x="169202" y="49825"/>
                    <a:pt x="169202" y="64293"/>
                  </a:cubicBezTo>
                  <a:cubicBezTo>
                    <a:pt x="169202" y="78762"/>
                    <a:pt x="157476" y="90487"/>
                    <a:pt x="143008" y="90487"/>
                  </a:cubicBezTo>
                  <a:cubicBezTo>
                    <a:pt x="128539" y="90487"/>
                    <a:pt x="116814" y="78762"/>
                    <a:pt x="116814" y="64293"/>
                  </a:cubicBezTo>
                  <a:moveTo>
                    <a:pt x="86334" y="106870"/>
                  </a:moveTo>
                  <a:cubicBezTo>
                    <a:pt x="85467" y="105556"/>
                    <a:pt x="84000" y="104775"/>
                    <a:pt x="82429" y="104775"/>
                  </a:cubicBezTo>
                  <a:lnTo>
                    <a:pt x="51187" y="104775"/>
                  </a:lnTo>
                  <a:cubicBezTo>
                    <a:pt x="49615" y="104775"/>
                    <a:pt x="48148" y="105556"/>
                    <a:pt x="47282" y="106870"/>
                  </a:cubicBezTo>
                  <a:lnTo>
                    <a:pt x="35756" y="123825"/>
                  </a:lnTo>
                  <a:lnTo>
                    <a:pt x="19183" y="123825"/>
                  </a:lnTo>
                  <a:cubicBezTo>
                    <a:pt x="8343" y="124625"/>
                    <a:pt x="0" y="133721"/>
                    <a:pt x="133" y="144589"/>
                  </a:cubicBezTo>
                  <a:lnTo>
                    <a:pt x="133" y="209550"/>
                  </a:lnTo>
                  <a:cubicBezTo>
                    <a:pt x="133" y="220075"/>
                    <a:pt x="8658" y="228600"/>
                    <a:pt x="19183" y="228600"/>
                  </a:cubicBezTo>
                  <a:lnTo>
                    <a:pt x="133483" y="228600"/>
                  </a:lnTo>
                  <a:cubicBezTo>
                    <a:pt x="144008" y="228600"/>
                    <a:pt x="152533" y="220075"/>
                    <a:pt x="152533" y="209550"/>
                  </a:cubicBezTo>
                  <a:lnTo>
                    <a:pt x="152533" y="144589"/>
                  </a:lnTo>
                  <a:cubicBezTo>
                    <a:pt x="152666" y="133721"/>
                    <a:pt x="144322" y="124625"/>
                    <a:pt x="133483" y="123825"/>
                  </a:cubicBezTo>
                  <a:lnTo>
                    <a:pt x="97859" y="123825"/>
                  </a:lnTo>
                  <a:lnTo>
                    <a:pt x="86334" y="106870"/>
                  </a:lnTo>
                  <a:moveTo>
                    <a:pt x="38233" y="176212"/>
                  </a:moveTo>
                  <a:cubicBezTo>
                    <a:pt x="38233" y="160429"/>
                    <a:pt x="51025" y="147637"/>
                    <a:pt x="66808" y="147637"/>
                  </a:cubicBezTo>
                  <a:cubicBezTo>
                    <a:pt x="82591" y="147637"/>
                    <a:pt x="95383" y="160429"/>
                    <a:pt x="95383" y="176212"/>
                  </a:cubicBezTo>
                  <a:cubicBezTo>
                    <a:pt x="95383" y="191995"/>
                    <a:pt x="82591" y="204787"/>
                    <a:pt x="66808" y="204787"/>
                  </a:cubicBezTo>
                  <a:cubicBezTo>
                    <a:pt x="51025" y="204787"/>
                    <a:pt x="38233" y="191995"/>
                    <a:pt x="38233" y="176212"/>
                  </a:cubicBezTo>
                  <a:moveTo>
                    <a:pt x="123958" y="161925"/>
                  </a:moveTo>
                  <a:cubicBezTo>
                    <a:pt x="118700" y="161925"/>
                    <a:pt x="114433" y="157657"/>
                    <a:pt x="114433" y="152400"/>
                  </a:cubicBezTo>
                  <a:cubicBezTo>
                    <a:pt x="114433" y="147142"/>
                    <a:pt x="118700" y="142875"/>
                    <a:pt x="123958" y="142875"/>
                  </a:cubicBezTo>
                  <a:cubicBezTo>
                    <a:pt x="129216" y="142875"/>
                    <a:pt x="133483" y="147142"/>
                    <a:pt x="133483" y="152400"/>
                  </a:cubicBezTo>
                  <a:cubicBezTo>
                    <a:pt x="133483" y="157657"/>
                    <a:pt x="129216" y="161925"/>
                    <a:pt x="123958" y="161925"/>
                  </a:cubicBezTo>
                </a:path>
              </a:pathLst>
            </a:custGeom>
            <a:solidFill>
              <a:srgbClr val="384F6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09" name="Rounded Rectangle 35">
              <a:extLst>
                <a:ext uri="{FF2B5EF4-FFF2-40B4-BE49-F238E27FC236}">
                  <a16:creationId xmlns:a16="http://schemas.microsoft.com/office/drawing/2014/main" id="{D9DC7280-F098-9979-5E2D-B2BAF90EB031}"/>
                </a:ext>
              </a:extLst>
            </p:cNvPr>
            <p:cNvSpPr/>
            <p:nvPr/>
          </p:nvSpPr>
          <p:spPr>
            <a:xfrm>
              <a:off x="1828800" y="4371975"/>
              <a:ext cx="229285" cy="228639"/>
            </a:xfrm>
            <a:custGeom>
              <a:avLst/>
              <a:gdLst/>
              <a:ahLst/>
              <a:cxnLst/>
              <a:rect l="0" t="0" r="0" b="0"/>
              <a:pathLst>
                <a:path w="229285" h="228638">
                  <a:moveTo>
                    <a:pt x="23812" y="157162"/>
                  </a:moveTo>
                  <a:cubicBezTo>
                    <a:pt x="21183" y="157162"/>
                    <a:pt x="19050" y="155028"/>
                    <a:pt x="19050" y="152400"/>
                  </a:cubicBezTo>
                  <a:lnTo>
                    <a:pt x="19050" y="71437"/>
                  </a:lnTo>
                  <a:cubicBezTo>
                    <a:pt x="19050" y="68808"/>
                    <a:pt x="21183" y="66675"/>
                    <a:pt x="23812" y="66675"/>
                  </a:cubicBezTo>
                  <a:lnTo>
                    <a:pt x="152400" y="66675"/>
                  </a:lnTo>
                  <a:cubicBezTo>
                    <a:pt x="155028" y="66675"/>
                    <a:pt x="157162" y="68808"/>
                    <a:pt x="157162" y="71437"/>
                  </a:cubicBezTo>
                  <a:lnTo>
                    <a:pt x="157162" y="97154"/>
                  </a:lnTo>
                  <a:cubicBezTo>
                    <a:pt x="163258" y="94611"/>
                    <a:pt x="170116" y="94611"/>
                    <a:pt x="176212" y="97154"/>
                  </a:cubicBezTo>
                  <a:lnTo>
                    <a:pt x="176212" y="28575"/>
                  </a:lnTo>
                  <a:cubicBezTo>
                    <a:pt x="176212" y="23317"/>
                    <a:pt x="171945" y="19050"/>
                    <a:pt x="166687" y="19050"/>
                  </a:cubicBezTo>
                  <a:lnTo>
                    <a:pt x="142875" y="19050"/>
                  </a:lnTo>
                  <a:cubicBezTo>
                    <a:pt x="141560" y="19050"/>
                    <a:pt x="140493" y="17983"/>
                    <a:pt x="140493" y="16668"/>
                  </a:cubicBezTo>
                  <a:lnTo>
                    <a:pt x="140493" y="7143"/>
                  </a:lnTo>
                  <a:cubicBezTo>
                    <a:pt x="140493" y="3200"/>
                    <a:pt x="137293" y="0"/>
                    <a:pt x="133350" y="0"/>
                  </a:cubicBezTo>
                  <a:cubicBezTo>
                    <a:pt x="129406" y="0"/>
                    <a:pt x="126206" y="3200"/>
                    <a:pt x="126206" y="7143"/>
                  </a:cubicBezTo>
                  <a:lnTo>
                    <a:pt x="126206" y="42862"/>
                  </a:lnTo>
                  <a:cubicBezTo>
                    <a:pt x="126206" y="46805"/>
                    <a:pt x="123005" y="50006"/>
                    <a:pt x="119062" y="50006"/>
                  </a:cubicBezTo>
                  <a:cubicBezTo>
                    <a:pt x="115119" y="50006"/>
                    <a:pt x="111918" y="46805"/>
                    <a:pt x="111918" y="42862"/>
                  </a:cubicBezTo>
                  <a:lnTo>
                    <a:pt x="111918" y="23812"/>
                  </a:lnTo>
                  <a:cubicBezTo>
                    <a:pt x="111918" y="21183"/>
                    <a:pt x="109785" y="19050"/>
                    <a:pt x="107156" y="19050"/>
                  </a:cubicBezTo>
                  <a:lnTo>
                    <a:pt x="66675" y="19050"/>
                  </a:lnTo>
                  <a:cubicBezTo>
                    <a:pt x="65360" y="19050"/>
                    <a:pt x="64293" y="17983"/>
                    <a:pt x="64293" y="16668"/>
                  </a:cubicBezTo>
                  <a:lnTo>
                    <a:pt x="64293" y="7143"/>
                  </a:lnTo>
                  <a:cubicBezTo>
                    <a:pt x="64293" y="3200"/>
                    <a:pt x="61093" y="0"/>
                    <a:pt x="57150" y="0"/>
                  </a:cubicBezTo>
                  <a:cubicBezTo>
                    <a:pt x="53206" y="0"/>
                    <a:pt x="50006" y="3200"/>
                    <a:pt x="50006" y="7143"/>
                  </a:cubicBezTo>
                  <a:lnTo>
                    <a:pt x="50006" y="42862"/>
                  </a:lnTo>
                  <a:cubicBezTo>
                    <a:pt x="50006" y="46805"/>
                    <a:pt x="46805" y="50006"/>
                    <a:pt x="42862" y="50006"/>
                  </a:cubicBezTo>
                  <a:cubicBezTo>
                    <a:pt x="38919" y="50006"/>
                    <a:pt x="35718" y="46805"/>
                    <a:pt x="35718" y="42862"/>
                  </a:cubicBezTo>
                  <a:lnTo>
                    <a:pt x="35718" y="23812"/>
                  </a:lnTo>
                  <a:cubicBezTo>
                    <a:pt x="35718" y="21183"/>
                    <a:pt x="33585" y="19050"/>
                    <a:pt x="30956" y="19050"/>
                  </a:cubicBezTo>
                  <a:lnTo>
                    <a:pt x="9525" y="19050"/>
                  </a:lnTo>
                  <a:cubicBezTo>
                    <a:pt x="4267" y="19050"/>
                    <a:pt x="0" y="23317"/>
                    <a:pt x="0" y="28575"/>
                  </a:cubicBezTo>
                  <a:lnTo>
                    <a:pt x="0" y="157162"/>
                  </a:lnTo>
                  <a:cubicBezTo>
                    <a:pt x="0" y="167687"/>
                    <a:pt x="8524" y="176212"/>
                    <a:pt x="19050" y="176212"/>
                  </a:cubicBezTo>
                  <a:lnTo>
                    <a:pt x="107251" y="176212"/>
                  </a:lnTo>
                  <a:lnTo>
                    <a:pt x="117252" y="157162"/>
                  </a:lnTo>
                  <a:lnTo>
                    <a:pt x="23812" y="157162"/>
                  </a:lnTo>
                  <a:moveTo>
                    <a:pt x="178879" y="116871"/>
                  </a:moveTo>
                  <a:cubicBezTo>
                    <a:pt x="176479" y="112366"/>
                    <a:pt x="171792" y="109547"/>
                    <a:pt x="166687" y="109547"/>
                  </a:cubicBezTo>
                  <a:cubicBezTo>
                    <a:pt x="161582" y="109547"/>
                    <a:pt x="156895" y="112366"/>
                    <a:pt x="154495" y="116871"/>
                  </a:cubicBezTo>
                  <a:lnTo>
                    <a:pt x="106298" y="208692"/>
                  </a:lnTo>
                  <a:cubicBezTo>
                    <a:pt x="104089" y="212931"/>
                    <a:pt x="104270" y="218017"/>
                    <a:pt x="106765" y="222094"/>
                  </a:cubicBezTo>
                  <a:cubicBezTo>
                    <a:pt x="109261" y="226171"/>
                    <a:pt x="113709" y="228638"/>
                    <a:pt x="118490" y="228600"/>
                  </a:cubicBezTo>
                  <a:lnTo>
                    <a:pt x="214884" y="228600"/>
                  </a:lnTo>
                  <a:cubicBezTo>
                    <a:pt x="219665" y="228638"/>
                    <a:pt x="224113" y="226171"/>
                    <a:pt x="226609" y="222094"/>
                  </a:cubicBezTo>
                  <a:cubicBezTo>
                    <a:pt x="229104" y="218017"/>
                    <a:pt x="229285" y="212931"/>
                    <a:pt x="227076" y="208692"/>
                  </a:cubicBezTo>
                  <a:lnTo>
                    <a:pt x="178879" y="116871"/>
                  </a:lnTo>
                  <a:moveTo>
                    <a:pt x="166687" y="145446"/>
                  </a:moveTo>
                  <a:cubicBezTo>
                    <a:pt x="170611" y="145494"/>
                    <a:pt x="173783" y="148666"/>
                    <a:pt x="173831" y="152590"/>
                  </a:cubicBezTo>
                  <a:lnTo>
                    <a:pt x="173831" y="181165"/>
                  </a:lnTo>
                  <a:cubicBezTo>
                    <a:pt x="173831" y="185108"/>
                    <a:pt x="170630" y="188309"/>
                    <a:pt x="166687" y="188309"/>
                  </a:cubicBezTo>
                  <a:cubicBezTo>
                    <a:pt x="162744" y="188309"/>
                    <a:pt x="159543" y="185108"/>
                    <a:pt x="159543" y="181165"/>
                  </a:cubicBezTo>
                  <a:lnTo>
                    <a:pt x="159543" y="152400"/>
                  </a:lnTo>
                  <a:cubicBezTo>
                    <a:pt x="159591" y="148475"/>
                    <a:pt x="162763" y="145303"/>
                    <a:pt x="166687" y="145256"/>
                  </a:cubicBezTo>
                  <a:moveTo>
                    <a:pt x="166687" y="212121"/>
                  </a:moveTo>
                  <a:cubicBezTo>
                    <a:pt x="161429" y="212121"/>
                    <a:pt x="157162" y="207854"/>
                    <a:pt x="157162" y="202596"/>
                  </a:cubicBezTo>
                  <a:cubicBezTo>
                    <a:pt x="157162" y="197338"/>
                    <a:pt x="161429" y="193071"/>
                    <a:pt x="166687" y="193071"/>
                  </a:cubicBezTo>
                  <a:cubicBezTo>
                    <a:pt x="171945" y="193071"/>
                    <a:pt x="176212" y="197338"/>
                    <a:pt x="176212" y="202596"/>
                  </a:cubicBezTo>
                  <a:cubicBezTo>
                    <a:pt x="176107" y="207778"/>
                    <a:pt x="171878" y="211931"/>
                    <a:pt x="166687" y="211931"/>
                  </a:cubicBezTo>
                </a:path>
              </a:pathLst>
            </a:custGeom>
            <a:solidFill>
              <a:srgbClr val="384F6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10" name="Rounded Rectangle 36">
              <a:extLst>
                <a:ext uri="{FF2B5EF4-FFF2-40B4-BE49-F238E27FC236}">
                  <a16:creationId xmlns:a16="http://schemas.microsoft.com/office/drawing/2014/main" id="{18AA38D5-ECC9-22C5-9189-1ABE927D1BCD}"/>
                </a:ext>
              </a:extLst>
            </p:cNvPr>
            <p:cNvSpPr/>
            <p:nvPr/>
          </p:nvSpPr>
          <p:spPr>
            <a:xfrm>
              <a:off x="1828752" y="5172075"/>
              <a:ext cx="228685" cy="228666"/>
            </a:xfrm>
            <a:custGeom>
              <a:avLst/>
              <a:gdLst/>
              <a:ahLst/>
              <a:cxnLst/>
              <a:rect l="0" t="0" r="0" b="0"/>
              <a:pathLst>
                <a:path w="228685" h="228666">
                  <a:moveTo>
                    <a:pt x="47" y="33147"/>
                  </a:moveTo>
                  <a:cubicBezTo>
                    <a:pt x="0" y="39490"/>
                    <a:pt x="2486" y="45605"/>
                    <a:pt x="6953" y="50111"/>
                  </a:cubicBezTo>
                  <a:cubicBezTo>
                    <a:pt x="11429" y="54616"/>
                    <a:pt x="17506" y="57150"/>
                    <a:pt x="23860" y="57150"/>
                  </a:cubicBezTo>
                  <a:lnTo>
                    <a:pt x="185785" y="57150"/>
                  </a:lnTo>
                  <a:cubicBezTo>
                    <a:pt x="192138" y="57150"/>
                    <a:pt x="198215" y="54616"/>
                    <a:pt x="202692" y="50111"/>
                  </a:cubicBezTo>
                  <a:cubicBezTo>
                    <a:pt x="207159" y="45605"/>
                    <a:pt x="209645" y="39490"/>
                    <a:pt x="209597" y="33147"/>
                  </a:cubicBezTo>
                  <a:lnTo>
                    <a:pt x="209597" y="23622"/>
                  </a:lnTo>
                  <a:cubicBezTo>
                    <a:pt x="209445" y="10563"/>
                    <a:pt x="198843" y="47"/>
                    <a:pt x="185785" y="0"/>
                  </a:cubicBezTo>
                  <a:lnTo>
                    <a:pt x="23860" y="0"/>
                  </a:lnTo>
                  <a:cubicBezTo>
                    <a:pt x="10801" y="47"/>
                    <a:pt x="200" y="10563"/>
                    <a:pt x="47" y="23622"/>
                  </a:cubicBezTo>
                  <a:lnTo>
                    <a:pt x="47" y="33147"/>
                  </a:lnTo>
                  <a:moveTo>
                    <a:pt x="34718" y="28575"/>
                  </a:moveTo>
                  <a:cubicBezTo>
                    <a:pt x="34680" y="24288"/>
                    <a:pt x="37233" y="20402"/>
                    <a:pt x="41176" y="18735"/>
                  </a:cubicBezTo>
                  <a:cubicBezTo>
                    <a:pt x="45129" y="17068"/>
                    <a:pt x="49691" y="17954"/>
                    <a:pt x="52730" y="20974"/>
                  </a:cubicBezTo>
                  <a:cubicBezTo>
                    <a:pt x="55778" y="23983"/>
                    <a:pt x="56702" y="28536"/>
                    <a:pt x="55064" y="32499"/>
                  </a:cubicBezTo>
                  <a:cubicBezTo>
                    <a:pt x="53435" y="36461"/>
                    <a:pt x="49577" y="39052"/>
                    <a:pt x="45291" y="39052"/>
                  </a:cubicBezTo>
                  <a:cubicBezTo>
                    <a:pt x="39490" y="39052"/>
                    <a:pt x="34766" y="34375"/>
                    <a:pt x="34718" y="28575"/>
                  </a:cubicBezTo>
                  <a:moveTo>
                    <a:pt x="71485" y="28575"/>
                  </a:moveTo>
                  <a:cubicBezTo>
                    <a:pt x="71408" y="24231"/>
                    <a:pt x="73971" y="20278"/>
                    <a:pt x="77962" y="18573"/>
                  </a:cubicBezTo>
                  <a:cubicBezTo>
                    <a:pt x="81953" y="16868"/>
                    <a:pt x="86572" y="17754"/>
                    <a:pt x="89658" y="20812"/>
                  </a:cubicBezTo>
                  <a:cubicBezTo>
                    <a:pt x="92744" y="23860"/>
                    <a:pt x="93668" y="28479"/>
                    <a:pt x="92001" y="32489"/>
                  </a:cubicBezTo>
                  <a:cubicBezTo>
                    <a:pt x="90325" y="36490"/>
                    <a:pt x="86401" y="39090"/>
                    <a:pt x="82057" y="39052"/>
                  </a:cubicBezTo>
                  <a:cubicBezTo>
                    <a:pt x="76257" y="39052"/>
                    <a:pt x="71532" y="34375"/>
                    <a:pt x="71485" y="28575"/>
                  </a:cubicBezTo>
                  <a:moveTo>
                    <a:pt x="166735" y="90677"/>
                  </a:moveTo>
                  <a:cubicBezTo>
                    <a:pt x="179289" y="90649"/>
                    <a:pt x="191662" y="93725"/>
                    <a:pt x="202739" y="99631"/>
                  </a:cubicBezTo>
                  <a:cubicBezTo>
                    <a:pt x="204225" y="100422"/>
                    <a:pt x="206025" y="100355"/>
                    <a:pt x="207454" y="99450"/>
                  </a:cubicBezTo>
                  <a:cubicBezTo>
                    <a:pt x="208873" y="98536"/>
                    <a:pt x="209692" y="96935"/>
                    <a:pt x="209597" y="95250"/>
                  </a:cubicBezTo>
                  <a:lnTo>
                    <a:pt x="209597" y="90392"/>
                  </a:lnTo>
                  <a:cubicBezTo>
                    <a:pt x="209492" y="77295"/>
                    <a:pt x="198881" y="66722"/>
                    <a:pt x="185785" y="66675"/>
                  </a:cubicBezTo>
                  <a:lnTo>
                    <a:pt x="23860" y="66675"/>
                  </a:lnTo>
                  <a:cubicBezTo>
                    <a:pt x="10782" y="66675"/>
                    <a:pt x="152" y="77219"/>
                    <a:pt x="47" y="90297"/>
                  </a:cubicBezTo>
                  <a:lnTo>
                    <a:pt x="47" y="99822"/>
                  </a:lnTo>
                  <a:cubicBezTo>
                    <a:pt x="0" y="106165"/>
                    <a:pt x="2486" y="112280"/>
                    <a:pt x="6953" y="116786"/>
                  </a:cubicBezTo>
                  <a:cubicBezTo>
                    <a:pt x="11429" y="121291"/>
                    <a:pt x="17506" y="123825"/>
                    <a:pt x="23860" y="123825"/>
                  </a:cubicBezTo>
                  <a:lnTo>
                    <a:pt x="101584" y="123825"/>
                  </a:lnTo>
                  <a:cubicBezTo>
                    <a:pt x="103089" y="123853"/>
                    <a:pt x="104517" y="123148"/>
                    <a:pt x="105394" y="121920"/>
                  </a:cubicBezTo>
                  <a:cubicBezTo>
                    <a:pt x="119700" y="102336"/>
                    <a:pt x="142484" y="90735"/>
                    <a:pt x="166735" y="90677"/>
                  </a:cubicBezTo>
                  <a:moveTo>
                    <a:pt x="92725" y="95250"/>
                  </a:moveTo>
                  <a:cubicBezTo>
                    <a:pt x="92668" y="101126"/>
                    <a:pt x="87877" y="105860"/>
                    <a:pt x="81991" y="105822"/>
                  </a:cubicBezTo>
                  <a:cubicBezTo>
                    <a:pt x="76114" y="105784"/>
                    <a:pt x="71370" y="101003"/>
                    <a:pt x="71389" y="95126"/>
                  </a:cubicBezTo>
                  <a:cubicBezTo>
                    <a:pt x="71408" y="89239"/>
                    <a:pt x="76180" y="84486"/>
                    <a:pt x="82057" y="84486"/>
                  </a:cubicBezTo>
                  <a:cubicBezTo>
                    <a:pt x="84905" y="84486"/>
                    <a:pt x="87629" y="85620"/>
                    <a:pt x="89639" y="87649"/>
                  </a:cubicBezTo>
                  <a:cubicBezTo>
                    <a:pt x="91640" y="89668"/>
                    <a:pt x="92754" y="92402"/>
                    <a:pt x="92725" y="95250"/>
                  </a:cubicBezTo>
                  <a:moveTo>
                    <a:pt x="55864" y="95250"/>
                  </a:moveTo>
                  <a:cubicBezTo>
                    <a:pt x="55759" y="101060"/>
                    <a:pt x="50977" y="105698"/>
                    <a:pt x="45167" y="105632"/>
                  </a:cubicBezTo>
                  <a:cubicBezTo>
                    <a:pt x="39357" y="105565"/>
                    <a:pt x="34690" y="100812"/>
                    <a:pt x="34718" y="94992"/>
                  </a:cubicBezTo>
                  <a:cubicBezTo>
                    <a:pt x="34756" y="89182"/>
                    <a:pt x="39481" y="84486"/>
                    <a:pt x="45291" y="84486"/>
                  </a:cubicBezTo>
                  <a:cubicBezTo>
                    <a:pt x="48129" y="84486"/>
                    <a:pt x="50844" y="85629"/>
                    <a:pt x="52835" y="87649"/>
                  </a:cubicBezTo>
                  <a:cubicBezTo>
                    <a:pt x="54825" y="89677"/>
                    <a:pt x="55911" y="92411"/>
                    <a:pt x="55864" y="95250"/>
                  </a:cubicBezTo>
                  <a:moveTo>
                    <a:pt x="91201" y="133350"/>
                  </a:moveTo>
                  <a:lnTo>
                    <a:pt x="23860" y="133350"/>
                  </a:lnTo>
                  <a:cubicBezTo>
                    <a:pt x="10782" y="133350"/>
                    <a:pt x="152" y="143894"/>
                    <a:pt x="47" y="156972"/>
                  </a:cubicBezTo>
                  <a:lnTo>
                    <a:pt x="47" y="166497"/>
                  </a:lnTo>
                  <a:cubicBezTo>
                    <a:pt x="0" y="172840"/>
                    <a:pt x="2486" y="178955"/>
                    <a:pt x="6953" y="183461"/>
                  </a:cubicBezTo>
                  <a:cubicBezTo>
                    <a:pt x="11429" y="187966"/>
                    <a:pt x="17506" y="190500"/>
                    <a:pt x="23860" y="190500"/>
                  </a:cubicBezTo>
                  <a:lnTo>
                    <a:pt x="88058" y="190500"/>
                  </a:lnTo>
                  <a:cubicBezTo>
                    <a:pt x="89496" y="190547"/>
                    <a:pt x="90878" y="189909"/>
                    <a:pt x="91773" y="188785"/>
                  </a:cubicBezTo>
                  <a:cubicBezTo>
                    <a:pt x="92678" y="187661"/>
                    <a:pt x="92992" y="186175"/>
                    <a:pt x="92630" y="184784"/>
                  </a:cubicBezTo>
                  <a:cubicBezTo>
                    <a:pt x="88877" y="169783"/>
                    <a:pt x="89801" y="153990"/>
                    <a:pt x="95297" y="139541"/>
                  </a:cubicBezTo>
                  <a:cubicBezTo>
                    <a:pt x="95735" y="138169"/>
                    <a:pt x="95526" y="136664"/>
                    <a:pt x="94735" y="135464"/>
                  </a:cubicBezTo>
                  <a:cubicBezTo>
                    <a:pt x="93935" y="134264"/>
                    <a:pt x="92640" y="133483"/>
                    <a:pt x="91201" y="133350"/>
                  </a:cubicBezTo>
                  <a:moveTo>
                    <a:pt x="34718" y="161925"/>
                  </a:moveTo>
                  <a:cubicBezTo>
                    <a:pt x="34680" y="157638"/>
                    <a:pt x="37233" y="153752"/>
                    <a:pt x="41176" y="152085"/>
                  </a:cubicBezTo>
                  <a:cubicBezTo>
                    <a:pt x="45129" y="150418"/>
                    <a:pt x="49691" y="151304"/>
                    <a:pt x="52730" y="154324"/>
                  </a:cubicBezTo>
                  <a:cubicBezTo>
                    <a:pt x="55778" y="157333"/>
                    <a:pt x="56702" y="161886"/>
                    <a:pt x="55064" y="165849"/>
                  </a:cubicBezTo>
                  <a:cubicBezTo>
                    <a:pt x="53435" y="169811"/>
                    <a:pt x="49577" y="172402"/>
                    <a:pt x="45291" y="172402"/>
                  </a:cubicBezTo>
                  <a:cubicBezTo>
                    <a:pt x="39490" y="172402"/>
                    <a:pt x="34766" y="167725"/>
                    <a:pt x="34718" y="161925"/>
                  </a:cubicBezTo>
                  <a:moveTo>
                    <a:pt x="104822" y="166877"/>
                  </a:moveTo>
                  <a:cubicBezTo>
                    <a:pt x="104927" y="201044"/>
                    <a:pt x="132692" y="228666"/>
                    <a:pt x="166858" y="228600"/>
                  </a:cubicBezTo>
                  <a:cubicBezTo>
                    <a:pt x="201034" y="228533"/>
                    <a:pt x="228685" y="200796"/>
                    <a:pt x="228647" y="166620"/>
                  </a:cubicBezTo>
                  <a:cubicBezTo>
                    <a:pt x="228609" y="132454"/>
                    <a:pt x="200901" y="104775"/>
                    <a:pt x="166735" y="104775"/>
                  </a:cubicBezTo>
                  <a:cubicBezTo>
                    <a:pt x="132492" y="104832"/>
                    <a:pt x="104765" y="132635"/>
                    <a:pt x="104822" y="166877"/>
                  </a:cubicBezTo>
                  <a:moveTo>
                    <a:pt x="152447" y="202596"/>
                  </a:moveTo>
                  <a:cubicBezTo>
                    <a:pt x="148504" y="202596"/>
                    <a:pt x="145303" y="199396"/>
                    <a:pt x="145303" y="195452"/>
                  </a:cubicBezTo>
                  <a:cubicBezTo>
                    <a:pt x="145303" y="191509"/>
                    <a:pt x="148504" y="188309"/>
                    <a:pt x="152447" y="188309"/>
                  </a:cubicBezTo>
                  <a:lnTo>
                    <a:pt x="171497" y="188309"/>
                  </a:lnTo>
                  <a:cubicBezTo>
                    <a:pt x="173002" y="188309"/>
                    <a:pt x="174450" y="187699"/>
                    <a:pt x="175507" y="186632"/>
                  </a:cubicBezTo>
                  <a:cubicBezTo>
                    <a:pt x="176564" y="185556"/>
                    <a:pt x="177145" y="184099"/>
                    <a:pt x="177117" y="182594"/>
                  </a:cubicBezTo>
                  <a:cubicBezTo>
                    <a:pt x="177155" y="180279"/>
                    <a:pt x="175745" y="178193"/>
                    <a:pt x="173593" y="177355"/>
                  </a:cubicBezTo>
                  <a:lnTo>
                    <a:pt x="153971" y="169545"/>
                  </a:lnTo>
                  <a:cubicBezTo>
                    <a:pt x="145703" y="166335"/>
                    <a:pt x="140560" y="158038"/>
                    <a:pt x="141351" y="149209"/>
                  </a:cubicBezTo>
                  <a:cubicBezTo>
                    <a:pt x="142151" y="140369"/>
                    <a:pt x="148694" y="133130"/>
                    <a:pt x="157400" y="131445"/>
                  </a:cubicBezTo>
                  <a:cubicBezTo>
                    <a:pt x="158505" y="131178"/>
                    <a:pt x="159296" y="130197"/>
                    <a:pt x="159305" y="129063"/>
                  </a:cubicBezTo>
                  <a:lnTo>
                    <a:pt x="159305" y="126206"/>
                  </a:lnTo>
                  <a:cubicBezTo>
                    <a:pt x="159305" y="122262"/>
                    <a:pt x="162506" y="119062"/>
                    <a:pt x="166449" y="119062"/>
                  </a:cubicBezTo>
                  <a:cubicBezTo>
                    <a:pt x="170392" y="119062"/>
                    <a:pt x="173593" y="122262"/>
                    <a:pt x="173593" y="126206"/>
                  </a:cubicBezTo>
                  <a:lnTo>
                    <a:pt x="173593" y="128587"/>
                  </a:lnTo>
                  <a:cubicBezTo>
                    <a:pt x="173593" y="129901"/>
                    <a:pt x="174659" y="130968"/>
                    <a:pt x="175974" y="130968"/>
                  </a:cubicBezTo>
                  <a:lnTo>
                    <a:pt x="181022" y="130968"/>
                  </a:lnTo>
                  <a:cubicBezTo>
                    <a:pt x="184965" y="130968"/>
                    <a:pt x="188166" y="134169"/>
                    <a:pt x="188166" y="138112"/>
                  </a:cubicBezTo>
                  <a:cubicBezTo>
                    <a:pt x="188166" y="142055"/>
                    <a:pt x="184965" y="145256"/>
                    <a:pt x="181022" y="145256"/>
                  </a:cubicBezTo>
                  <a:lnTo>
                    <a:pt x="161972" y="145256"/>
                  </a:lnTo>
                  <a:cubicBezTo>
                    <a:pt x="159258" y="145227"/>
                    <a:pt x="156905" y="147142"/>
                    <a:pt x="156390" y="149809"/>
                  </a:cubicBezTo>
                  <a:cubicBezTo>
                    <a:pt x="155876" y="152476"/>
                    <a:pt x="157343" y="155133"/>
                    <a:pt x="159877" y="156114"/>
                  </a:cubicBezTo>
                  <a:lnTo>
                    <a:pt x="179498" y="163925"/>
                  </a:lnTo>
                  <a:cubicBezTo>
                    <a:pt x="187766" y="167135"/>
                    <a:pt x="192909" y="175431"/>
                    <a:pt x="192119" y="184261"/>
                  </a:cubicBezTo>
                  <a:cubicBezTo>
                    <a:pt x="191319" y="193100"/>
                    <a:pt x="184775" y="200339"/>
                    <a:pt x="176069" y="202025"/>
                  </a:cubicBezTo>
                  <a:cubicBezTo>
                    <a:pt x="174964" y="202291"/>
                    <a:pt x="174174" y="203273"/>
                    <a:pt x="174164" y="204406"/>
                  </a:cubicBezTo>
                  <a:lnTo>
                    <a:pt x="174164" y="207359"/>
                  </a:lnTo>
                  <a:cubicBezTo>
                    <a:pt x="174164" y="211302"/>
                    <a:pt x="170964" y="214502"/>
                    <a:pt x="167020" y="214502"/>
                  </a:cubicBezTo>
                  <a:cubicBezTo>
                    <a:pt x="163077" y="214502"/>
                    <a:pt x="159877" y="211302"/>
                    <a:pt x="159877" y="207359"/>
                  </a:cubicBezTo>
                  <a:lnTo>
                    <a:pt x="159877" y="204977"/>
                  </a:lnTo>
                  <a:cubicBezTo>
                    <a:pt x="159877" y="203663"/>
                    <a:pt x="158810" y="202596"/>
                    <a:pt x="157495" y="202596"/>
                  </a:cubicBezTo>
                  <a:lnTo>
                    <a:pt x="152447" y="202596"/>
                  </a:lnTo>
                </a:path>
              </a:pathLst>
            </a:custGeom>
            <a:solidFill>
              <a:srgbClr val="384F6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7511" name="Group 17510">
              <a:extLst>
                <a:ext uri="{FF2B5EF4-FFF2-40B4-BE49-F238E27FC236}">
                  <a16:creationId xmlns:a16="http://schemas.microsoft.com/office/drawing/2014/main" id="{0EFAE656-B0EC-CC64-E22A-0580B5ECF0DF}"/>
                </a:ext>
              </a:extLst>
            </p:cNvPr>
            <p:cNvGrpSpPr/>
            <p:nvPr/>
          </p:nvGrpSpPr>
          <p:grpSpPr>
            <a:xfrm>
              <a:off x="2406189" y="3463972"/>
              <a:ext cx="1369218" cy="393653"/>
              <a:chOff x="1263189" y="2921047"/>
              <a:chExt cx="1369218" cy="393653"/>
            </a:xfrm>
          </p:grpSpPr>
          <p:sp>
            <p:nvSpPr>
              <p:cNvPr id="17524" name="TextBox 17523">
                <a:extLst>
                  <a:ext uri="{FF2B5EF4-FFF2-40B4-BE49-F238E27FC236}">
                    <a16:creationId xmlns:a16="http://schemas.microsoft.com/office/drawing/2014/main" id="{61637F4F-9DB1-67A4-24D3-6BCAEAB538EC}"/>
                  </a:ext>
                </a:extLst>
              </p:cNvPr>
              <p:cNvSpPr txBox="1"/>
              <p:nvPr/>
            </p:nvSpPr>
            <p:spPr>
              <a:xfrm>
                <a:off x="1263189" y="2921047"/>
                <a:ext cx="1369218" cy="1714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1100" b="0" dirty="0">
                    <a:solidFill>
                      <a:srgbClr val="384F6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Misregistration &amp;</a:t>
                </a:r>
              </a:p>
            </p:txBody>
          </p:sp>
          <p:sp>
            <p:nvSpPr>
              <p:cNvPr id="17525" name="TextBox 17524">
                <a:extLst>
                  <a:ext uri="{FF2B5EF4-FFF2-40B4-BE49-F238E27FC236}">
                    <a16:creationId xmlns:a16="http://schemas.microsoft.com/office/drawing/2014/main" id="{EBB9F82E-AE28-DDD7-ADD7-D6D3B606ECD7}"/>
                  </a:ext>
                </a:extLst>
              </p:cNvPr>
              <p:cNvSpPr txBox="1"/>
              <p:nvPr/>
            </p:nvSpPr>
            <p:spPr>
              <a:xfrm>
                <a:off x="1263189" y="3143251"/>
                <a:ext cx="1369218" cy="1714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1100" b="0" dirty="0">
                    <a:solidFill>
                      <a:srgbClr val="384F6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sensor differences</a:t>
                </a:r>
              </a:p>
            </p:txBody>
          </p:sp>
        </p:grpSp>
        <p:sp>
          <p:nvSpPr>
            <p:cNvPr id="17512" name="TextBox 17511">
              <a:extLst>
                <a:ext uri="{FF2B5EF4-FFF2-40B4-BE49-F238E27FC236}">
                  <a16:creationId xmlns:a16="http://schemas.microsoft.com/office/drawing/2014/main" id="{CF91AFFA-9B37-A0E5-AD2F-9F7F99F78EFD}"/>
                </a:ext>
              </a:extLst>
            </p:cNvPr>
            <p:cNvSpPr txBox="1"/>
            <p:nvPr/>
          </p:nvSpPr>
          <p:spPr>
            <a:xfrm>
              <a:off x="5048250" y="2768164"/>
              <a:ext cx="1662494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0" dirty="0">
                  <a:solidFill>
                    <a:srgbClr val="384F6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Per-pixel quality mask</a:t>
              </a:r>
            </a:p>
          </p:txBody>
        </p:sp>
        <p:sp>
          <p:nvSpPr>
            <p:cNvPr id="17513" name="TextBox 17512">
              <a:extLst>
                <a:ext uri="{FF2B5EF4-FFF2-40B4-BE49-F238E27FC236}">
                  <a16:creationId xmlns:a16="http://schemas.microsoft.com/office/drawing/2014/main" id="{0019ECDA-80DE-AD89-0B82-BF95E9B22AEE}"/>
                </a:ext>
              </a:extLst>
            </p:cNvPr>
            <p:cNvSpPr txBox="1"/>
            <p:nvPr/>
          </p:nvSpPr>
          <p:spPr>
            <a:xfrm>
              <a:off x="4711714" y="3491826"/>
              <a:ext cx="2724032" cy="352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0" dirty="0">
                  <a:solidFill>
                    <a:srgbClr val="384F6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Co-registration &amp; </a:t>
              </a:r>
              <a:endParaRPr lang="en-US" sz="1100" b="0" dirty="0">
                <a:solidFill>
                  <a:srgbClr val="384F6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sz="1100" b="0" dirty="0">
                  <a:solidFill>
                    <a:srgbClr val="384F6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normalization</a:t>
              </a:r>
            </a:p>
          </p:txBody>
        </p:sp>
        <p:grpSp>
          <p:nvGrpSpPr>
            <p:cNvPr id="17514" name="Group 17513">
              <a:extLst>
                <a:ext uri="{FF2B5EF4-FFF2-40B4-BE49-F238E27FC236}">
                  <a16:creationId xmlns:a16="http://schemas.microsoft.com/office/drawing/2014/main" id="{92FDE175-BE40-59F7-CF9F-26D70738BEFF}"/>
                </a:ext>
              </a:extLst>
            </p:cNvPr>
            <p:cNvGrpSpPr/>
            <p:nvPr/>
          </p:nvGrpSpPr>
          <p:grpSpPr>
            <a:xfrm>
              <a:off x="2367478" y="2655803"/>
              <a:ext cx="1273772" cy="415743"/>
              <a:chOff x="1224478" y="2112878"/>
              <a:chExt cx="1273772" cy="415743"/>
            </a:xfrm>
          </p:grpSpPr>
          <p:sp>
            <p:nvSpPr>
              <p:cNvPr id="17522" name="TextBox 17521">
                <a:extLst>
                  <a:ext uri="{FF2B5EF4-FFF2-40B4-BE49-F238E27FC236}">
                    <a16:creationId xmlns:a16="http://schemas.microsoft.com/office/drawing/2014/main" id="{A781560F-E80F-2604-9E0F-D85E71D27578}"/>
                  </a:ext>
                </a:extLst>
              </p:cNvPr>
              <p:cNvSpPr txBox="1"/>
              <p:nvPr/>
            </p:nvSpPr>
            <p:spPr>
              <a:xfrm>
                <a:off x="1224478" y="2112878"/>
                <a:ext cx="1236404" cy="1714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1100" b="0" dirty="0">
                    <a:solidFill>
                      <a:srgbClr val="384F6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Clouds, haze, snow</a:t>
                </a:r>
              </a:p>
            </p:txBody>
          </p:sp>
          <p:sp>
            <p:nvSpPr>
              <p:cNvPr id="17523" name="TextBox 17522">
                <a:extLst>
                  <a:ext uri="{FF2B5EF4-FFF2-40B4-BE49-F238E27FC236}">
                    <a16:creationId xmlns:a16="http://schemas.microsoft.com/office/drawing/2014/main" id="{C0A07A5C-9E4E-BEED-C528-DBF4341D0DBE}"/>
                  </a:ext>
                </a:extLst>
              </p:cNvPr>
              <p:cNvSpPr txBox="1"/>
              <p:nvPr/>
            </p:nvSpPr>
            <p:spPr>
              <a:xfrm>
                <a:off x="1261846" y="2357172"/>
                <a:ext cx="1236404" cy="1714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1100" b="0" dirty="0">
                    <a:solidFill>
                      <a:srgbClr val="384F6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 shadow</a:t>
                </a:r>
              </a:p>
            </p:txBody>
          </p:sp>
        </p:grpSp>
        <p:sp>
          <p:nvSpPr>
            <p:cNvPr id="17515" name="TextBox 17514">
              <a:extLst>
                <a:ext uri="{FF2B5EF4-FFF2-40B4-BE49-F238E27FC236}">
                  <a16:creationId xmlns:a16="http://schemas.microsoft.com/office/drawing/2014/main" id="{CC0B30A8-2351-23B7-1A26-7F28A8D555BE}"/>
                </a:ext>
              </a:extLst>
            </p:cNvPr>
            <p:cNvSpPr txBox="1"/>
            <p:nvPr/>
          </p:nvSpPr>
          <p:spPr>
            <a:xfrm>
              <a:off x="2247952" y="4364668"/>
              <a:ext cx="1984139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 dirty="0">
                  <a:solidFill>
                    <a:srgbClr val="384F6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Vague free text queries</a:t>
              </a:r>
            </a:p>
          </p:txBody>
        </p:sp>
        <p:sp>
          <p:nvSpPr>
            <p:cNvPr id="17516" name="TextBox 17515">
              <a:extLst>
                <a:ext uri="{FF2B5EF4-FFF2-40B4-BE49-F238E27FC236}">
                  <a16:creationId xmlns:a16="http://schemas.microsoft.com/office/drawing/2014/main" id="{3CD4247F-F6F9-CA33-C50E-2DA2B84ECB26}"/>
                </a:ext>
              </a:extLst>
            </p:cNvPr>
            <p:cNvSpPr txBox="1"/>
            <p:nvPr/>
          </p:nvSpPr>
          <p:spPr>
            <a:xfrm>
              <a:off x="5009745" y="4356499"/>
              <a:ext cx="1993166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 dirty="0">
                  <a:solidFill>
                    <a:srgbClr val="384F6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Query plan + feedback</a:t>
              </a:r>
            </a:p>
          </p:txBody>
        </p:sp>
        <p:sp>
          <p:nvSpPr>
            <p:cNvPr id="17517" name="TextBox 17516">
              <a:extLst>
                <a:ext uri="{FF2B5EF4-FFF2-40B4-BE49-F238E27FC236}">
                  <a16:creationId xmlns:a16="http://schemas.microsoft.com/office/drawing/2014/main" id="{2A5A4E4F-3FB9-FB15-691F-DA06FAF21DA3}"/>
                </a:ext>
              </a:extLst>
            </p:cNvPr>
            <p:cNvSpPr txBox="1"/>
            <p:nvPr/>
          </p:nvSpPr>
          <p:spPr>
            <a:xfrm>
              <a:off x="5048250" y="1958458"/>
              <a:ext cx="1716999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 dirty="0">
                  <a:solidFill>
                    <a:srgbClr val="384F6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Same-season baselines</a:t>
              </a:r>
            </a:p>
          </p:txBody>
        </p:sp>
        <p:sp>
          <p:nvSpPr>
            <p:cNvPr id="17518" name="TextBox 17517">
              <a:extLst>
                <a:ext uri="{FF2B5EF4-FFF2-40B4-BE49-F238E27FC236}">
                  <a16:creationId xmlns:a16="http://schemas.microsoft.com/office/drawing/2014/main" id="{BB8F6911-35C5-38B0-0DB6-6D01CE42D242}"/>
                </a:ext>
              </a:extLst>
            </p:cNvPr>
            <p:cNvSpPr txBox="1"/>
            <p:nvPr/>
          </p:nvSpPr>
          <p:spPr>
            <a:xfrm>
              <a:off x="1745990" y="1056221"/>
              <a:ext cx="2801150" cy="481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lang="en-US" b="1" dirty="0">
                  <a:solidFill>
                    <a:srgbClr val="384F6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Potential Challenges </a:t>
              </a:r>
            </a:p>
          </p:txBody>
        </p:sp>
        <p:sp>
          <p:nvSpPr>
            <p:cNvPr id="17519" name="TextBox 17518">
              <a:extLst>
                <a:ext uri="{FF2B5EF4-FFF2-40B4-BE49-F238E27FC236}">
                  <a16:creationId xmlns:a16="http://schemas.microsoft.com/office/drawing/2014/main" id="{E2E778A5-1B80-9FFB-110A-D0925B9406BC}"/>
                </a:ext>
              </a:extLst>
            </p:cNvPr>
            <p:cNvSpPr txBox="1"/>
            <p:nvPr/>
          </p:nvSpPr>
          <p:spPr>
            <a:xfrm>
              <a:off x="2305050" y="5172075"/>
              <a:ext cx="117711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 dirty="0">
                  <a:solidFill>
                    <a:srgbClr val="384F6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Air-gap &amp; model licenses</a:t>
              </a:r>
            </a:p>
          </p:txBody>
        </p:sp>
        <p:sp>
          <p:nvSpPr>
            <p:cNvPr id="17520" name="TextBox 17519">
              <a:extLst>
                <a:ext uri="{FF2B5EF4-FFF2-40B4-BE49-F238E27FC236}">
                  <a16:creationId xmlns:a16="http://schemas.microsoft.com/office/drawing/2014/main" id="{CFD0D135-1D29-5509-D47B-B362938AE2EC}"/>
                </a:ext>
              </a:extLst>
            </p:cNvPr>
            <p:cNvSpPr txBox="1"/>
            <p:nvPr/>
          </p:nvSpPr>
          <p:spPr>
            <a:xfrm>
              <a:off x="2305050" y="2000250"/>
              <a:ext cx="1585007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 dirty="0">
                  <a:solidFill>
                    <a:srgbClr val="384F6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Seasonal false change</a:t>
              </a:r>
            </a:p>
          </p:txBody>
        </p:sp>
        <p:sp>
          <p:nvSpPr>
            <p:cNvPr id="17521" name="TextBox 17520">
              <a:extLst>
                <a:ext uri="{FF2B5EF4-FFF2-40B4-BE49-F238E27FC236}">
                  <a16:creationId xmlns:a16="http://schemas.microsoft.com/office/drawing/2014/main" id="{0B77FB64-3154-FCBE-3F41-0B235B9295A5}"/>
                </a:ext>
              </a:extLst>
            </p:cNvPr>
            <p:cNvSpPr txBox="1"/>
            <p:nvPr/>
          </p:nvSpPr>
          <p:spPr>
            <a:xfrm>
              <a:off x="5048250" y="5200650"/>
              <a:ext cx="1690984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 dirty="0">
                  <a:solidFill>
                    <a:srgbClr val="384F6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Screened offline bundle</a:t>
              </a:r>
            </a:p>
          </p:txBody>
        </p:sp>
      </p:grpSp>
      <p:grpSp>
        <p:nvGrpSpPr>
          <p:cNvPr id="17570" name="Group 17569">
            <a:extLst>
              <a:ext uri="{FF2B5EF4-FFF2-40B4-BE49-F238E27FC236}">
                <a16:creationId xmlns:a16="http://schemas.microsoft.com/office/drawing/2014/main" id="{D245CC73-EF7A-1D36-1C2D-43EB2B6C171C}"/>
              </a:ext>
            </a:extLst>
          </p:cNvPr>
          <p:cNvGrpSpPr/>
          <p:nvPr/>
        </p:nvGrpSpPr>
        <p:grpSpPr>
          <a:xfrm>
            <a:off x="-1053091" y="1417494"/>
            <a:ext cx="5305586" cy="4532833"/>
            <a:chOff x="1757384" y="1360877"/>
            <a:chExt cx="4209525" cy="4193840"/>
          </a:xfrm>
        </p:grpSpPr>
        <p:grpSp>
          <p:nvGrpSpPr>
            <p:cNvPr id="17574" name="Group 17573">
              <a:extLst>
                <a:ext uri="{FF2B5EF4-FFF2-40B4-BE49-F238E27FC236}">
                  <a16:creationId xmlns:a16="http://schemas.microsoft.com/office/drawing/2014/main" id="{33389E63-CB5C-AB5F-FFFC-599E6E3D3FCC}"/>
                </a:ext>
              </a:extLst>
            </p:cNvPr>
            <p:cNvGrpSpPr/>
            <p:nvPr/>
          </p:nvGrpSpPr>
          <p:grpSpPr>
            <a:xfrm>
              <a:off x="1757384" y="1360877"/>
              <a:ext cx="4209525" cy="4193840"/>
              <a:chOff x="1757384" y="1360877"/>
              <a:chExt cx="4209525" cy="4193840"/>
            </a:xfrm>
          </p:grpSpPr>
          <p:sp>
            <p:nvSpPr>
              <p:cNvPr id="17578" name="Rounded Rectangle 2">
                <a:extLst>
                  <a:ext uri="{FF2B5EF4-FFF2-40B4-BE49-F238E27FC236}">
                    <a16:creationId xmlns:a16="http://schemas.microsoft.com/office/drawing/2014/main" id="{A1B18832-FFC3-8359-8739-53620DB362DB}"/>
                  </a:ext>
                </a:extLst>
              </p:cNvPr>
              <p:cNvSpPr/>
              <p:nvPr/>
            </p:nvSpPr>
            <p:spPr>
              <a:xfrm>
                <a:off x="3101849" y="1808905"/>
                <a:ext cx="1599133" cy="605790"/>
              </a:xfrm>
              <a:custGeom>
                <a:avLst/>
                <a:gdLst/>
                <a:ahLst/>
                <a:cxnLst/>
                <a:rect l="0" t="0" r="0" b="0"/>
                <a:pathLst>
                  <a:path w="1599133" h="605790">
                    <a:moveTo>
                      <a:pt x="1541983" y="605790"/>
                    </a:moveTo>
                    <a:lnTo>
                      <a:pt x="1561033" y="605790"/>
                    </a:lnTo>
                    <a:cubicBezTo>
                      <a:pt x="1582073" y="605790"/>
                      <a:pt x="1599133" y="588730"/>
                      <a:pt x="1599133" y="567690"/>
                    </a:cubicBezTo>
                    <a:lnTo>
                      <a:pt x="1599133" y="38100"/>
                    </a:lnTo>
                    <a:cubicBezTo>
                      <a:pt x="1599133" y="17059"/>
                      <a:pt x="1582073" y="0"/>
                      <a:pt x="1561033" y="0"/>
                    </a:cubicBezTo>
                    <a:lnTo>
                      <a:pt x="38100" y="0"/>
                    </a:lnTo>
                    <a:cubicBezTo>
                      <a:pt x="17059" y="0"/>
                      <a:pt x="0" y="17059"/>
                      <a:pt x="0" y="38100"/>
                    </a:cubicBezTo>
                    <a:lnTo>
                      <a:pt x="0" y="567690"/>
                    </a:lnTo>
                    <a:cubicBezTo>
                      <a:pt x="0" y="588730"/>
                      <a:pt x="17059" y="605790"/>
                      <a:pt x="38100" y="605790"/>
                    </a:cubicBezTo>
                    <a:lnTo>
                      <a:pt x="1541983" y="605790"/>
                    </a:lnTo>
                  </a:path>
                </a:pathLst>
              </a:custGeom>
              <a:noFill/>
              <a:ln>
                <a:solidFill>
                  <a:srgbClr val="00B0F0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7580" name="Group 17579">
                <a:extLst>
                  <a:ext uri="{FF2B5EF4-FFF2-40B4-BE49-F238E27FC236}">
                    <a16:creationId xmlns:a16="http://schemas.microsoft.com/office/drawing/2014/main" id="{8DED3C96-5B43-BA18-E71F-734BC9D35ED1}"/>
                  </a:ext>
                </a:extLst>
              </p:cNvPr>
              <p:cNvGrpSpPr/>
              <p:nvPr/>
            </p:nvGrpSpPr>
            <p:grpSpPr>
              <a:xfrm>
                <a:off x="3321536" y="2659635"/>
                <a:ext cx="1711473" cy="665545"/>
                <a:chOff x="1011724" y="1583310"/>
                <a:chExt cx="1711473" cy="665545"/>
              </a:xfrm>
            </p:grpSpPr>
            <p:sp>
              <p:nvSpPr>
                <p:cNvPr id="17449" name="Rounded Rectangle 4">
                  <a:extLst>
                    <a:ext uri="{FF2B5EF4-FFF2-40B4-BE49-F238E27FC236}">
                      <a16:creationId xmlns:a16="http://schemas.microsoft.com/office/drawing/2014/main" id="{28D20A11-4967-7B1A-F2D0-FE3A9C7A4EC2}"/>
                    </a:ext>
                  </a:extLst>
                </p:cNvPr>
                <p:cNvSpPr/>
                <p:nvPr/>
              </p:nvSpPr>
              <p:spPr>
                <a:xfrm>
                  <a:off x="1177628" y="1599706"/>
                  <a:ext cx="1545569" cy="61545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581978" h="615315">
                      <a:moveTo>
                        <a:pt x="0" y="9"/>
                      </a:moveTo>
                      <a:cubicBezTo>
                        <a:pt x="0" y="288417"/>
                        <a:pt x="0" y="615315"/>
                        <a:pt x="0" y="615315"/>
                      </a:cubicBezTo>
                      <a:lnTo>
                        <a:pt x="1581978" y="615315"/>
                      </a:lnTo>
                      <a:cubicBezTo>
                        <a:pt x="1581978" y="615315"/>
                        <a:pt x="1581978" y="325535"/>
                        <a:pt x="1581978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" name="Rounded Rectangle 5">
                  <a:extLst>
                    <a:ext uri="{FF2B5EF4-FFF2-40B4-BE49-F238E27FC236}">
                      <a16:creationId xmlns:a16="http://schemas.microsoft.com/office/drawing/2014/main" id="{57EF773B-4AD2-60B4-C035-75C08387B371}"/>
                    </a:ext>
                  </a:extLst>
                </p:cNvPr>
                <p:cNvSpPr/>
                <p:nvPr/>
              </p:nvSpPr>
              <p:spPr>
                <a:xfrm>
                  <a:off x="1011724" y="1583310"/>
                  <a:ext cx="1296581" cy="66554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581978" h="767715">
                      <a:moveTo>
                        <a:pt x="1581978" y="76200"/>
                      </a:moveTo>
                      <a:cubicBezTo>
                        <a:pt x="1581978" y="34118"/>
                        <a:pt x="1227839" y="0"/>
                        <a:pt x="790984" y="0"/>
                      </a:cubicBezTo>
                      <a:cubicBezTo>
                        <a:pt x="354139" y="0"/>
                        <a:pt x="0" y="34118"/>
                        <a:pt x="0" y="76200"/>
                      </a:cubicBezTo>
                      <a:lnTo>
                        <a:pt x="1581978" y="76200"/>
                      </a:lnTo>
                      <a:moveTo>
                        <a:pt x="1581978" y="691515"/>
                      </a:moveTo>
                      <a:cubicBezTo>
                        <a:pt x="1581978" y="733596"/>
                        <a:pt x="1227839" y="767715"/>
                        <a:pt x="790984" y="767715"/>
                      </a:cubicBezTo>
                      <a:cubicBezTo>
                        <a:pt x="354139" y="767715"/>
                        <a:pt x="0" y="733596"/>
                        <a:pt x="0" y="691515"/>
                      </a:cubicBezTo>
                      <a:lnTo>
                        <a:pt x="1581978" y="691515"/>
                      </a:lnTo>
                    </a:path>
                  </a:pathLst>
                </a:custGeom>
                <a:noFill/>
                <a:ln>
                  <a:solidFill>
                    <a:srgbClr val="00B050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7582" name="Rounded Rectangle 10">
                <a:extLst>
                  <a:ext uri="{FF2B5EF4-FFF2-40B4-BE49-F238E27FC236}">
                    <a16:creationId xmlns:a16="http://schemas.microsoft.com/office/drawing/2014/main" id="{8568BD74-DA9B-4EE5-E2C7-71E515D9609E}"/>
                  </a:ext>
                </a:extLst>
              </p:cNvPr>
              <p:cNvSpPr/>
              <p:nvPr/>
            </p:nvSpPr>
            <p:spPr>
              <a:xfrm>
                <a:off x="2619530" y="5024217"/>
                <a:ext cx="1305804" cy="530500"/>
              </a:xfrm>
              <a:custGeom>
                <a:avLst/>
                <a:gdLst/>
                <a:ahLst/>
                <a:cxnLst/>
                <a:rect l="0" t="0" r="0" b="0"/>
                <a:pathLst>
                  <a:path w="1667703" h="605790">
                    <a:moveTo>
                      <a:pt x="1610553" y="605790"/>
                    </a:moveTo>
                    <a:lnTo>
                      <a:pt x="1629603" y="605790"/>
                    </a:lnTo>
                    <a:cubicBezTo>
                      <a:pt x="1650644" y="605790"/>
                      <a:pt x="1667703" y="588730"/>
                      <a:pt x="1667703" y="567690"/>
                    </a:cubicBezTo>
                    <a:lnTo>
                      <a:pt x="1667703" y="38100"/>
                    </a:lnTo>
                    <a:cubicBezTo>
                      <a:pt x="1667703" y="17059"/>
                      <a:pt x="1650644" y="0"/>
                      <a:pt x="1629603" y="0"/>
                    </a:cubicBezTo>
                    <a:lnTo>
                      <a:pt x="38100" y="0"/>
                    </a:lnTo>
                    <a:cubicBezTo>
                      <a:pt x="17059" y="0"/>
                      <a:pt x="0" y="17059"/>
                      <a:pt x="0" y="38100"/>
                    </a:cubicBezTo>
                    <a:lnTo>
                      <a:pt x="0" y="567690"/>
                    </a:lnTo>
                    <a:cubicBezTo>
                      <a:pt x="0" y="588730"/>
                      <a:pt x="17059" y="605790"/>
                      <a:pt x="38100" y="605790"/>
                    </a:cubicBezTo>
                    <a:lnTo>
                      <a:pt x="1610553" y="605790"/>
                    </a:lnTo>
                  </a:path>
                </a:pathLst>
              </a:custGeom>
              <a:noFill/>
              <a:ln>
                <a:solidFill>
                  <a:srgbClr val="00B0F0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583" name="Rounded Rectangle 12">
                <a:extLst>
                  <a:ext uri="{FF2B5EF4-FFF2-40B4-BE49-F238E27FC236}">
                    <a16:creationId xmlns:a16="http://schemas.microsoft.com/office/drawing/2014/main" id="{AA175AB5-6E98-1DE3-0E08-C57E2259C9A0}"/>
                  </a:ext>
                </a:extLst>
              </p:cNvPr>
              <p:cNvSpPr/>
              <p:nvPr/>
            </p:nvSpPr>
            <p:spPr>
              <a:xfrm>
                <a:off x="4005028" y="4023839"/>
                <a:ext cx="1301640" cy="503000"/>
              </a:xfrm>
              <a:custGeom>
                <a:avLst/>
                <a:gdLst/>
                <a:ahLst/>
                <a:cxnLst/>
                <a:rect l="0" t="0" r="0" b="0"/>
                <a:pathLst>
                  <a:path w="1663655" h="605790">
                    <a:moveTo>
                      <a:pt x="1606505" y="605790"/>
                    </a:moveTo>
                    <a:lnTo>
                      <a:pt x="1625555" y="605790"/>
                    </a:lnTo>
                    <a:cubicBezTo>
                      <a:pt x="1646596" y="605790"/>
                      <a:pt x="1663655" y="588730"/>
                      <a:pt x="1663655" y="567690"/>
                    </a:cubicBezTo>
                    <a:lnTo>
                      <a:pt x="1663655" y="38100"/>
                    </a:lnTo>
                    <a:cubicBezTo>
                      <a:pt x="1663655" y="17059"/>
                      <a:pt x="1646596" y="0"/>
                      <a:pt x="1625555" y="0"/>
                    </a:cubicBezTo>
                    <a:lnTo>
                      <a:pt x="38100" y="0"/>
                    </a:lnTo>
                    <a:cubicBezTo>
                      <a:pt x="17059" y="0"/>
                      <a:pt x="0" y="17059"/>
                      <a:pt x="0" y="38100"/>
                    </a:cubicBezTo>
                    <a:lnTo>
                      <a:pt x="0" y="567690"/>
                    </a:lnTo>
                    <a:cubicBezTo>
                      <a:pt x="0" y="588730"/>
                      <a:pt x="17059" y="605790"/>
                      <a:pt x="38100" y="605790"/>
                    </a:cubicBezTo>
                    <a:lnTo>
                      <a:pt x="1606505" y="605790"/>
                    </a:lnTo>
                  </a:path>
                </a:pathLst>
              </a:custGeom>
              <a:noFill/>
              <a:ln>
                <a:solidFill>
                  <a:srgbClr val="00B0F0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444" name="Rounded Rectangle 20">
                <a:extLst>
                  <a:ext uri="{FF2B5EF4-FFF2-40B4-BE49-F238E27FC236}">
                    <a16:creationId xmlns:a16="http://schemas.microsoft.com/office/drawing/2014/main" id="{07FAE787-2B8B-C481-ACB9-F941FBD3813F}"/>
                  </a:ext>
                </a:extLst>
              </p:cNvPr>
              <p:cNvSpPr/>
              <p:nvPr/>
            </p:nvSpPr>
            <p:spPr>
              <a:xfrm rot="5400000">
                <a:off x="4616971" y="3938495"/>
                <a:ext cx="77751" cy="65345"/>
              </a:xfrm>
              <a:custGeom>
                <a:avLst/>
                <a:gdLst/>
                <a:ahLst/>
                <a:cxnLst/>
                <a:rect l="0" t="0" r="0" b="0"/>
                <a:pathLst>
                  <a:path w="66675" h="76200">
                    <a:moveTo>
                      <a:pt x="66675" y="38100"/>
                    </a:moveTo>
                    <a:lnTo>
                      <a:pt x="0" y="76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7586" name="Group 17585">
                <a:extLst>
                  <a:ext uri="{FF2B5EF4-FFF2-40B4-BE49-F238E27FC236}">
                    <a16:creationId xmlns:a16="http://schemas.microsoft.com/office/drawing/2014/main" id="{B2161AA6-EDBA-6B99-C878-D41A9A31CB95}"/>
                  </a:ext>
                </a:extLst>
              </p:cNvPr>
              <p:cNvGrpSpPr/>
              <p:nvPr/>
            </p:nvGrpSpPr>
            <p:grpSpPr>
              <a:xfrm>
                <a:off x="3162135" y="3325181"/>
                <a:ext cx="775408" cy="687726"/>
                <a:chOff x="852323" y="2248856"/>
                <a:chExt cx="775408" cy="687726"/>
              </a:xfrm>
            </p:grpSpPr>
            <p:sp>
              <p:nvSpPr>
                <p:cNvPr id="17441" name="Rounded Rectangle 22">
                  <a:extLst>
                    <a:ext uri="{FF2B5EF4-FFF2-40B4-BE49-F238E27FC236}">
                      <a16:creationId xmlns:a16="http://schemas.microsoft.com/office/drawing/2014/main" id="{FCF6C440-87BB-7535-B5B6-A1BF8CCD70C8}"/>
                    </a:ext>
                  </a:extLst>
                </p:cNvPr>
                <p:cNvSpPr/>
                <p:nvPr/>
              </p:nvSpPr>
              <p:spPr>
                <a:xfrm rot="5400000">
                  <a:off x="938425" y="2188492"/>
                  <a:ext cx="628941" cy="74967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647700" h="398145">
                      <a:moveTo>
                        <a:pt x="0" y="0"/>
                      </a:moveTo>
                      <a:lnTo>
                        <a:pt x="228600" y="0"/>
                      </a:lnTo>
                      <a:cubicBezTo>
                        <a:pt x="291750" y="0"/>
                        <a:pt x="342900" y="51149"/>
                        <a:pt x="342900" y="114300"/>
                      </a:cubicBezTo>
                      <a:lnTo>
                        <a:pt x="342900" y="283845"/>
                      </a:lnTo>
                      <a:cubicBezTo>
                        <a:pt x="342900" y="346995"/>
                        <a:pt x="394049" y="398145"/>
                        <a:pt x="457200" y="398145"/>
                      </a:cubicBezTo>
                      <a:lnTo>
                        <a:pt x="647700" y="398145"/>
                      </a:lnTo>
                    </a:path>
                  </a:pathLst>
                </a:custGeom>
                <a:ln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442" name="Rounded Rectangle 23">
                  <a:extLst>
                    <a:ext uri="{FF2B5EF4-FFF2-40B4-BE49-F238E27FC236}">
                      <a16:creationId xmlns:a16="http://schemas.microsoft.com/office/drawing/2014/main" id="{48193D34-8ACC-4886-A9AA-B6BBA3B5B7D0}"/>
                    </a:ext>
                  </a:extLst>
                </p:cNvPr>
                <p:cNvSpPr/>
                <p:nvPr/>
              </p:nvSpPr>
              <p:spPr>
                <a:xfrm rot="5400000">
                  <a:off x="846120" y="2865034"/>
                  <a:ext cx="77751" cy="6534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66675" h="76200">
                      <a:moveTo>
                        <a:pt x="66675" y="38100"/>
                      </a:moveTo>
                      <a:lnTo>
                        <a:pt x="0" y="762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4287"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7588" name="TextBox 17587">
                <a:extLst>
                  <a:ext uri="{FF2B5EF4-FFF2-40B4-BE49-F238E27FC236}">
                    <a16:creationId xmlns:a16="http://schemas.microsoft.com/office/drawing/2014/main" id="{343A2435-01A2-005F-00C4-C359AD6FFE56}"/>
                  </a:ext>
                </a:extLst>
              </p:cNvPr>
              <p:cNvSpPr txBox="1"/>
              <p:nvPr/>
            </p:nvSpPr>
            <p:spPr>
              <a:xfrm>
                <a:off x="3004524" y="4103285"/>
                <a:ext cx="733101" cy="1146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900" b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Modular models</a:t>
                </a:r>
              </a:p>
            </p:txBody>
          </p:sp>
          <p:grpSp>
            <p:nvGrpSpPr>
              <p:cNvPr id="17589" name="Group 17588">
                <a:extLst>
                  <a:ext uri="{FF2B5EF4-FFF2-40B4-BE49-F238E27FC236}">
                    <a16:creationId xmlns:a16="http://schemas.microsoft.com/office/drawing/2014/main" id="{40CE64D7-CDEE-B740-DF5C-955267C59AC9}"/>
                  </a:ext>
                </a:extLst>
              </p:cNvPr>
              <p:cNvGrpSpPr/>
              <p:nvPr/>
            </p:nvGrpSpPr>
            <p:grpSpPr>
              <a:xfrm>
                <a:off x="3019238" y="4278278"/>
                <a:ext cx="982158" cy="200603"/>
                <a:chOff x="709426" y="3201953"/>
                <a:chExt cx="982158" cy="200603"/>
              </a:xfrm>
            </p:grpSpPr>
            <p:sp>
              <p:nvSpPr>
                <p:cNvPr id="17437" name="TextBox 17436">
                  <a:extLst>
                    <a:ext uri="{FF2B5EF4-FFF2-40B4-BE49-F238E27FC236}">
                      <a16:creationId xmlns:a16="http://schemas.microsoft.com/office/drawing/2014/main" id="{C316CC42-4172-0BC9-61D2-5DBC23752855}"/>
                    </a:ext>
                  </a:extLst>
                </p:cNvPr>
                <p:cNvSpPr txBox="1"/>
                <p:nvPr/>
              </p:nvSpPr>
              <p:spPr>
                <a:xfrm>
                  <a:off x="711961" y="3201953"/>
                  <a:ext cx="979623" cy="10030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sz="800" b="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RemoteCLIP, DINOv2,</a:t>
                  </a:r>
                  <a:endParaRPr lang="en-US" sz="8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l"/>
                  <a:endParaRPr lang="en-US" sz="8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438" name="TextBox 17437">
                  <a:extLst>
                    <a:ext uri="{FF2B5EF4-FFF2-40B4-BE49-F238E27FC236}">
                      <a16:creationId xmlns:a16="http://schemas.microsoft.com/office/drawing/2014/main" id="{CEB43232-472D-089F-0B59-1F9D1A0687DE}"/>
                    </a:ext>
                  </a:extLst>
                </p:cNvPr>
                <p:cNvSpPr txBox="1"/>
                <p:nvPr/>
              </p:nvSpPr>
              <p:spPr>
                <a:xfrm>
                  <a:off x="709426" y="3302255"/>
                  <a:ext cx="979625" cy="10030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lang="en-US" sz="800" b="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SSL4EO-S12 &amp; OWLv2</a:t>
                  </a:r>
                </a:p>
              </p:txBody>
            </p:sp>
          </p:grpSp>
          <p:sp>
            <p:nvSpPr>
              <p:cNvPr id="17590" name="Rounded Rectangle 32">
                <a:extLst>
                  <a:ext uri="{FF2B5EF4-FFF2-40B4-BE49-F238E27FC236}">
                    <a16:creationId xmlns:a16="http://schemas.microsoft.com/office/drawing/2014/main" id="{4355DFD4-FC60-CF8A-57CC-1463C13EE94B}"/>
                  </a:ext>
                </a:extLst>
              </p:cNvPr>
              <p:cNvSpPr/>
              <p:nvPr/>
            </p:nvSpPr>
            <p:spPr>
              <a:xfrm>
                <a:off x="3192335" y="2002245"/>
                <a:ext cx="219093" cy="219140"/>
              </a:xfrm>
              <a:custGeom>
                <a:avLst/>
                <a:gdLst/>
                <a:ahLst/>
                <a:cxnLst/>
                <a:rect l="0" t="0" r="0" b="0"/>
                <a:pathLst>
                  <a:path w="219093" h="219140">
                    <a:moveTo>
                      <a:pt x="42862" y="109298"/>
                    </a:moveTo>
                    <a:lnTo>
                      <a:pt x="42862" y="109298"/>
                    </a:lnTo>
                    <a:cubicBezTo>
                      <a:pt x="42862" y="72475"/>
                      <a:pt x="72713" y="42623"/>
                      <a:pt x="109537" y="42623"/>
                    </a:cubicBezTo>
                    <a:cubicBezTo>
                      <a:pt x="146360" y="42623"/>
                      <a:pt x="176212" y="72475"/>
                      <a:pt x="176212" y="109298"/>
                    </a:cubicBezTo>
                    <a:cubicBezTo>
                      <a:pt x="176212" y="146122"/>
                      <a:pt x="146360" y="175973"/>
                      <a:pt x="109537" y="175973"/>
                    </a:cubicBezTo>
                    <a:cubicBezTo>
                      <a:pt x="72713" y="175973"/>
                      <a:pt x="42862" y="146122"/>
                      <a:pt x="42862" y="109298"/>
                    </a:cubicBezTo>
                    <a:close/>
                    <a:moveTo>
                      <a:pt x="214902" y="124367"/>
                    </a:moveTo>
                    <a:cubicBezTo>
                      <a:pt x="217299" y="124068"/>
                      <a:pt x="219093" y="122020"/>
                      <a:pt x="219074" y="119605"/>
                    </a:cubicBezTo>
                    <a:lnTo>
                      <a:pt x="219074" y="99469"/>
                    </a:lnTo>
                    <a:cubicBezTo>
                      <a:pt x="219093" y="97053"/>
                      <a:pt x="217299" y="95006"/>
                      <a:pt x="214902" y="94706"/>
                    </a:cubicBezTo>
                    <a:lnTo>
                      <a:pt x="193461" y="92030"/>
                    </a:lnTo>
                    <a:cubicBezTo>
                      <a:pt x="191276" y="81528"/>
                      <a:pt x="187123" y="71535"/>
                      <a:pt x="181222" y="62578"/>
                    </a:cubicBezTo>
                    <a:lnTo>
                      <a:pt x="194509" y="45481"/>
                    </a:lnTo>
                    <a:cubicBezTo>
                      <a:pt x="195981" y="43586"/>
                      <a:pt x="195814" y="40892"/>
                      <a:pt x="194119" y="39194"/>
                    </a:cubicBezTo>
                    <a:lnTo>
                      <a:pt x="179831" y="24907"/>
                    </a:lnTo>
                    <a:cubicBezTo>
                      <a:pt x="178133" y="23212"/>
                      <a:pt x="175439" y="23045"/>
                      <a:pt x="173545" y="24516"/>
                    </a:cubicBezTo>
                    <a:lnTo>
                      <a:pt x="156447" y="37851"/>
                    </a:lnTo>
                    <a:cubicBezTo>
                      <a:pt x="147489" y="31951"/>
                      <a:pt x="137496" y="27795"/>
                      <a:pt x="126996" y="25602"/>
                    </a:cubicBezTo>
                    <a:lnTo>
                      <a:pt x="124348" y="4190"/>
                    </a:lnTo>
                    <a:cubicBezTo>
                      <a:pt x="124048" y="1793"/>
                      <a:pt x="122001" y="0"/>
                      <a:pt x="119585" y="18"/>
                    </a:cubicBezTo>
                    <a:lnTo>
                      <a:pt x="99450" y="18"/>
                    </a:lnTo>
                    <a:cubicBezTo>
                      <a:pt x="97034" y="0"/>
                      <a:pt x="94987" y="1793"/>
                      <a:pt x="94687" y="4190"/>
                    </a:cubicBezTo>
                    <a:lnTo>
                      <a:pt x="92011" y="25621"/>
                    </a:lnTo>
                    <a:cubicBezTo>
                      <a:pt x="81523" y="27819"/>
                      <a:pt x="71545" y="31975"/>
                      <a:pt x="62597" y="37870"/>
                    </a:cubicBezTo>
                    <a:lnTo>
                      <a:pt x="45500" y="24583"/>
                    </a:lnTo>
                    <a:cubicBezTo>
                      <a:pt x="43605" y="23111"/>
                      <a:pt x="40911" y="23279"/>
                      <a:pt x="39214" y="24974"/>
                    </a:cubicBezTo>
                    <a:lnTo>
                      <a:pt x="24926" y="39261"/>
                    </a:lnTo>
                    <a:cubicBezTo>
                      <a:pt x="23231" y="40959"/>
                      <a:pt x="23064" y="43653"/>
                      <a:pt x="24535" y="45548"/>
                    </a:cubicBezTo>
                    <a:lnTo>
                      <a:pt x="37870" y="62693"/>
                    </a:lnTo>
                    <a:cubicBezTo>
                      <a:pt x="31969" y="71650"/>
                      <a:pt x="27816" y="81643"/>
                      <a:pt x="25631" y="92144"/>
                    </a:cubicBezTo>
                    <a:lnTo>
                      <a:pt x="4190" y="94820"/>
                    </a:lnTo>
                    <a:cubicBezTo>
                      <a:pt x="1793" y="95120"/>
                      <a:pt x="0" y="97167"/>
                      <a:pt x="18" y="99583"/>
                    </a:cubicBezTo>
                    <a:lnTo>
                      <a:pt x="18" y="119757"/>
                    </a:lnTo>
                    <a:cubicBezTo>
                      <a:pt x="0" y="122173"/>
                      <a:pt x="1793" y="124220"/>
                      <a:pt x="4190" y="124519"/>
                    </a:cubicBezTo>
                    <a:lnTo>
                      <a:pt x="25631" y="127196"/>
                    </a:lnTo>
                    <a:cubicBezTo>
                      <a:pt x="27816" y="137697"/>
                      <a:pt x="31969" y="147690"/>
                      <a:pt x="37870" y="156647"/>
                    </a:cubicBezTo>
                    <a:lnTo>
                      <a:pt x="24564" y="173592"/>
                    </a:lnTo>
                    <a:cubicBezTo>
                      <a:pt x="23092" y="175487"/>
                      <a:pt x="23259" y="178181"/>
                      <a:pt x="24955" y="179879"/>
                    </a:cubicBezTo>
                    <a:lnTo>
                      <a:pt x="39242" y="194166"/>
                    </a:lnTo>
                    <a:cubicBezTo>
                      <a:pt x="40940" y="195861"/>
                      <a:pt x="43634" y="196029"/>
                      <a:pt x="45529" y="194557"/>
                    </a:cubicBezTo>
                    <a:lnTo>
                      <a:pt x="62674" y="181269"/>
                    </a:lnTo>
                    <a:cubicBezTo>
                      <a:pt x="71632" y="187170"/>
                      <a:pt x="81624" y="191325"/>
                      <a:pt x="92125" y="193519"/>
                    </a:cubicBezTo>
                    <a:lnTo>
                      <a:pt x="94801" y="214950"/>
                    </a:lnTo>
                    <a:cubicBezTo>
                      <a:pt x="95101" y="217347"/>
                      <a:pt x="97148" y="219140"/>
                      <a:pt x="99564" y="219122"/>
                    </a:cubicBezTo>
                    <a:lnTo>
                      <a:pt x="119738" y="219122"/>
                    </a:lnTo>
                    <a:cubicBezTo>
                      <a:pt x="122154" y="219140"/>
                      <a:pt x="124201" y="217347"/>
                      <a:pt x="124500" y="214950"/>
                    </a:cubicBezTo>
                    <a:lnTo>
                      <a:pt x="127177" y="193519"/>
                    </a:lnTo>
                    <a:cubicBezTo>
                      <a:pt x="137677" y="191325"/>
                      <a:pt x="147670" y="187170"/>
                      <a:pt x="156628" y="181269"/>
                    </a:cubicBezTo>
                    <a:lnTo>
                      <a:pt x="173726" y="194557"/>
                    </a:lnTo>
                    <a:cubicBezTo>
                      <a:pt x="175620" y="196029"/>
                      <a:pt x="178314" y="195861"/>
                      <a:pt x="180012" y="194166"/>
                    </a:cubicBezTo>
                    <a:lnTo>
                      <a:pt x="194300" y="179879"/>
                    </a:lnTo>
                    <a:cubicBezTo>
                      <a:pt x="195995" y="178181"/>
                      <a:pt x="196162" y="175487"/>
                      <a:pt x="194690" y="173592"/>
                    </a:cubicBezTo>
                    <a:lnTo>
                      <a:pt x="181403" y="156495"/>
                    </a:lnTo>
                    <a:cubicBezTo>
                      <a:pt x="187304" y="147538"/>
                      <a:pt x="191457" y="137545"/>
                      <a:pt x="193642" y="127044"/>
                    </a:cubicBezTo>
                    <a:close/>
                    <a:moveTo>
                      <a:pt x="138112" y="133368"/>
                    </a:moveTo>
                    <a:lnTo>
                      <a:pt x="138112" y="80981"/>
                    </a:lnTo>
                    <a:cubicBezTo>
                      <a:pt x="138112" y="78350"/>
                      <a:pt x="135979" y="76218"/>
                      <a:pt x="133349" y="76218"/>
                    </a:cubicBezTo>
                    <a:lnTo>
                      <a:pt x="123824" y="76218"/>
                    </a:lnTo>
                    <a:cubicBezTo>
                      <a:pt x="121194" y="76218"/>
                      <a:pt x="119062" y="78350"/>
                      <a:pt x="119062" y="80981"/>
                    </a:cubicBezTo>
                    <a:lnTo>
                      <a:pt x="119062" y="133368"/>
                    </a:lnTo>
                    <a:moveTo>
                      <a:pt x="100012" y="133368"/>
                    </a:moveTo>
                    <a:lnTo>
                      <a:pt x="100012" y="109556"/>
                    </a:lnTo>
                    <a:cubicBezTo>
                      <a:pt x="100012" y="106925"/>
                      <a:pt x="97879" y="104793"/>
                      <a:pt x="95249" y="104793"/>
                    </a:cubicBezTo>
                    <a:lnTo>
                      <a:pt x="85724" y="104793"/>
                    </a:lnTo>
                    <a:cubicBezTo>
                      <a:pt x="83094" y="104793"/>
                      <a:pt x="80962" y="106925"/>
                      <a:pt x="80962" y="109556"/>
                    </a:cubicBezTo>
                    <a:lnTo>
                      <a:pt x="80962" y="133368"/>
                    </a:lnTo>
                    <a:moveTo>
                      <a:pt x="147637" y="133368"/>
                    </a:moveTo>
                    <a:lnTo>
                      <a:pt x="71437" y="133368"/>
                    </a:lnTo>
                  </a:path>
                </a:pathLst>
              </a:custGeom>
              <a:noFill/>
              <a:ln w="14287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591" name="TextBox 17590">
                <a:extLst>
                  <a:ext uri="{FF2B5EF4-FFF2-40B4-BE49-F238E27FC236}">
                    <a16:creationId xmlns:a16="http://schemas.microsoft.com/office/drawing/2014/main" id="{344C941F-6376-E62E-75AF-6895650E83D9}"/>
                  </a:ext>
                </a:extLst>
              </p:cNvPr>
              <p:cNvSpPr txBox="1"/>
              <p:nvPr/>
            </p:nvSpPr>
            <p:spPr>
              <a:xfrm>
                <a:off x="3492374" y="1894630"/>
                <a:ext cx="1269407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Technical Feasibility</a:t>
                </a:r>
              </a:p>
            </p:txBody>
          </p:sp>
          <p:grpSp>
            <p:nvGrpSpPr>
              <p:cNvPr id="17592" name="Group 17591">
                <a:extLst>
                  <a:ext uri="{FF2B5EF4-FFF2-40B4-BE49-F238E27FC236}">
                    <a16:creationId xmlns:a16="http://schemas.microsoft.com/office/drawing/2014/main" id="{5994088A-C98C-EE79-A914-F69311883F8A}"/>
                  </a:ext>
                </a:extLst>
              </p:cNvPr>
              <p:cNvGrpSpPr/>
              <p:nvPr/>
            </p:nvGrpSpPr>
            <p:grpSpPr>
              <a:xfrm>
                <a:off x="3492374" y="2088941"/>
                <a:ext cx="1185195" cy="240029"/>
                <a:chOff x="1182562" y="1012616"/>
                <a:chExt cx="1185195" cy="240029"/>
              </a:xfrm>
            </p:grpSpPr>
            <p:sp>
              <p:nvSpPr>
                <p:cNvPr id="17435" name="TextBox 17434">
                  <a:extLst>
                    <a:ext uri="{FF2B5EF4-FFF2-40B4-BE49-F238E27FC236}">
                      <a16:creationId xmlns:a16="http://schemas.microsoft.com/office/drawing/2014/main" id="{4A2AD972-C9F7-46E4-4A52-F8416E4A00C8}"/>
                    </a:ext>
                  </a:extLst>
                </p:cNvPr>
                <p:cNvSpPr txBox="1"/>
                <p:nvPr/>
              </p:nvSpPr>
              <p:spPr>
                <a:xfrm>
                  <a:off x="1182562" y="1012616"/>
                  <a:ext cx="1185195" cy="1200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sz="900" b="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Prototype already operates</a:t>
                  </a:r>
                </a:p>
              </p:txBody>
            </p:sp>
            <p:sp>
              <p:nvSpPr>
                <p:cNvPr id="17436" name="TextBox 17435">
                  <a:extLst>
                    <a:ext uri="{FF2B5EF4-FFF2-40B4-BE49-F238E27FC236}">
                      <a16:creationId xmlns:a16="http://schemas.microsoft.com/office/drawing/2014/main" id="{7D393F9F-E67F-0A5F-750B-1365DD843E7E}"/>
                    </a:ext>
                  </a:extLst>
                </p:cNvPr>
                <p:cNvSpPr txBox="1"/>
                <p:nvPr/>
              </p:nvSpPr>
              <p:spPr>
                <a:xfrm>
                  <a:off x="1182562" y="1132631"/>
                  <a:ext cx="1185195" cy="12001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sz="900" b="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on gate, change &amp; audit</a:t>
                  </a:r>
                </a:p>
              </p:txBody>
            </p:sp>
          </p:grpSp>
          <p:sp>
            <p:nvSpPr>
              <p:cNvPr id="17593" name="Rounded Rectangle 37">
                <a:extLst>
                  <a:ext uri="{FF2B5EF4-FFF2-40B4-BE49-F238E27FC236}">
                    <a16:creationId xmlns:a16="http://schemas.microsoft.com/office/drawing/2014/main" id="{A5505003-C337-648B-EAE7-1E0300357357}"/>
                  </a:ext>
                </a:extLst>
              </p:cNvPr>
              <p:cNvSpPr/>
              <p:nvPr/>
            </p:nvSpPr>
            <p:spPr>
              <a:xfrm>
                <a:off x="2724707" y="4174248"/>
                <a:ext cx="159176" cy="183090"/>
              </a:xfrm>
              <a:custGeom>
                <a:avLst/>
                <a:gdLst/>
                <a:ahLst/>
                <a:cxnLst/>
                <a:rect l="0" t="0" r="0" b="0"/>
                <a:pathLst>
                  <a:path w="219075" h="219075">
                    <a:moveTo>
                      <a:pt x="52387" y="95250"/>
                    </a:moveTo>
                    <a:lnTo>
                      <a:pt x="33337" y="95250"/>
                    </a:lnTo>
                    <a:lnTo>
                      <a:pt x="33337" y="4762"/>
                    </a:lnTo>
                    <a:cubicBezTo>
                      <a:pt x="33337" y="2132"/>
                      <a:pt x="35469" y="0"/>
                      <a:pt x="38100" y="0"/>
                    </a:cubicBezTo>
                    <a:lnTo>
                      <a:pt x="133350" y="0"/>
                    </a:lnTo>
                    <a:cubicBezTo>
                      <a:pt x="135980" y="0"/>
                      <a:pt x="138112" y="2132"/>
                      <a:pt x="138112" y="4762"/>
                    </a:cubicBezTo>
                    <a:lnTo>
                      <a:pt x="138112" y="95250"/>
                    </a:lnTo>
                    <a:lnTo>
                      <a:pt x="85725" y="95250"/>
                    </a:lnTo>
                    <a:moveTo>
                      <a:pt x="109537" y="95250"/>
                    </a:moveTo>
                    <a:lnTo>
                      <a:pt x="109537" y="123825"/>
                    </a:lnTo>
                    <a:lnTo>
                      <a:pt x="109537" y="123825"/>
                    </a:lnTo>
                    <a:cubicBezTo>
                      <a:pt x="125319" y="123825"/>
                      <a:pt x="138112" y="136618"/>
                      <a:pt x="138112" y="152400"/>
                    </a:cubicBezTo>
                    <a:lnTo>
                      <a:pt x="138112" y="157162"/>
                    </a:lnTo>
                    <a:lnTo>
                      <a:pt x="109537" y="157162"/>
                    </a:lnTo>
                    <a:lnTo>
                      <a:pt x="109537" y="214312"/>
                    </a:lnTo>
                    <a:cubicBezTo>
                      <a:pt x="109537" y="216942"/>
                      <a:pt x="107405" y="219075"/>
                      <a:pt x="104775" y="219075"/>
                    </a:cubicBezTo>
                    <a:lnTo>
                      <a:pt x="4762" y="219075"/>
                    </a:lnTo>
                    <a:cubicBezTo>
                      <a:pt x="2132" y="219075"/>
                      <a:pt x="0" y="216942"/>
                      <a:pt x="0" y="214312"/>
                    </a:cubicBezTo>
                    <a:lnTo>
                      <a:pt x="0" y="100012"/>
                    </a:lnTo>
                    <a:cubicBezTo>
                      <a:pt x="0" y="97382"/>
                      <a:pt x="2132" y="95250"/>
                      <a:pt x="4762" y="95250"/>
                    </a:cubicBezTo>
                    <a:lnTo>
                      <a:pt x="33337" y="95250"/>
                    </a:lnTo>
                    <a:moveTo>
                      <a:pt x="109537" y="176212"/>
                    </a:moveTo>
                    <a:lnTo>
                      <a:pt x="214312" y="176212"/>
                    </a:lnTo>
                    <a:cubicBezTo>
                      <a:pt x="216942" y="176212"/>
                      <a:pt x="219075" y="174080"/>
                      <a:pt x="219075" y="171450"/>
                    </a:cubicBezTo>
                    <a:lnTo>
                      <a:pt x="219075" y="109537"/>
                    </a:lnTo>
                    <a:lnTo>
                      <a:pt x="219075" y="109537"/>
                    </a:lnTo>
                    <a:cubicBezTo>
                      <a:pt x="200663" y="109537"/>
                      <a:pt x="185737" y="94611"/>
                      <a:pt x="185737" y="76200"/>
                    </a:cubicBezTo>
                    <a:lnTo>
                      <a:pt x="214312" y="76200"/>
                    </a:lnTo>
                    <a:cubicBezTo>
                      <a:pt x="216942" y="76200"/>
                      <a:pt x="219075" y="74067"/>
                      <a:pt x="219075" y="71437"/>
                    </a:cubicBezTo>
                    <a:lnTo>
                      <a:pt x="219075" y="42862"/>
                    </a:lnTo>
                    <a:cubicBezTo>
                      <a:pt x="219075" y="40232"/>
                      <a:pt x="216942" y="38100"/>
                      <a:pt x="214312" y="38100"/>
                    </a:cubicBezTo>
                    <a:lnTo>
                      <a:pt x="138112" y="38100"/>
                    </a:lnTo>
                    <a:moveTo>
                      <a:pt x="0" y="161925"/>
                    </a:moveTo>
                    <a:lnTo>
                      <a:pt x="0" y="214312"/>
                    </a:lnTo>
                    <a:cubicBezTo>
                      <a:pt x="0" y="216942"/>
                      <a:pt x="2132" y="219075"/>
                      <a:pt x="4762" y="219075"/>
                    </a:cubicBezTo>
                    <a:lnTo>
                      <a:pt x="47625" y="219075"/>
                    </a:lnTo>
                    <a:lnTo>
                      <a:pt x="47625" y="219075"/>
                    </a:lnTo>
                    <a:lnTo>
                      <a:pt x="47625" y="161925"/>
                    </a:lnTo>
                    <a:close/>
                    <a:moveTo>
                      <a:pt x="0" y="180975"/>
                    </a:moveTo>
                    <a:lnTo>
                      <a:pt x="47625" y="180975"/>
                    </a:lnTo>
                    <a:moveTo>
                      <a:pt x="0" y="200025"/>
                    </a:moveTo>
                    <a:lnTo>
                      <a:pt x="47625" y="200025"/>
                    </a:lnTo>
                  </a:path>
                </a:pathLst>
              </a:custGeom>
              <a:noFill/>
              <a:ln w="14287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sz="14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7594" name="Group 17593">
                <a:extLst>
                  <a:ext uri="{FF2B5EF4-FFF2-40B4-BE49-F238E27FC236}">
                    <a16:creationId xmlns:a16="http://schemas.microsoft.com/office/drawing/2014/main" id="{54B2190A-6873-D13F-D61F-D2C807032414}"/>
                  </a:ext>
                </a:extLst>
              </p:cNvPr>
              <p:cNvGrpSpPr/>
              <p:nvPr/>
            </p:nvGrpSpPr>
            <p:grpSpPr>
              <a:xfrm>
                <a:off x="3712061" y="2981471"/>
                <a:ext cx="1250508" cy="253863"/>
                <a:chOff x="1402249" y="1905146"/>
                <a:chExt cx="1250508" cy="253863"/>
              </a:xfrm>
            </p:grpSpPr>
            <p:sp>
              <p:nvSpPr>
                <p:cNvPr id="17433" name="TextBox 17432">
                  <a:extLst>
                    <a:ext uri="{FF2B5EF4-FFF2-40B4-BE49-F238E27FC236}">
                      <a16:creationId xmlns:a16="http://schemas.microsoft.com/office/drawing/2014/main" id="{7C4424C1-D5B5-1562-2358-1F2404FE9BD4}"/>
                    </a:ext>
                  </a:extLst>
                </p:cNvPr>
                <p:cNvSpPr txBox="1"/>
                <p:nvPr/>
              </p:nvSpPr>
              <p:spPr>
                <a:xfrm>
                  <a:off x="1403078" y="1905146"/>
                  <a:ext cx="1249679" cy="12001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sz="800" b="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Sentinel-1/2, OSCD,</a:t>
                  </a:r>
                </a:p>
              </p:txBody>
            </p:sp>
            <p:sp>
              <p:nvSpPr>
                <p:cNvPr id="17434" name="TextBox 17433">
                  <a:extLst>
                    <a:ext uri="{FF2B5EF4-FFF2-40B4-BE49-F238E27FC236}">
                      <a16:creationId xmlns:a16="http://schemas.microsoft.com/office/drawing/2014/main" id="{BDFFCCA7-1A46-E3D0-C491-216B499D40B0}"/>
                    </a:ext>
                  </a:extLst>
                </p:cNvPr>
                <p:cNvSpPr txBox="1"/>
                <p:nvPr/>
              </p:nvSpPr>
              <p:spPr>
                <a:xfrm>
                  <a:off x="1402249" y="2038994"/>
                  <a:ext cx="1249679" cy="1200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sz="800" b="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SpaceNet-7, RSITMD</a:t>
                  </a:r>
                </a:p>
              </p:txBody>
            </p:sp>
          </p:grpSp>
          <p:sp>
            <p:nvSpPr>
              <p:cNvPr id="17595" name="TextBox 17594">
                <a:extLst>
                  <a:ext uri="{FF2B5EF4-FFF2-40B4-BE49-F238E27FC236}">
                    <a16:creationId xmlns:a16="http://schemas.microsoft.com/office/drawing/2014/main" id="{85DC1F8F-4CD3-1646-81AB-1813E9C03B90}"/>
                  </a:ext>
                </a:extLst>
              </p:cNvPr>
              <p:cNvSpPr txBox="1"/>
              <p:nvPr/>
            </p:nvSpPr>
            <p:spPr>
              <a:xfrm>
                <a:off x="3686496" y="2785296"/>
                <a:ext cx="909851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900" b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Datasets ready</a:t>
                </a:r>
              </a:p>
            </p:txBody>
          </p:sp>
          <p:sp>
            <p:nvSpPr>
              <p:cNvPr id="17596" name="Rounded Rectangle 42">
                <a:extLst>
                  <a:ext uri="{FF2B5EF4-FFF2-40B4-BE49-F238E27FC236}">
                    <a16:creationId xmlns:a16="http://schemas.microsoft.com/office/drawing/2014/main" id="{D04640F1-39C2-2171-3D3C-526D10725DB8}"/>
                  </a:ext>
                </a:extLst>
              </p:cNvPr>
              <p:cNvSpPr/>
              <p:nvPr/>
            </p:nvSpPr>
            <p:spPr>
              <a:xfrm>
                <a:off x="4066787" y="4158752"/>
                <a:ext cx="174040" cy="207868"/>
              </a:xfrm>
              <a:custGeom>
                <a:avLst/>
                <a:gdLst/>
                <a:ahLst/>
                <a:cxnLst/>
                <a:rect l="0" t="0" r="0" b="0"/>
                <a:pathLst>
                  <a:path w="222445" h="222391">
                    <a:moveTo>
                      <a:pt x="111221" y="173093"/>
                    </a:moveTo>
                    <a:cubicBezTo>
                      <a:pt x="145414" y="173093"/>
                      <a:pt x="173133" y="145374"/>
                      <a:pt x="173133" y="111180"/>
                    </a:cubicBezTo>
                    <a:cubicBezTo>
                      <a:pt x="173133" y="76987"/>
                      <a:pt x="145414" y="49268"/>
                      <a:pt x="111221" y="49268"/>
                    </a:cubicBezTo>
                    <a:cubicBezTo>
                      <a:pt x="77027" y="49268"/>
                      <a:pt x="49308" y="76987"/>
                      <a:pt x="49308" y="111180"/>
                    </a:cubicBezTo>
                    <a:cubicBezTo>
                      <a:pt x="49308" y="145374"/>
                      <a:pt x="77027" y="173093"/>
                      <a:pt x="111221" y="173093"/>
                    </a:cubicBezTo>
                    <a:close/>
                    <a:moveTo>
                      <a:pt x="168266" y="130611"/>
                    </a:moveTo>
                    <a:lnTo>
                      <a:pt x="52404" y="130611"/>
                    </a:lnTo>
                    <a:moveTo>
                      <a:pt x="168266" y="91768"/>
                    </a:moveTo>
                    <a:lnTo>
                      <a:pt x="52404" y="91768"/>
                    </a:lnTo>
                    <a:moveTo>
                      <a:pt x="102563" y="172493"/>
                    </a:moveTo>
                    <a:cubicBezTo>
                      <a:pt x="88406" y="133372"/>
                      <a:pt x="86772" y="90816"/>
                      <a:pt x="97886" y="50725"/>
                    </a:cubicBezTo>
                    <a:moveTo>
                      <a:pt x="124556" y="50725"/>
                    </a:moveTo>
                    <a:cubicBezTo>
                      <a:pt x="129403" y="68175"/>
                      <a:pt x="131854" y="86203"/>
                      <a:pt x="131842" y="104313"/>
                    </a:cubicBezTo>
                    <a:cubicBezTo>
                      <a:pt x="131879" y="127561"/>
                      <a:pt x="127843" y="150637"/>
                      <a:pt x="119917" y="172493"/>
                    </a:cubicBezTo>
                    <a:moveTo>
                      <a:pt x="97076" y="18073"/>
                    </a:moveTo>
                    <a:cubicBezTo>
                      <a:pt x="100463" y="21833"/>
                      <a:pt x="105207" y="24090"/>
                      <a:pt x="110260" y="24347"/>
                    </a:cubicBezTo>
                    <a:cubicBezTo>
                      <a:pt x="115313" y="24604"/>
                      <a:pt x="120261" y="22841"/>
                      <a:pt x="124013" y="19445"/>
                    </a:cubicBezTo>
                    <a:cubicBezTo>
                      <a:pt x="124489" y="19007"/>
                      <a:pt x="124965" y="18550"/>
                      <a:pt x="125384" y="18073"/>
                    </a:cubicBezTo>
                    <a:lnTo>
                      <a:pt x="134538" y="7929"/>
                    </a:lnTo>
                    <a:cubicBezTo>
                      <a:pt x="139935" y="1942"/>
                      <a:pt x="148517" y="0"/>
                      <a:pt x="155966" y="3079"/>
                    </a:cubicBezTo>
                    <a:cubicBezTo>
                      <a:pt x="163416" y="6159"/>
                      <a:pt x="168120" y="13595"/>
                      <a:pt x="167714" y="21645"/>
                    </a:cubicBezTo>
                    <a:lnTo>
                      <a:pt x="167018" y="35276"/>
                    </a:lnTo>
                    <a:cubicBezTo>
                      <a:pt x="166478" y="45780"/>
                      <a:pt x="174554" y="54735"/>
                      <a:pt x="185059" y="55278"/>
                    </a:cubicBezTo>
                    <a:cubicBezTo>
                      <a:pt x="185718" y="55316"/>
                      <a:pt x="186380" y="55316"/>
                      <a:pt x="187040" y="55278"/>
                    </a:cubicBezTo>
                    <a:lnTo>
                      <a:pt x="200670" y="54583"/>
                    </a:lnTo>
                    <a:cubicBezTo>
                      <a:pt x="208752" y="54125"/>
                      <a:pt x="216240" y="58824"/>
                      <a:pt x="219342" y="66301"/>
                    </a:cubicBezTo>
                    <a:cubicBezTo>
                      <a:pt x="222445" y="73777"/>
                      <a:pt x="220484" y="82398"/>
                      <a:pt x="214453" y="87796"/>
                    </a:cubicBezTo>
                    <a:lnTo>
                      <a:pt x="204299" y="96950"/>
                    </a:lnTo>
                    <a:cubicBezTo>
                      <a:pt x="200540" y="100337"/>
                      <a:pt x="198283" y="105080"/>
                      <a:pt x="198025" y="110134"/>
                    </a:cubicBezTo>
                    <a:cubicBezTo>
                      <a:pt x="197768" y="115187"/>
                      <a:pt x="199532" y="120135"/>
                      <a:pt x="202927" y="123887"/>
                    </a:cubicBezTo>
                    <a:cubicBezTo>
                      <a:pt x="203361" y="124367"/>
                      <a:pt x="203818" y="124825"/>
                      <a:pt x="204299" y="125258"/>
                    </a:cubicBezTo>
                    <a:lnTo>
                      <a:pt x="214453" y="134412"/>
                    </a:lnTo>
                    <a:cubicBezTo>
                      <a:pt x="220480" y="139808"/>
                      <a:pt x="222442" y="148424"/>
                      <a:pt x="219345" y="155898"/>
                    </a:cubicBezTo>
                    <a:cubicBezTo>
                      <a:pt x="216247" y="163372"/>
                      <a:pt x="208767" y="168074"/>
                      <a:pt x="200689" y="167625"/>
                    </a:cubicBezTo>
                    <a:lnTo>
                      <a:pt x="187059" y="166921"/>
                    </a:lnTo>
                    <a:cubicBezTo>
                      <a:pt x="182005" y="166662"/>
                      <a:pt x="177055" y="168424"/>
                      <a:pt x="173303" y="171819"/>
                    </a:cubicBezTo>
                    <a:cubicBezTo>
                      <a:pt x="169550" y="175215"/>
                      <a:pt x="167303" y="179964"/>
                      <a:pt x="167056" y="185018"/>
                    </a:cubicBezTo>
                    <a:cubicBezTo>
                      <a:pt x="167020" y="185653"/>
                      <a:pt x="167020" y="186289"/>
                      <a:pt x="167056" y="186923"/>
                    </a:cubicBezTo>
                    <a:lnTo>
                      <a:pt x="167752" y="200553"/>
                    </a:lnTo>
                    <a:cubicBezTo>
                      <a:pt x="168191" y="208625"/>
                      <a:pt x="163488" y="216095"/>
                      <a:pt x="156020" y="219189"/>
                    </a:cubicBezTo>
                    <a:cubicBezTo>
                      <a:pt x="148552" y="222282"/>
                      <a:pt x="139944" y="220326"/>
                      <a:pt x="134547" y="214308"/>
                    </a:cubicBezTo>
                    <a:lnTo>
                      <a:pt x="125394" y="204163"/>
                    </a:lnTo>
                    <a:cubicBezTo>
                      <a:pt x="122008" y="200403"/>
                      <a:pt x="117266" y="198144"/>
                      <a:pt x="112212" y="197885"/>
                    </a:cubicBezTo>
                    <a:cubicBezTo>
                      <a:pt x="107159" y="197626"/>
                      <a:pt x="102210" y="199388"/>
                      <a:pt x="98457" y="202782"/>
                    </a:cubicBezTo>
                    <a:cubicBezTo>
                      <a:pt x="97976" y="203219"/>
                      <a:pt x="97519" y="203680"/>
                      <a:pt x="97086" y="204163"/>
                    </a:cubicBezTo>
                    <a:lnTo>
                      <a:pt x="87885" y="214403"/>
                    </a:lnTo>
                    <a:cubicBezTo>
                      <a:pt x="82489" y="220429"/>
                      <a:pt x="73877" y="222391"/>
                      <a:pt x="66403" y="219296"/>
                    </a:cubicBezTo>
                    <a:cubicBezTo>
                      <a:pt x="58930" y="216201"/>
                      <a:pt x="54226" y="208725"/>
                      <a:pt x="54671" y="200649"/>
                    </a:cubicBezTo>
                    <a:lnTo>
                      <a:pt x="55376" y="187018"/>
                    </a:lnTo>
                    <a:cubicBezTo>
                      <a:pt x="55635" y="181964"/>
                      <a:pt x="53872" y="177015"/>
                      <a:pt x="50477" y="173262"/>
                    </a:cubicBezTo>
                    <a:cubicBezTo>
                      <a:pt x="47082" y="169510"/>
                      <a:pt x="42333" y="167262"/>
                      <a:pt x="37278" y="167016"/>
                    </a:cubicBezTo>
                    <a:cubicBezTo>
                      <a:pt x="36643" y="167016"/>
                      <a:pt x="36008" y="167016"/>
                      <a:pt x="35373" y="167016"/>
                    </a:cubicBezTo>
                    <a:lnTo>
                      <a:pt x="21686" y="167692"/>
                    </a:lnTo>
                    <a:cubicBezTo>
                      <a:pt x="13639" y="168090"/>
                      <a:pt x="6211" y="163383"/>
                      <a:pt x="3136" y="155935"/>
                    </a:cubicBezTo>
                    <a:cubicBezTo>
                      <a:pt x="62" y="148488"/>
                      <a:pt x="2005" y="139912"/>
                      <a:pt x="7989" y="134517"/>
                    </a:cubicBezTo>
                    <a:lnTo>
                      <a:pt x="18133" y="125363"/>
                    </a:lnTo>
                    <a:cubicBezTo>
                      <a:pt x="21893" y="121977"/>
                      <a:pt x="24152" y="117235"/>
                      <a:pt x="24411" y="112181"/>
                    </a:cubicBezTo>
                    <a:cubicBezTo>
                      <a:pt x="24671" y="107128"/>
                      <a:pt x="22909" y="102179"/>
                      <a:pt x="19514" y="98426"/>
                    </a:cubicBezTo>
                    <a:cubicBezTo>
                      <a:pt x="19076" y="97950"/>
                      <a:pt x="18619" y="97474"/>
                      <a:pt x="18133" y="97055"/>
                    </a:cubicBezTo>
                    <a:lnTo>
                      <a:pt x="7989" y="87901"/>
                    </a:lnTo>
                    <a:cubicBezTo>
                      <a:pt x="1961" y="82505"/>
                      <a:pt x="0" y="73890"/>
                      <a:pt x="3097" y="66415"/>
                    </a:cubicBezTo>
                    <a:cubicBezTo>
                      <a:pt x="6194" y="58941"/>
                      <a:pt x="13674" y="54239"/>
                      <a:pt x="21752" y="54688"/>
                    </a:cubicBezTo>
                    <a:lnTo>
                      <a:pt x="35383" y="55383"/>
                    </a:lnTo>
                    <a:cubicBezTo>
                      <a:pt x="40437" y="55642"/>
                      <a:pt x="45386" y="53879"/>
                      <a:pt x="49139" y="50484"/>
                    </a:cubicBezTo>
                    <a:cubicBezTo>
                      <a:pt x="52891" y="47089"/>
                      <a:pt x="55139" y="42340"/>
                      <a:pt x="55385" y="37285"/>
                    </a:cubicBezTo>
                    <a:cubicBezTo>
                      <a:pt x="55423" y="36622"/>
                      <a:pt x="55423" y="35958"/>
                      <a:pt x="55385" y="35295"/>
                    </a:cubicBezTo>
                    <a:lnTo>
                      <a:pt x="54718" y="21693"/>
                    </a:lnTo>
                    <a:cubicBezTo>
                      <a:pt x="54308" y="13643"/>
                      <a:pt x="59008" y="6206"/>
                      <a:pt x="66455" y="3122"/>
                    </a:cubicBezTo>
                    <a:cubicBezTo>
                      <a:pt x="73902" y="38"/>
                      <a:pt x="82484" y="1975"/>
                      <a:pt x="87885" y="7958"/>
                    </a:cubicBezTo>
                    <a:close/>
                  </a:path>
                </a:pathLst>
              </a:custGeom>
              <a:noFill/>
              <a:ln w="14287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597" name="TextBox 17596">
                <a:extLst>
                  <a:ext uri="{FF2B5EF4-FFF2-40B4-BE49-F238E27FC236}">
                    <a16:creationId xmlns:a16="http://schemas.microsoft.com/office/drawing/2014/main" id="{C3D3213E-2B63-2DCC-87C0-01C5480AD7A9}"/>
                  </a:ext>
                </a:extLst>
              </p:cNvPr>
              <p:cNvSpPr txBox="1"/>
              <p:nvPr/>
            </p:nvSpPr>
            <p:spPr>
              <a:xfrm>
                <a:off x="4281433" y="4091443"/>
                <a:ext cx="1333881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900" b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Geospatial processing</a:t>
                </a:r>
              </a:p>
            </p:txBody>
          </p:sp>
          <p:grpSp>
            <p:nvGrpSpPr>
              <p:cNvPr id="17655" name="Group 17654">
                <a:extLst>
                  <a:ext uri="{FF2B5EF4-FFF2-40B4-BE49-F238E27FC236}">
                    <a16:creationId xmlns:a16="http://schemas.microsoft.com/office/drawing/2014/main" id="{F5980FAD-3B75-5E94-0DB2-194347F52A31}"/>
                  </a:ext>
                </a:extLst>
              </p:cNvPr>
              <p:cNvGrpSpPr/>
              <p:nvPr/>
            </p:nvGrpSpPr>
            <p:grpSpPr>
              <a:xfrm>
                <a:off x="4302370" y="4257796"/>
                <a:ext cx="1343609" cy="225087"/>
                <a:chOff x="1992558" y="3181471"/>
                <a:chExt cx="1343609" cy="225087"/>
              </a:xfrm>
            </p:grpSpPr>
            <p:sp>
              <p:nvSpPr>
                <p:cNvPr id="17663" name="TextBox 17662">
                  <a:extLst>
                    <a:ext uri="{FF2B5EF4-FFF2-40B4-BE49-F238E27FC236}">
                      <a16:creationId xmlns:a16="http://schemas.microsoft.com/office/drawing/2014/main" id="{6C06A466-CF32-DA5A-FAE5-39B6479DA294}"/>
                    </a:ext>
                  </a:extLst>
                </p:cNvPr>
                <p:cNvSpPr txBox="1"/>
                <p:nvPr/>
              </p:nvSpPr>
              <p:spPr>
                <a:xfrm>
                  <a:off x="1992559" y="3181471"/>
                  <a:ext cx="1343608" cy="1200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sz="800" b="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STAC metadata, CRS,</a:t>
                  </a:r>
                </a:p>
              </p:txBody>
            </p:sp>
            <p:sp>
              <p:nvSpPr>
                <p:cNvPr id="17432" name="TextBox 17431">
                  <a:extLst>
                    <a:ext uri="{FF2B5EF4-FFF2-40B4-BE49-F238E27FC236}">
                      <a16:creationId xmlns:a16="http://schemas.microsoft.com/office/drawing/2014/main" id="{ED704C49-ED6E-CA9B-1A9D-10CBB16C4552}"/>
                    </a:ext>
                  </a:extLst>
                </p:cNvPr>
                <p:cNvSpPr txBox="1"/>
                <p:nvPr/>
              </p:nvSpPr>
              <p:spPr>
                <a:xfrm>
                  <a:off x="1992558" y="3286544"/>
                  <a:ext cx="1343608" cy="12001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sz="800" b="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GSD &amp; quality masks</a:t>
                  </a:r>
                </a:p>
              </p:txBody>
            </p:sp>
          </p:grpSp>
          <p:sp>
            <p:nvSpPr>
              <p:cNvPr id="17657" name="Rounded Rectangle 48">
                <a:extLst>
                  <a:ext uri="{FF2B5EF4-FFF2-40B4-BE49-F238E27FC236}">
                    <a16:creationId xmlns:a16="http://schemas.microsoft.com/office/drawing/2014/main" id="{E8A639CC-EECB-181C-CB1D-EB3AD4B4E185}"/>
                  </a:ext>
                </a:extLst>
              </p:cNvPr>
              <p:cNvSpPr/>
              <p:nvPr/>
            </p:nvSpPr>
            <p:spPr>
              <a:xfrm>
                <a:off x="2696024" y="5216858"/>
                <a:ext cx="158273" cy="191848"/>
              </a:xfrm>
              <a:custGeom>
                <a:avLst/>
                <a:gdLst/>
                <a:ahLst/>
                <a:cxnLst/>
                <a:rect l="0" t="0" r="0" b="0"/>
                <a:pathLst>
                  <a:path w="202139" h="219075">
                    <a:moveTo>
                      <a:pt x="9629" y="144446"/>
                    </a:moveTo>
                    <a:cubicBezTo>
                      <a:pt x="4311" y="144446"/>
                      <a:pt x="0" y="140135"/>
                      <a:pt x="0" y="134816"/>
                    </a:cubicBezTo>
                    <a:lnTo>
                      <a:pt x="0" y="9629"/>
                    </a:lnTo>
                    <a:cubicBezTo>
                      <a:pt x="0" y="4311"/>
                      <a:pt x="4311" y="0"/>
                      <a:pt x="9629" y="0"/>
                    </a:cubicBezTo>
                    <a:lnTo>
                      <a:pt x="192509" y="0"/>
                    </a:lnTo>
                    <a:cubicBezTo>
                      <a:pt x="197828" y="0"/>
                      <a:pt x="202139" y="4311"/>
                      <a:pt x="202139" y="9629"/>
                    </a:cubicBezTo>
                    <a:lnTo>
                      <a:pt x="202139" y="134816"/>
                    </a:lnTo>
                    <a:cubicBezTo>
                      <a:pt x="202139" y="140135"/>
                      <a:pt x="197828" y="144446"/>
                      <a:pt x="192509" y="144446"/>
                    </a:cubicBezTo>
                    <a:lnTo>
                      <a:pt x="182918" y="144446"/>
                    </a:lnTo>
                    <a:moveTo>
                      <a:pt x="149218" y="62588"/>
                    </a:moveTo>
                    <a:lnTo>
                      <a:pt x="149218" y="24069"/>
                    </a:lnTo>
                    <a:lnTo>
                      <a:pt x="178107" y="24069"/>
                    </a:lnTo>
                    <a:lnTo>
                      <a:pt x="178107" y="62588"/>
                    </a:lnTo>
                    <a:lnTo>
                      <a:pt x="149218" y="62588"/>
                    </a:lnTo>
                    <a:moveTo>
                      <a:pt x="36071" y="122777"/>
                    </a:moveTo>
                    <a:cubicBezTo>
                      <a:pt x="36060" y="157351"/>
                      <a:pt x="64085" y="185385"/>
                      <a:pt x="98659" y="185385"/>
                    </a:cubicBezTo>
                    <a:cubicBezTo>
                      <a:pt x="133234" y="185385"/>
                      <a:pt x="161259" y="157351"/>
                      <a:pt x="161248" y="122777"/>
                    </a:cubicBezTo>
                    <a:cubicBezTo>
                      <a:pt x="161259" y="88202"/>
                      <a:pt x="133234" y="60169"/>
                      <a:pt x="98659" y="60169"/>
                    </a:cubicBezTo>
                    <a:cubicBezTo>
                      <a:pt x="64085" y="60169"/>
                      <a:pt x="36060" y="88202"/>
                      <a:pt x="36071" y="122777"/>
                    </a:cubicBezTo>
                    <a:moveTo>
                      <a:pt x="121424" y="108337"/>
                    </a:moveTo>
                    <a:lnTo>
                      <a:pt x="78085" y="108337"/>
                    </a:lnTo>
                    <a:moveTo>
                      <a:pt x="121424" y="137226"/>
                    </a:moveTo>
                    <a:lnTo>
                      <a:pt x="78085" y="137226"/>
                    </a:lnTo>
                    <a:moveTo>
                      <a:pt x="142922" y="167039"/>
                    </a:moveTo>
                    <a:lnTo>
                      <a:pt x="194957" y="219075"/>
                    </a:lnTo>
                    <a:moveTo>
                      <a:pt x="52920" y="28889"/>
                    </a:moveTo>
                    <a:lnTo>
                      <a:pt x="28851" y="28889"/>
                    </a:lnTo>
                    <a:moveTo>
                      <a:pt x="43948" y="52959"/>
                    </a:moveTo>
                    <a:lnTo>
                      <a:pt x="28851" y="52959"/>
                    </a:lnTo>
                  </a:path>
                </a:pathLst>
              </a:custGeom>
              <a:noFill/>
              <a:ln w="14287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658" name="TextBox 17657">
                <a:extLst>
                  <a:ext uri="{FF2B5EF4-FFF2-40B4-BE49-F238E27FC236}">
                    <a16:creationId xmlns:a16="http://schemas.microsoft.com/office/drawing/2014/main" id="{0278F59A-A720-8F7E-003E-E26137105801}"/>
                  </a:ext>
                </a:extLst>
              </p:cNvPr>
              <p:cNvSpPr txBox="1"/>
              <p:nvPr/>
            </p:nvSpPr>
            <p:spPr>
              <a:xfrm>
                <a:off x="2920991" y="5105245"/>
                <a:ext cx="1304317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900" b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Change verification</a:t>
                </a:r>
              </a:p>
            </p:txBody>
          </p:sp>
          <p:grpSp>
            <p:nvGrpSpPr>
              <p:cNvPr id="17659" name="Group 17658">
                <a:extLst>
                  <a:ext uri="{FF2B5EF4-FFF2-40B4-BE49-F238E27FC236}">
                    <a16:creationId xmlns:a16="http://schemas.microsoft.com/office/drawing/2014/main" id="{57F99873-B0DC-DFB7-1FDE-44DAD34A5DE3}"/>
                  </a:ext>
                </a:extLst>
              </p:cNvPr>
              <p:cNvGrpSpPr/>
              <p:nvPr/>
            </p:nvGrpSpPr>
            <p:grpSpPr>
              <a:xfrm>
                <a:off x="2972571" y="5285369"/>
                <a:ext cx="1317592" cy="228749"/>
                <a:chOff x="662759" y="4209044"/>
                <a:chExt cx="1317592" cy="228749"/>
              </a:xfrm>
            </p:grpSpPr>
            <p:sp>
              <p:nvSpPr>
                <p:cNvPr id="17661" name="TextBox 17660">
                  <a:extLst>
                    <a:ext uri="{FF2B5EF4-FFF2-40B4-BE49-F238E27FC236}">
                      <a16:creationId xmlns:a16="http://schemas.microsoft.com/office/drawing/2014/main" id="{B9EB3404-46D6-A6EE-52AE-A80B2D8A3F2E}"/>
                    </a:ext>
                  </a:extLst>
                </p:cNvPr>
                <p:cNvSpPr txBox="1"/>
                <p:nvPr/>
              </p:nvSpPr>
              <p:spPr>
                <a:xfrm>
                  <a:off x="662761" y="4209044"/>
                  <a:ext cx="911056" cy="1200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sz="800" b="0" dirty="0">
                      <a:solidFill>
                        <a:sysClr val="windowText" lastClr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Persistence + confounder</a:t>
                  </a:r>
                </a:p>
              </p:txBody>
            </p:sp>
            <p:sp>
              <p:nvSpPr>
                <p:cNvPr id="17662" name="TextBox 17661">
                  <a:extLst>
                    <a:ext uri="{FF2B5EF4-FFF2-40B4-BE49-F238E27FC236}">
                      <a16:creationId xmlns:a16="http://schemas.microsoft.com/office/drawing/2014/main" id="{84D2856A-C0F9-9A06-E5C9-9AAA16E2D30E}"/>
                    </a:ext>
                  </a:extLst>
                </p:cNvPr>
                <p:cNvSpPr txBox="1"/>
                <p:nvPr/>
              </p:nvSpPr>
              <p:spPr>
                <a:xfrm>
                  <a:off x="662759" y="4317779"/>
                  <a:ext cx="1317592" cy="12001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sz="800" b="0" dirty="0">
                      <a:solidFill>
                        <a:sysClr val="windowText" lastClr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tests + calibration</a:t>
                  </a:r>
                </a:p>
              </p:txBody>
            </p:sp>
          </p:grpSp>
          <p:sp>
            <p:nvSpPr>
              <p:cNvPr id="17660" name="TextBox 17659">
                <a:extLst>
                  <a:ext uri="{FF2B5EF4-FFF2-40B4-BE49-F238E27FC236}">
                    <a16:creationId xmlns:a16="http://schemas.microsoft.com/office/drawing/2014/main" id="{232B11DE-D361-32F0-30DF-935B917E9AFF}"/>
                  </a:ext>
                </a:extLst>
              </p:cNvPr>
              <p:cNvSpPr txBox="1"/>
              <p:nvPr/>
            </p:nvSpPr>
            <p:spPr>
              <a:xfrm>
                <a:off x="1757384" y="1360877"/>
                <a:ext cx="4209525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1800" b="1" dirty="0">
                    <a:solidFill>
                      <a:srgbClr val="384F6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Feasibility </a:t>
                </a:r>
                <a:r>
                  <a:rPr lang="en-US" sz="1800" b="1" dirty="0">
                    <a:solidFill>
                      <a:srgbClr val="384F6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Analysis</a:t>
                </a:r>
                <a:endParaRPr sz="1800" b="1" dirty="0">
                  <a:solidFill>
                    <a:srgbClr val="384F6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" name="Rounded Rectangle 47">
                <a:extLst>
                  <a:ext uri="{FF2B5EF4-FFF2-40B4-BE49-F238E27FC236}">
                    <a16:creationId xmlns:a16="http://schemas.microsoft.com/office/drawing/2014/main" id="{5335DAAA-635F-75C5-3899-BA19D7C6D8D3}"/>
                  </a:ext>
                </a:extLst>
              </p:cNvPr>
              <p:cNvSpPr/>
              <p:nvPr/>
            </p:nvSpPr>
            <p:spPr>
              <a:xfrm>
                <a:off x="3417590" y="2906360"/>
                <a:ext cx="171450" cy="219075"/>
              </a:xfrm>
              <a:custGeom>
                <a:avLst/>
                <a:gdLst/>
                <a:ahLst/>
                <a:cxnLst/>
                <a:rect l="0" t="0" r="0" b="0"/>
                <a:pathLst>
                  <a:path w="171450" h="219075">
                    <a:moveTo>
                      <a:pt x="0" y="33337"/>
                    </a:moveTo>
                    <a:cubicBezTo>
                      <a:pt x="0" y="51749"/>
                      <a:pt x="38380" y="66675"/>
                      <a:pt x="85725" y="66675"/>
                    </a:cubicBezTo>
                    <a:cubicBezTo>
                      <a:pt x="133069" y="66675"/>
                      <a:pt x="171450" y="51749"/>
                      <a:pt x="171450" y="33337"/>
                    </a:cubicBezTo>
                    <a:cubicBezTo>
                      <a:pt x="171450" y="14925"/>
                      <a:pt x="133069" y="0"/>
                      <a:pt x="85725" y="0"/>
                    </a:cubicBezTo>
                    <a:cubicBezTo>
                      <a:pt x="38380" y="0"/>
                      <a:pt x="0" y="14925"/>
                      <a:pt x="0" y="33337"/>
                    </a:cubicBezTo>
                    <a:moveTo>
                      <a:pt x="0" y="33337"/>
                    </a:moveTo>
                    <a:lnTo>
                      <a:pt x="0" y="185737"/>
                    </a:lnTo>
                    <a:cubicBezTo>
                      <a:pt x="0" y="204149"/>
                      <a:pt x="38376" y="219075"/>
                      <a:pt x="85725" y="219075"/>
                    </a:cubicBezTo>
                    <a:cubicBezTo>
                      <a:pt x="133073" y="219075"/>
                      <a:pt x="171450" y="204149"/>
                      <a:pt x="171450" y="185737"/>
                    </a:cubicBezTo>
                    <a:lnTo>
                      <a:pt x="171450" y="33337"/>
                    </a:lnTo>
                    <a:moveTo>
                      <a:pt x="171450" y="66675"/>
                    </a:moveTo>
                    <a:cubicBezTo>
                      <a:pt x="171450" y="85086"/>
                      <a:pt x="133073" y="100012"/>
                      <a:pt x="85725" y="100012"/>
                    </a:cubicBezTo>
                    <a:cubicBezTo>
                      <a:pt x="38376" y="100012"/>
                      <a:pt x="0" y="85086"/>
                      <a:pt x="0" y="66675"/>
                    </a:cubicBezTo>
                    <a:moveTo>
                      <a:pt x="171450" y="100012"/>
                    </a:moveTo>
                    <a:cubicBezTo>
                      <a:pt x="171450" y="118424"/>
                      <a:pt x="133073" y="133350"/>
                      <a:pt x="85725" y="133350"/>
                    </a:cubicBezTo>
                    <a:cubicBezTo>
                      <a:pt x="38376" y="133350"/>
                      <a:pt x="0" y="118424"/>
                      <a:pt x="0" y="100012"/>
                    </a:cubicBezTo>
                  </a:path>
                </a:pathLst>
              </a:custGeom>
              <a:noFill/>
              <a:ln w="14287">
                <a:solidFill>
                  <a:srgbClr val="00B050"/>
                </a:solidFill>
              </a:ln>
            </p:spPr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572" name="Rounded Rectangle 2">
              <a:extLst>
                <a:ext uri="{FF2B5EF4-FFF2-40B4-BE49-F238E27FC236}">
                  <a16:creationId xmlns:a16="http://schemas.microsoft.com/office/drawing/2014/main" id="{0B8F87B1-B696-4D0A-1001-4A7DCDB6D7AF}"/>
                </a:ext>
              </a:extLst>
            </p:cNvPr>
            <p:cNvSpPr/>
            <p:nvPr/>
          </p:nvSpPr>
          <p:spPr>
            <a:xfrm>
              <a:off x="2638988" y="4016703"/>
              <a:ext cx="1298555" cy="506283"/>
            </a:xfrm>
            <a:custGeom>
              <a:avLst/>
              <a:gdLst/>
              <a:ahLst/>
              <a:cxnLst/>
              <a:rect l="0" t="0" r="0" b="0"/>
              <a:pathLst>
                <a:path w="1599133" h="605790">
                  <a:moveTo>
                    <a:pt x="1541983" y="605790"/>
                  </a:moveTo>
                  <a:lnTo>
                    <a:pt x="1561033" y="605790"/>
                  </a:lnTo>
                  <a:cubicBezTo>
                    <a:pt x="1582073" y="605790"/>
                    <a:pt x="1599133" y="588730"/>
                    <a:pt x="1599133" y="567690"/>
                  </a:cubicBezTo>
                  <a:lnTo>
                    <a:pt x="1599133" y="38100"/>
                  </a:lnTo>
                  <a:cubicBezTo>
                    <a:pt x="1599133" y="17059"/>
                    <a:pt x="1582073" y="0"/>
                    <a:pt x="1561033" y="0"/>
                  </a:cubicBezTo>
                  <a:lnTo>
                    <a:pt x="38100" y="0"/>
                  </a:lnTo>
                  <a:cubicBezTo>
                    <a:pt x="17059" y="0"/>
                    <a:pt x="0" y="17059"/>
                    <a:pt x="0" y="38100"/>
                  </a:cubicBezTo>
                  <a:lnTo>
                    <a:pt x="0" y="567690"/>
                  </a:lnTo>
                  <a:cubicBezTo>
                    <a:pt x="0" y="588730"/>
                    <a:pt x="17059" y="605790"/>
                    <a:pt x="38100" y="605790"/>
                  </a:cubicBezTo>
                  <a:lnTo>
                    <a:pt x="1541983" y="605790"/>
                  </a:lnTo>
                </a:path>
              </a:pathLst>
            </a:custGeom>
            <a:noFill/>
            <a:ln>
              <a:solidFill>
                <a:srgbClr val="00B0F0"/>
              </a:solidFill>
            </a:ln>
          </p:spPr>
          <p:txBody>
            <a:bodyPr rtlCol="0" anchor="ctr"/>
            <a:lstStyle/>
            <a:p>
              <a:pPr algn="ctr"/>
              <a:endParaRPr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73" name="Rounded Rectangle 2">
              <a:extLst>
                <a:ext uri="{FF2B5EF4-FFF2-40B4-BE49-F238E27FC236}">
                  <a16:creationId xmlns:a16="http://schemas.microsoft.com/office/drawing/2014/main" id="{67EB6C3A-4B85-FB1C-413E-825C0861847D}"/>
                </a:ext>
              </a:extLst>
            </p:cNvPr>
            <p:cNvSpPr/>
            <p:nvPr/>
          </p:nvSpPr>
          <p:spPr>
            <a:xfrm>
              <a:off x="3324620" y="2715748"/>
              <a:ext cx="1298556" cy="552933"/>
            </a:xfrm>
            <a:custGeom>
              <a:avLst/>
              <a:gdLst/>
              <a:ahLst/>
              <a:cxnLst/>
              <a:rect l="0" t="0" r="0" b="0"/>
              <a:pathLst>
                <a:path w="1599133" h="605790">
                  <a:moveTo>
                    <a:pt x="1541983" y="605790"/>
                  </a:moveTo>
                  <a:lnTo>
                    <a:pt x="1561033" y="605790"/>
                  </a:lnTo>
                  <a:cubicBezTo>
                    <a:pt x="1582073" y="605790"/>
                    <a:pt x="1599133" y="588730"/>
                    <a:pt x="1599133" y="567690"/>
                  </a:cubicBezTo>
                  <a:lnTo>
                    <a:pt x="1599133" y="38100"/>
                  </a:lnTo>
                  <a:cubicBezTo>
                    <a:pt x="1599133" y="17059"/>
                    <a:pt x="1582073" y="0"/>
                    <a:pt x="1561033" y="0"/>
                  </a:cubicBezTo>
                  <a:lnTo>
                    <a:pt x="38100" y="0"/>
                  </a:lnTo>
                  <a:cubicBezTo>
                    <a:pt x="17059" y="0"/>
                    <a:pt x="0" y="17059"/>
                    <a:pt x="0" y="38100"/>
                  </a:cubicBezTo>
                  <a:lnTo>
                    <a:pt x="0" y="567690"/>
                  </a:lnTo>
                  <a:cubicBezTo>
                    <a:pt x="0" y="588730"/>
                    <a:pt x="17059" y="605790"/>
                    <a:pt x="38100" y="605790"/>
                  </a:cubicBezTo>
                  <a:lnTo>
                    <a:pt x="1541983" y="605790"/>
                  </a:lnTo>
                </a:path>
              </a:pathLst>
            </a:custGeom>
            <a:noFill/>
            <a:ln>
              <a:solidFill>
                <a:srgbClr val="00B050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7537" name="Straight Connector 17536">
            <a:extLst>
              <a:ext uri="{FF2B5EF4-FFF2-40B4-BE49-F238E27FC236}">
                <a16:creationId xmlns:a16="http://schemas.microsoft.com/office/drawing/2014/main" id="{BBB50A9B-4F5C-C99D-9CCA-5D4960C37216}"/>
              </a:ext>
            </a:extLst>
          </p:cNvPr>
          <p:cNvCxnSpPr>
            <a:cxnSpLocks/>
          </p:cNvCxnSpPr>
          <p:nvPr/>
        </p:nvCxnSpPr>
        <p:spPr>
          <a:xfrm>
            <a:off x="8993416" y="1275505"/>
            <a:ext cx="0" cy="4852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EA86E20-3D7D-C5CD-6ECF-C4403A910EF1}"/>
              </a:ext>
            </a:extLst>
          </p:cNvPr>
          <p:cNvSpPr/>
          <p:nvPr/>
        </p:nvSpPr>
        <p:spPr>
          <a:xfrm>
            <a:off x="3637901" y="4931659"/>
            <a:ext cx="5185634" cy="1188481"/>
          </a:xfrm>
          <a:prstGeom prst="roundRect">
            <a:avLst/>
          </a:prstGeom>
          <a:solidFill>
            <a:srgbClr val="D6E1F4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73" name="TextBox 17472">
            <a:extLst>
              <a:ext uri="{FF2B5EF4-FFF2-40B4-BE49-F238E27FC236}">
                <a16:creationId xmlns:a16="http://schemas.microsoft.com/office/drawing/2014/main" id="{B0BA9E17-F634-2E59-8D55-FE479713F72A}"/>
              </a:ext>
            </a:extLst>
          </p:cNvPr>
          <p:cNvSpPr txBox="1"/>
          <p:nvPr/>
        </p:nvSpPr>
        <p:spPr>
          <a:xfrm>
            <a:off x="3637900" y="4993915"/>
            <a:ext cx="2382330" cy="3088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1800" b="1" dirty="0">
                <a:solidFill>
                  <a:srgbClr val="384F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Disagreement Map</a:t>
            </a:r>
            <a:endParaRPr sz="1800" b="1" dirty="0">
              <a:solidFill>
                <a:srgbClr val="384F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75" name="TextBox 17474">
            <a:extLst>
              <a:ext uri="{FF2B5EF4-FFF2-40B4-BE49-F238E27FC236}">
                <a16:creationId xmlns:a16="http://schemas.microsoft.com/office/drawing/2014/main" id="{7328D002-A696-4231-3EB3-93F65D87399C}"/>
              </a:ext>
            </a:extLst>
          </p:cNvPr>
          <p:cNvSpPr txBox="1"/>
          <p:nvPr/>
        </p:nvSpPr>
        <p:spPr>
          <a:xfrm>
            <a:off x="3828503" y="5341163"/>
            <a:ext cx="2382330" cy="3088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IN" sz="1200" b="1" dirty="0"/>
              <a:t>Routes a change to review when sources</a:t>
            </a:r>
          </a:p>
          <a:p>
            <a:r>
              <a:rPr lang="en-IN" sz="1200" b="1" dirty="0"/>
              <a:t>disagree (optical vs. SAR vs. index vs. model).</a:t>
            </a:r>
            <a:endParaRPr lang="en-IN" sz="1200" dirty="0"/>
          </a:p>
        </p:txBody>
      </p:sp>
      <p:sp>
        <p:nvSpPr>
          <p:cNvPr id="17477" name="TextBox 17476">
            <a:extLst>
              <a:ext uri="{FF2B5EF4-FFF2-40B4-BE49-F238E27FC236}">
                <a16:creationId xmlns:a16="http://schemas.microsoft.com/office/drawing/2014/main" id="{F052664C-17C2-C333-8C56-02E5CA667B1E}"/>
              </a:ext>
            </a:extLst>
          </p:cNvPr>
          <p:cNvSpPr txBox="1"/>
          <p:nvPr/>
        </p:nvSpPr>
        <p:spPr>
          <a:xfrm>
            <a:off x="4060361" y="5798827"/>
            <a:ext cx="700731" cy="1909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IN" sz="1400" dirty="0"/>
              <a:t>Agreement</a:t>
            </a:r>
          </a:p>
        </p:txBody>
      </p:sp>
      <p:sp>
        <p:nvSpPr>
          <p:cNvPr id="17481" name="TextBox 17480">
            <a:extLst>
              <a:ext uri="{FF2B5EF4-FFF2-40B4-BE49-F238E27FC236}">
                <a16:creationId xmlns:a16="http://schemas.microsoft.com/office/drawing/2014/main" id="{0E886FD6-8E55-DE20-1018-35EA99BF2322}"/>
              </a:ext>
            </a:extLst>
          </p:cNvPr>
          <p:cNvSpPr txBox="1"/>
          <p:nvPr/>
        </p:nvSpPr>
        <p:spPr>
          <a:xfrm>
            <a:off x="6541030" y="5803088"/>
            <a:ext cx="700731" cy="1909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IN" sz="1400" dirty="0"/>
              <a:t>Uncertain</a:t>
            </a:r>
          </a:p>
        </p:txBody>
      </p:sp>
      <p:sp>
        <p:nvSpPr>
          <p:cNvPr id="17483" name="TextBox 17482">
            <a:extLst>
              <a:ext uri="{FF2B5EF4-FFF2-40B4-BE49-F238E27FC236}">
                <a16:creationId xmlns:a16="http://schemas.microsoft.com/office/drawing/2014/main" id="{0BA208BA-75B0-9292-A159-8EE4A1A8BEC4}"/>
              </a:ext>
            </a:extLst>
          </p:cNvPr>
          <p:cNvSpPr txBox="1"/>
          <p:nvPr/>
        </p:nvSpPr>
        <p:spPr>
          <a:xfrm>
            <a:off x="5216358" y="5803089"/>
            <a:ext cx="700731" cy="1909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IN" sz="1400" dirty="0"/>
              <a:t>Disagreement</a:t>
            </a:r>
          </a:p>
        </p:txBody>
      </p:sp>
      <p:sp>
        <p:nvSpPr>
          <p:cNvPr id="17538" name="Rectangle 17537">
            <a:extLst>
              <a:ext uri="{FF2B5EF4-FFF2-40B4-BE49-F238E27FC236}">
                <a16:creationId xmlns:a16="http://schemas.microsoft.com/office/drawing/2014/main" id="{26FD53B1-7C3A-82A0-B868-F1D1DACDCF61}"/>
              </a:ext>
            </a:extLst>
          </p:cNvPr>
          <p:cNvSpPr/>
          <p:nvPr/>
        </p:nvSpPr>
        <p:spPr>
          <a:xfrm>
            <a:off x="3828503" y="5812824"/>
            <a:ext cx="175825" cy="16296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541" name="Rectangle 17540">
            <a:extLst>
              <a:ext uri="{FF2B5EF4-FFF2-40B4-BE49-F238E27FC236}">
                <a16:creationId xmlns:a16="http://schemas.microsoft.com/office/drawing/2014/main" id="{7C7540E9-FF6F-1035-5F3E-F05F0A83AF7B}"/>
              </a:ext>
            </a:extLst>
          </p:cNvPr>
          <p:cNvSpPr/>
          <p:nvPr/>
        </p:nvSpPr>
        <p:spPr>
          <a:xfrm>
            <a:off x="4985134" y="5833053"/>
            <a:ext cx="175825" cy="1629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543" name="Rectangle 17542">
            <a:extLst>
              <a:ext uri="{FF2B5EF4-FFF2-40B4-BE49-F238E27FC236}">
                <a16:creationId xmlns:a16="http://schemas.microsoft.com/office/drawing/2014/main" id="{6C9CBBE1-23A3-246F-B5AF-3E753CAE11F9}"/>
              </a:ext>
            </a:extLst>
          </p:cNvPr>
          <p:cNvSpPr/>
          <p:nvPr/>
        </p:nvSpPr>
        <p:spPr>
          <a:xfrm>
            <a:off x="6326913" y="5822491"/>
            <a:ext cx="175825" cy="16296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554" name="Rectangle: Rounded Corners 17553">
            <a:extLst>
              <a:ext uri="{FF2B5EF4-FFF2-40B4-BE49-F238E27FC236}">
                <a16:creationId xmlns:a16="http://schemas.microsoft.com/office/drawing/2014/main" id="{3E213C49-AB7B-6185-804B-31965EF5D7B1}"/>
              </a:ext>
            </a:extLst>
          </p:cNvPr>
          <p:cNvSpPr/>
          <p:nvPr/>
        </p:nvSpPr>
        <p:spPr>
          <a:xfrm>
            <a:off x="7331635" y="5027797"/>
            <a:ext cx="1398969" cy="1009779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7439" name="Group 17438">
            <a:extLst>
              <a:ext uri="{FF2B5EF4-FFF2-40B4-BE49-F238E27FC236}">
                <a16:creationId xmlns:a16="http://schemas.microsoft.com/office/drawing/2014/main" id="{5B337C75-BA4C-03C9-2C88-3E909D714D21}"/>
              </a:ext>
            </a:extLst>
          </p:cNvPr>
          <p:cNvGrpSpPr/>
          <p:nvPr/>
        </p:nvGrpSpPr>
        <p:grpSpPr>
          <a:xfrm>
            <a:off x="9082907" y="1192299"/>
            <a:ext cx="3096383" cy="5664004"/>
            <a:chOff x="2790345" y="457200"/>
            <a:chExt cx="3563309" cy="6826763"/>
          </a:xfrm>
          <a:solidFill>
            <a:schemeClr val="bg1"/>
          </a:solidFill>
        </p:grpSpPr>
        <p:sp>
          <p:nvSpPr>
            <p:cNvPr id="17447" name="Rectangle 17446">
              <a:extLst>
                <a:ext uri="{FF2B5EF4-FFF2-40B4-BE49-F238E27FC236}">
                  <a16:creationId xmlns:a16="http://schemas.microsoft.com/office/drawing/2014/main" id="{F35FDF52-0F87-46FA-440B-FE66DBB44B87}"/>
                </a:ext>
              </a:extLst>
            </p:cNvPr>
            <p:cNvSpPr/>
            <p:nvPr/>
          </p:nvSpPr>
          <p:spPr>
            <a:xfrm>
              <a:off x="2790345" y="457200"/>
              <a:ext cx="3563309" cy="6826763"/>
            </a:xfrm>
            <a:prstGeom prst="rect">
              <a:avLst/>
            </a:prstGeom>
            <a:grpFill/>
            <a:ln>
              <a:noFill/>
            </a:ln>
          </p:spPr>
          <p:txBody>
            <a:bodyPr rtlCol="0" anchor="ctr"/>
            <a:lstStyle/>
            <a:p>
              <a:pPr algn="ctr"/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7448" name="Group 17447">
              <a:extLst>
                <a:ext uri="{FF2B5EF4-FFF2-40B4-BE49-F238E27FC236}">
                  <a16:creationId xmlns:a16="http://schemas.microsoft.com/office/drawing/2014/main" id="{41CD4FC8-2B2B-BD0F-44DA-B1996B9D24F9}"/>
                </a:ext>
              </a:extLst>
            </p:cNvPr>
            <p:cNvGrpSpPr/>
            <p:nvPr/>
          </p:nvGrpSpPr>
          <p:grpSpPr>
            <a:xfrm>
              <a:off x="3202665" y="1611712"/>
              <a:ext cx="1368310" cy="427597"/>
              <a:chOff x="412320" y="1154512"/>
              <a:chExt cx="1368310" cy="427597"/>
            </a:xfrm>
            <a:grpFill/>
          </p:grpSpPr>
          <p:sp>
            <p:nvSpPr>
              <p:cNvPr id="17701" name="Rounded Rectangle 2">
                <a:extLst>
                  <a:ext uri="{FF2B5EF4-FFF2-40B4-BE49-F238E27FC236}">
                    <a16:creationId xmlns:a16="http://schemas.microsoft.com/office/drawing/2014/main" id="{C04DF725-89CA-27C7-CE58-C097AC83B401}"/>
                  </a:ext>
                </a:extLst>
              </p:cNvPr>
              <p:cNvSpPr/>
              <p:nvPr/>
            </p:nvSpPr>
            <p:spPr>
              <a:xfrm>
                <a:off x="412320" y="1154512"/>
                <a:ext cx="1368310" cy="427597"/>
              </a:xfrm>
              <a:custGeom>
                <a:avLst/>
                <a:gdLst/>
                <a:ahLst/>
                <a:cxnLst/>
                <a:rect l="0" t="0" r="0" b="0"/>
                <a:pathLst>
                  <a:path w="1368310" h="427597">
                    <a:moveTo>
                      <a:pt x="1368310" y="128279"/>
                    </a:moveTo>
                    <a:cubicBezTo>
                      <a:pt x="1368310" y="57433"/>
                      <a:pt x="1062001" y="0"/>
                      <a:pt x="684155" y="0"/>
                    </a:cubicBezTo>
                    <a:cubicBezTo>
                      <a:pt x="306309" y="0"/>
                      <a:pt x="0" y="57433"/>
                      <a:pt x="0" y="128279"/>
                    </a:cubicBezTo>
                    <a:cubicBezTo>
                      <a:pt x="0" y="247828"/>
                      <a:pt x="0" y="179768"/>
                      <a:pt x="0" y="299317"/>
                    </a:cubicBezTo>
                    <a:cubicBezTo>
                      <a:pt x="0" y="370163"/>
                      <a:pt x="306309" y="427597"/>
                      <a:pt x="684155" y="427597"/>
                    </a:cubicBezTo>
                    <a:cubicBezTo>
                      <a:pt x="1062001" y="427597"/>
                      <a:pt x="1368310" y="370163"/>
                      <a:pt x="1368310" y="299317"/>
                    </a:cubicBezTo>
                    <a:cubicBezTo>
                      <a:pt x="1368310" y="179768"/>
                      <a:pt x="1368310" y="247828"/>
                      <a:pt x="1368310" y="12827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702" name="Rounded Rectangle 3">
                <a:extLst>
                  <a:ext uri="{FF2B5EF4-FFF2-40B4-BE49-F238E27FC236}">
                    <a16:creationId xmlns:a16="http://schemas.microsoft.com/office/drawing/2014/main" id="{A2F6154A-4638-507D-2E5B-ACD84780ADD9}"/>
                  </a:ext>
                </a:extLst>
              </p:cNvPr>
              <p:cNvSpPr/>
              <p:nvPr/>
            </p:nvSpPr>
            <p:spPr>
              <a:xfrm>
                <a:off x="412320" y="1154512"/>
                <a:ext cx="1368310" cy="256558"/>
              </a:xfrm>
              <a:custGeom>
                <a:avLst/>
                <a:gdLst/>
                <a:ahLst/>
                <a:cxnLst/>
                <a:rect l="0" t="0" r="0" b="0"/>
                <a:pathLst>
                  <a:path w="1368310" h="256558">
                    <a:moveTo>
                      <a:pt x="0" y="128279"/>
                    </a:moveTo>
                    <a:cubicBezTo>
                      <a:pt x="0" y="199124"/>
                      <a:pt x="306309" y="256558"/>
                      <a:pt x="684155" y="256558"/>
                    </a:cubicBezTo>
                    <a:cubicBezTo>
                      <a:pt x="1062001" y="256558"/>
                      <a:pt x="1368310" y="199124"/>
                      <a:pt x="1368310" y="128279"/>
                    </a:cubicBezTo>
                    <a:cubicBezTo>
                      <a:pt x="1368310" y="57433"/>
                      <a:pt x="1062001" y="0"/>
                      <a:pt x="684155" y="0"/>
                    </a:cubicBezTo>
                    <a:cubicBezTo>
                      <a:pt x="306309" y="0"/>
                      <a:pt x="0" y="57433"/>
                      <a:pt x="0" y="12827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703" name="Rounded Rectangle 4">
                <a:extLst>
                  <a:ext uri="{FF2B5EF4-FFF2-40B4-BE49-F238E27FC236}">
                    <a16:creationId xmlns:a16="http://schemas.microsoft.com/office/drawing/2014/main" id="{157496BF-5C04-EDA1-1920-0739AB0C11B3}"/>
                  </a:ext>
                </a:extLst>
              </p:cNvPr>
              <p:cNvSpPr/>
              <p:nvPr/>
            </p:nvSpPr>
            <p:spPr>
              <a:xfrm>
                <a:off x="839917" y="1154512"/>
                <a:ext cx="513116" cy="178165"/>
              </a:xfrm>
              <a:custGeom>
                <a:avLst/>
                <a:gdLst/>
                <a:ahLst/>
                <a:cxnLst/>
                <a:rect l="0" t="0" r="0" b="0"/>
                <a:pathLst>
                  <a:path w="513116" h="178165">
                    <a:moveTo>
                      <a:pt x="0" y="128279"/>
                    </a:moveTo>
                    <a:cubicBezTo>
                      <a:pt x="0" y="155830"/>
                      <a:pt x="114866" y="178165"/>
                      <a:pt x="256558" y="178165"/>
                    </a:cubicBezTo>
                    <a:cubicBezTo>
                      <a:pt x="398249" y="178165"/>
                      <a:pt x="513116" y="155830"/>
                      <a:pt x="513116" y="128279"/>
                    </a:cubicBezTo>
                    <a:lnTo>
                      <a:pt x="513116" y="49886"/>
                    </a:lnTo>
                    <a:cubicBezTo>
                      <a:pt x="513116" y="22334"/>
                      <a:pt x="398249" y="0"/>
                      <a:pt x="256558" y="0"/>
                    </a:cubicBezTo>
                    <a:cubicBezTo>
                      <a:pt x="114866" y="0"/>
                      <a:pt x="0" y="22334"/>
                      <a:pt x="0" y="49886"/>
                    </a:cubicBezTo>
                    <a:lnTo>
                      <a:pt x="0" y="128279"/>
                    </a:lnTo>
                  </a:path>
                </a:pathLst>
              </a:cu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704" name="Rounded Rectangle 5">
                <a:extLst>
                  <a:ext uri="{FF2B5EF4-FFF2-40B4-BE49-F238E27FC236}">
                    <a16:creationId xmlns:a16="http://schemas.microsoft.com/office/drawing/2014/main" id="{F97EBFF6-0E68-468A-7A8A-2A818F61992A}"/>
                  </a:ext>
                </a:extLst>
              </p:cNvPr>
              <p:cNvSpPr/>
              <p:nvPr/>
            </p:nvSpPr>
            <p:spPr>
              <a:xfrm>
                <a:off x="839917" y="1154512"/>
                <a:ext cx="513116" cy="99772"/>
              </a:xfrm>
              <a:custGeom>
                <a:avLst/>
                <a:gdLst/>
                <a:ahLst/>
                <a:cxnLst/>
                <a:rect l="0" t="0" r="0" b="0"/>
                <a:pathLst>
                  <a:path w="513116" h="99772">
                    <a:moveTo>
                      <a:pt x="513116" y="49886"/>
                    </a:moveTo>
                    <a:cubicBezTo>
                      <a:pt x="513116" y="22334"/>
                      <a:pt x="398249" y="0"/>
                      <a:pt x="256558" y="0"/>
                    </a:cubicBezTo>
                    <a:cubicBezTo>
                      <a:pt x="114866" y="0"/>
                      <a:pt x="0" y="22334"/>
                      <a:pt x="0" y="49886"/>
                    </a:cubicBezTo>
                    <a:cubicBezTo>
                      <a:pt x="0" y="77437"/>
                      <a:pt x="114866" y="99772"/>
                      <a:pt x="256558" y="99772"/>
                    </a:cubicBezTo>
                    <a:cubicBezTo>
                      <a:pt x="398249" y="99772"/>
                      <a:pt x="513116" y="77437"/>
                      <a:pt x="513116" y="49886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7451" name="Group 17450">
              <a:extLst>
                <a:ext uri="{FF2B5EF4-FFF2-40B4-BE49-F238E27FC236}">
                  <a16:creationId xmlns:a16="http://schemas.microsoft.com/office/drawing/2014/main" id="{410598E5-1268-519A-2F65-86997341EB70}"/>
                </a:ext>
              </a:extLst>
            </p:cNvPr>
            <p:cNvGrpSpPr/>
            <p:nvPr/>
          </p:nvGrpSpPr>
          <p:grpSpPr>
            <a:xfrm>
              <a:off x="3202665" y="1611712"/>
              <a:ext cx="1368310" cy="427597"/>
              <a:chOff x="412320" y="1154512"/>
              <a:chExt cx="1368310" cy="427597"/>
            </a:xfrm>
            <a:grpFill/>
          </p:grpSpPr>
          <p:sp>
            <p:nvSpPr>
              <p:cNvPr id="17697" name="Rounded Rectangle 7">
                <a:extLst>
                  <a:ext uri="{FF2B5EF4-FFF2-40B4-BE49-F238E27FC236}">
                    <a16:creationId xmlns:a16="http://schemas.microsoft.com/office/drawing/2014/main" id="{472D671F-E9C8-443B-092A-A9895084D97A}"/>
                  </a:ext>
                </a:extLst>
              </p:cNvPr>
              <p:cNvSpPr/>
              <p:nvPr/>
            </p:nvSpPr>
            <p:spPr>
              <a:xfrm>
                <a:off x="412320" y="1154512"/>
                <a:ext cx="1368310" cy="427597"/>
              </a:xfrm>
              <a:custGeom>
                <a:avLst/>
                <a:gdLst/>
                <a:ahLst/>
                <a:cxnLst/>
                <a:rect l="0" t="0" r="0" b="0"/>
                <a:pathLst>
                  <a:path w="1368310" h="427597">
                    <a:moveTo>
                      <a:pt x="1368310" y="128279"/>
                    </a:moveTo>
                    <a:cubicBezTo>
                      <a:pt x="1368310" y="57432"/>
                      <a:pt x="1062003" y="0"/>
                      <a:pt x="684155" y="0"/>
                    </a:cubicBezTo>
                    <a:cubicBezTo>
                      <a:pt x="306307" y="0"/>
                      <a:pt x="0" y="57432"/>
                      <a:pt x="0" y="128279"/>
                    </a:cubicBezTo>
                    <a:cubicBezTo>
                      <a:pt x="0" y="247828"/>
                      <a:pt x="0" y="179768"/>
                      <a:pt x="0" y="299317"/>
                    </a:cubicBezTo>
                    <a:cubicBezTo>
                      <a:pt x="0" y="370164"/>
                      <a:pt x="306307" y="427597"/>
                      <a:pt x="684155" y="427597"/>
                    </a:cubicBezTo>
                    <a:cubicBezTo>
                      <a:pt x="1062003" y="427597"/>
                      <a:pt x="1368310" y="370164"/>
                      <a:pt x="1368310" y="299317"/>
                    </a:cubicBezTo>
                    <a:cubicBezTo>
                      <a:pt x="1368310" y="179768"/>
                      <a:pt x="1368310" y="247828"/>
                      <a:pt x="1368310" y="128279"/>
                    </a:cubicBezTo>
                    <a:close/>
                  </a:path>
                </a:pathLst>
              </a:custGeom>
              <a:grpFill/>
              <a:ln w="10689">
                <a:solidFill>
                  <a:srgbClr val="969696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698" name="Rounded Rectangle 8">
                <a:extLst>
                  <a:ext uri="{FF2B5EF4-FFF2-40B4-BE49-F238E27FC236}">
                    <a16:creationId xmlns:a16="http://schemas.microsoft.com/office/drawing/2014/main" id="{2AF5A799-C555-025A-540F-EC33BEE3C766}"/>
                  </a:ext>
                </a:extLst>
              </p:cNvPr>
              <p:cNvSpPr/>
              <p:nvPr/>
            </p:nvSpPr>
            <p:spPr>
              <a:xfrm>
                <a:off x="412320" y="1154512"/>
                <a:ext cx="1368310" cy="256558"/>
              </a:xfrm>
              <a:custGeom>
                <a:avLst/>
                <a:gdLst/>
                <a:ahLst/>
                <a:cxnLst/>
                <a:rect l="0" t="0" r="0" b="0"/>
                <a:pathLst>
                  <a:path w="1368310" h="256558">
                    <a:moveTo>
                      <a:pt x="0" y="128279"/>
                    </a:moveTo>
                    <a:cubicBezTo>
                      <a:pt x="0" y="199125"/>
                      <a:pt x="306306" y="256558"/>
                      <a:pt x="684155" y="256558"/>
                    </a:cubicBezTo>
                    <a:cubicBezTo>
                      <a:pt x="1062004" y="256558"/>
                      <a:pt x="1368310" y="199125"/>
                      <a:pt x="1368310" y="128279"/>
                    </a:cubicBezTo>
                    <a:cubicBezTo>
                      <a:pt x="1368310" y="57432"/>
                      <a:pt x="1062004" y="0"/>
                      <a:pt x="684155" y="0"/>
                    </a:cubicBezTo>
                    <a:cubicBezTo>
                      <a:pt x="306306" y="0"/>
                      <a:pt x="0" y="57432"/>
                      <a:pt x="0" y="128279"/>
                    </a:cubicBezTo>
                  </a:path>
                </a:pathLst>
              </a:custGeom>
              <a:grpFill/>
              <a:ln w="10689">
                <a:solidFill>
                  <a:srgbClr val="969696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699" name="Rounded Rectangle 9">
                <a:extLst>
                  <a:ext uri="{FF2B5EF4-FFF2-40B4-BE49-F238E27FC236}">
                    <a16:creationId xmlns:a16="http://schemas.microsoft.com/office/drawing/2014/main" id="{4054A609-354D-C4DF-984A-24B83B71BA84}"/>
                  </a:ext>
                </a:extLst>
              </p:cNvPr>
              <p:cNvSpPr/>
              <p:nvPr/>
            </p:nvSpPr>
            <p:spPr>
              <a:xfrm>
                <a:off x="839917" y="1154512"/>
                <a:ext cx="513116" cy="178165"/>
              </a:xfrm>
              <a:custGeom>
                <a:avLst/>
                <a:gdLst/>
                <a:ahLst/>
                <a:cxnLst/>
                <a:rect l="0" t="0" r="0" b="0"/>
                <a:pathLst>
                  <a:path w="513116" h="178165">
                    <a:moveTo>
                      <a:pt x="0" y="128279"/>
                    </a:moveTo>
                    <a:cubicBezTo>
                      <a:pt x="0" y="155830"/>
                      <a:pt x="114864" y="178165"/>
                      <a:pt x="256558" y="178165"/>
                    </a:cubicBezTo>
                    <a:cubicBezTo>
                      <a:pt x="398251" y="178165"/>
                      <a:pt x="513116" y="155830"/>
                      <a:pt x="513116" y="128279"/>
                    </a:cubicBezTo>
                    <a:lnTo>
                      <a:pt x="513116" y="49886"/>
                    </a:lnTo>
                    <a:cubicBezTo>
                      <a:pt x="513116" y="22334"/>
                      <a:pt x="398251" y="0"/>
                      <a:pt x="256558" y="0"/>
                    </a:cubicBezTo>
                    <a:cubicBezTo>
                      <a:pt x="114864" y="0"/>
                      <a:pt x="0" y="22334"/>
                      <a:pt x="0" y="49886"/>
                    </a:cubicBezTo>
                    <a:lnTo>
                      <a:pt x="0" y="128279"/>
                    </a:lnTo>
                    <a:close/>
                  </a:path>
                </a:pathLst>
              </a:custGeom>
              <a:grpFill/>
              <a:ln w="10689">
                <a:solidFill>
                  <a:srgbClr val="969696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700" name="Rounded Rectangle 10">
                <a:extLst>
                  <a:ext uri="{FF2B5EF4-FFF2-40B4-BE49-F238E27FC236}">
                    <a16:creationId xmlns:a16="http://schemas.microsoft.com/office/drawing/2014/main" id="{F0BC4BE8-090C-9BA6-3D30-40CD0FBB0FEB}"/>
                  </a:ext>
                </a:extLst>
              </p:cNvPr>
              <p:cNvSpPr/>
              <p:nvPr/>
            </p:nvSpPr>
            <p:spPr>
              <a:xfrm>
                <a:off x="839917" y="1154512"/>
                <a:ext cx="513116" cy="99772"/>
              </a:xfrm>
              <a:custGeom>
                <a:avLst/>
                <a:gdLst/>
                <a:ahLst/>
                <a:cxnLst/>
                <a:rect l="0" t="0" r="0" b="0"/>
                <a:pathLst>
                  <a:path w="513116" h="99772">
                    <a:moveTo>
                      <a:pt x="513116" y="49886"/>
                    </a:moveTo>
                    <a:cubicBezTo>
                      <a:pt x="513116" y="22334"/>
                      <a:pt x="398251" y="0"/>
                      <a:pt x="256558" y="0"/>
                    </a:cubicBezTo>
                    <a:cubicBezTo>
                      <a:pt x="114864" y="0"/>
                      <a:pt x="0" y="22334"/>
                      <a:pt x="0" y="49886"/>
                    </a:cubicBezTo>
                    <a:cubicBezTo>
                      <a:pt x="0" y="77437"/>
                      <a:pt x="114864" y="99772"/>
                      <a:pt x="256558" y="99772"/>
                    </a:cubicBezTo>
                    <a:cubicBezTo>
                      <a:pt x="398251" y="99772"/>
                      <a:pt x="513116" y="77437"/>
                      <a:pt x="513116" y="49886"/>
                    </a:cubicBezTo>
                    <a:close/>
                  </a:path>
                </a:pathLst>
              </a:custGeom>
              <a:grpFill/>
              <a:ln w="10689">
                <a:solidFill>
                  <a:srgbClr val="969696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452" name="Rounded Rectangle 12">
              <a:extLst>
                <a:ext uri="{FF2B5EF4-FFF2-40B4-BE49-F238E27FC236}">
                  <a16:creationId xmlns:a16="http://schemas.microsoft.com/office/drawing/2014/main" id="{031E8ADC-2F73-76B0-F871-C49026F9275D}"/>
                </a:ext>
              </a:extLst>
            </p:cNvPr>
            <p:cNvSpPr/>
            <p:nvPr/>
          </p:nvSpPr>
          <p:spPr>
            <a:xfrm>
              <a:off x="3202665" y="1911030"/>
              <a:ext cx="1368310" cy="897953"/>
            </a:xfrm>
            <a:custGeom>
              <a:avLst/>
              <a:gdLst/>
              <a:ahLst/>
              <a:cxnLst/>
              <a:rect l="0" t="0" r="0" b="0"/>
              <a:pathLst>
                <a:path w="1368310" h="897953">
                  <a:moveTo>
                    <a:pt x="0" y="769674"/>
                  </a:moveTo>
                  <a:cubicBezTo>
                    <a:pt x="0" y="840520"/>
                    <a:pt x="306309" y="897953"/>
                    <a:pt x="684155" y="897953"/>
                  </a:cubicBezTo>
                  <a:cubicBezTo>
                    <a:pt x="1062001" y="897953"/>
                    <a:pt x="1368310" y="840520"/>
                    <a:pt x="1368310" y="769674"/>
                  </a:cubicBezTo>
                  <a:lnTo>
                    <a:pt x="1368310" y="0"/>
                  </a:lnTo>
                  <a:cubicBezTo>
                    <a:pt x="1368310" y="70845"/>
                    <a:pt x="1062001" y="128279"/>
                    <a:pt x="684155" y="128279"/>
                  </a:cubicBezTo>
                  <a:cubicBezTo>
                    <a:pt x="306309" y="128279"/>
                    <a:pt x="0" y="70845"/>
                    <a:pt x="0" y="0"/>
                  </a:cubicBezTo>
                  <a:lnTo>
                    <a:pt x="0" y="769674"/>
                  </a:lnTo>
                </a:path>
              </a:pathLst>
            </a:custGeom>
            <a:grpFill/>
            <a:ln>
              <a:noFill/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53" name="Rounded Rectangle 13">
              <a:extLst>
                <a:ext uri="{FF2B5EF4-FFF2-40B4-BE49-F238E27FC236}">
                  <a16:creationId xmlns:a16="http://schemas.microsoft.com/office/drawing/2014/main" id="{86E77461-5CB2-4F3A-DCEC-FDF7CFC9F5B0}"/>
                </a:ext>
              </a:extLst>
            </p:cNvPr>
            <p:cNvSpPr/>
            <p:nvPr/>
          </p:nvSpPr>
          <p:spPr>
            <a:xfrm>
              <a:off x="3202665" y="1911030"/>
              <a:ext cx="1368310" cy="897953"/>
            </a:xfrm>
            <a:custGeom>
              <a:avLst/>
              <a:gdLst/>
              <a:ahLst/>
              <a:cxnLst/>
              <a:rect l="0" t="0" r="0" b="0"/>
              <a:pathLst>
                <a:path w="1368310" h="897953">
                  <a:moveTo>
                    <a:pt x="1368310" y="427597"/>
                  </a:moveTo>
                  <a:lnTo>
                    <a:pt x="1368310" y="342077"/>
                  </a:lnTo>
                  <a:moveTo>
                    <a:pt x="0" y="427597"/>
                  </a:moveTo>
                  <a:lnTo>
                    <a:pt x="0" y="342077"/>
                  </a:lnTo>
                  <a:moveTo>
                    <a:pt x="0" y="427597"/>
                  </a:moveTo>
                  <a:lnTo>
                    <a:pt x="0" y="769674"/>
                  </a:lnTo>
                  <a:cubicBezTo>
                    <a:pt x="0" y="840521"/>
                    <a:pt x="306307" y="897953"/>
                    <a:pt x="684155" y="897953"/>
                  </a:cubicBezTo>
                  <a:cubicBezTo>
                    <a:pt x="1062003" y="897953"/>
                    <a:pt x="1368310" y="840521"/>
                    <a:pt x="1368310" y="769674"/>
                  </a:cubicBezTo>
                  <a:lnTo>
                    <a:pt x="1368310" y="427597"/>
                  </a:lnTo>
                  <a:moveTo>
                    <a:pt x="0" y="342077"/>
                  </a:moveTo>
                  <a:lnTo>
                    <a:pt x="0" y="0"/>
                  </a:lnTo>
                  <a:cubicBezTo>
                    <a:pt x="0" y="70846"/>
                    <a:pt x="306307" y="128279"/>
                    <a:pt x="684155" y="128279"/>
                  </a:cubicBezTo>
                  <a:cubicBezTo>
                    <a:pt x="1062003" y="128279"/>
                    <a:pt x="1368310" y="70846"/>
                    <a:pt x="1368310" y="0"/>
                  </a:cubicBezTo>
                  <a:lnTo>
                    <a:pt x="1368310" y="342077"/>
                  </a:lnTo>
                </a:path>
              </a:pathLst>
            </a:custGeom>
            <a:grpFill/>
            <a:ln w="10689">
              <a:solidFill>
                <a:srgbClr val="3CC583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54" name="Rounded Rectangle 14">
              <a:extLst>
                <a:ext uri="{FF2B5EF4-FFF2-40B4-BE49-F238E27FC236}">
                  <a16:creationId xmlns:a16="http://schemas.microsoft.com/office/drawing/2014/main" id="{1BA2B61B-795A-BC83-7B3A-16896CFDB9A2}"/>
                </a:ext>
              </a:extLst>
            </p:cNvPr>
            <p:cNvSpPr/>
            <p:nvPr/>
          </p:nvSpPr>
          <p:spPr>
            <a:xfrm>
              <a:off x="4570976" y="1911030"/>
              <a:ext cx="1368310" cy="769674"/>
            </a:xfrm>
            <a:custGeom>
              <a:avLst/>
              <a:gdLst/>
              <a:ahLst/>
              <a:cxnLst/>
              <a:rect l="0" t="0" r="0" b="0"/>
              <a:pathLst>
                <a:path w="1368310" h="769674">
                  <a:moveTo>
                    <a:pt x="1368310" y="769674"/>
                  </a:moveTo>
                  <a:lnTo>
                    <a:pt x="0" y="769674"/>
                  </a:lnTo>
                  <a:lnTo>
                    <a:pt x="0" y="342077"/>
                  </a:lnTo>
                  <a:cubicBezTo>
                    <a:pt x="0" y="153151"/>
                    <a:pt x="0" y="0"/>
                    <a:pt x="0" y="0"/>
                  </a:cubicBezTo>
                  <a:lnTo>
                    <a:pt x="1368310" y="0"/>
                  </a:lnTo>
                  <a:lnTo>
                    <a:pt x="1368310" y="769674"/>
                  </a:lnTo>
                </a:path>
              </a:pathLst>
            </a:custGeom>
            <a:grpFill/>
            <a:ln>
              <a:noFill/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55" name="Rounded Rectangle 15">
              <a:extLst>
                <a:ext uri="{FF2B5EF4-FFF2-40B4-BE49-F238E27FC236}">
                  <a16:creationId xmlns:a16="http://schemas.microsoft.com/office/drawing/2014/main" id="{8210FA27-DE6A-7668-A18E-E394B5CD3D7D}"/>
                </a:ext>
              </a:extLst>
            </p:cNvPr>
            <p:cNvSpPr/>
            <p:nvPr/>
          </p:nvSpPr>
          <p:spPr>
            <a:xfrm>
              <a:off x="4570976" y="1911030"/>
              <a:ext cx="1368310" cy="769674"/>
            </a:xfrm>
            <a:custGeom>
              <a:avLst/>
              <a:gdLst/>
              <a:ahLst/>
              <a:cxnLst/>
              <a:rect l="0" t="0" r="0" b="0"/>
              <a:pathLst>
                <a:path w="1368310" h="769674">
                  <a:moveTo>
                    <a:pt x="1368310" y="342077"/>
                  </a:moveTo>
                  <a:lnTo>
                    <a:pt x="1368310" y="0"/>
                  </a:lnTo>
                  <a:lnTo>
                    <a:pt x="0" y="0"/>
                  </a:lnTo>
                  <a:lnTo>
                    <a:pt x="0" y="342076"/>
                  </a:lnTo>
                  <a:moveTo>
                    <a:pt x="1368310" y="427597"/>
                  </a:moveTo>
                  <a:lnTo>
                    <a:pt x="1368310" y="342077"/>
                  </a:lnTo>
                  <a:moveTo>
                    <a:pt x="0" y="427597"/>
                  </a:moveTo>
                  <a:lnTo>
                    <a:pt x="0" y="342077"/>
                  </a:lnTo>
                  <a:moveTo>
                    <a:pt x="0" y="427597"/>
                  </a:moveTo>
                  <a:lnTo>
                    <a:pt x="0" y="769674"/>
                  </a:lnTo>
                  <a:lnTo>
                    <a:pt x="1368310" y="769674"/>
                  </a:lnTo>
                  <a:lnTo>
                    <a:pt x="1368310" y="427597"/>
                  </a:lnTo>
                </a:path>
              </a:pathLst>
            </a:custGeom>
            <a:grpFill/>
            <a:ln w="10689">
              <a:solidFill>
                <a:srgbClr val="3CC583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56" name="Rounded Rectangle 16">
              <a:extLst>
                <a:ext uri="{FF2B5EF4-FFF2-40B4-BE49-F238E27FC236}">
                  <a16:creationId xmlns:a16="http://schemas.microsoft.com/office/drawing/2014/main" id="{3BAA30D8-6CA2-4C4F-FACC-EDAFDBF3C999}"/>
                </a:ext>
              </a:extLst>
            </p:cNvPr>
            <p:cNvSpPr/>
            <p:nvPr/>
          </p:nvSpPr>
          <p:spPr>
            <a:xfrm>
              <a:off x="3202665" y="2680705"/>
              <a:ext cx="1368310" cy="897953"/>
            </a:xfrm>
            <a:custGeom>
              <a:avLst/>
              <a:gdLst/>
              <a:ahLst/>
              <a:cxnLst/>
              <a:rect l="0" t="0" r="0" b="0"/>
              <a:pathLst>
                <a:path w="1368310" h="897953">
                  <a:moveTo>
                    <a:pt x="0" y="769674"/>
                  </a:moveTo>
                  <a:cubicBezTo>
                    <a:pt x="0" y="840520"/>
                    <a:pt x="306309" y="897953"/>
                    <a:pt x="684155" y="897953"/>
                  </a:cubicBezTo>
                  <a:cubicBezTo>
                    <a:pt x="1062001" y="897953"/>
                    <a:pt x="1368310" y="840520"/>
                    <a:pt x="1368310" y="769674"/>
                  </a:cubicBezTo>
                  <a:lnTo>
                    <a:pt x="1368310" y="0"/>
                  </a:lnTo>
                  <a:cubicBezTo>
                    <a:pt x="1368310" y="70845"/>
                    <a:pt x="1062001" y="128279"/>
                    <a:pt x="684155" y="128279"/>
                  </a:cubicBezTo>
                  <a:cubicBezTo>
                    <a:pt x="306309" y="128279"/>
                    <a:pt x="0" y="70845"/>
                    <a:pt x="0" y="0"/>
                  </a:cubicBezTo>
                  <a:lnTo>
                    <a:pt x="0" y="769674"/>
                  </a:lnTo>
                </a:path>
              </a:pathLst>
            </a:custGeom>
            <a:grpFill/>
            <a:ln>
              <a:noFill/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57" name="Rounded Rectangle 17">
              <a:extLst>
                <a:ext uri="{FF2B5EF4-FFF2-40B4-BE49-F238E27FC236}">
                  <a16:creationId xmlns:a16="http://schemas.microsoft.com/office/drawing/2014/main" id="{BF3082C8-D99D-9CB9-9466-6BEB557075A8}"/>
                </a:ext>
              </a:extLst>
            </p:cNvPr>
            <p:cNvSpPr/>
            <p:nvPr/>
          </p:nvSpPr>
          <p:spPr>
            <a:xfrm>
              <a:off x="3202665" y="2680705"/>
              <a:ext cx="1368310" cy="897953"/>
            </a:xfrm>
            <a:custGeom>
              <a:avLst/>
              <a:gdLst/>
              <a:ahLst/>
              <a:cxnLst/>
              <a:rect l="0" t="0" r="0" b="0"/>
              <a:pathLst>
                <a:path w="1368310" h="897953">
                  <a:moveTo>
                    <a:pt x="1368310" y="427597"/>
                  </a:moveTo>
                  <a:lnTo>
                    <a:pt x="1368310" y="342077"/>
                  </a:lnTo>
                  <a:moveTo>
                    <a:pt x="0" y="427597"/>
                  </a:moveTo>
                  <a:lnTo>
                    <a:pt x="0" y="342077"/>
                  </a:lnTo>
                  <a:moveTo>
                    <a:pt x="0" y="427597"/>
                  </a:moveTo>
                  <a:lnTo>
                    <a:pt x="0" y="769674"/>
                  </a:lnTo>
                  <a:cubicBezTo>
                    <a:pt x="0" y="840521"/>
                    <a:pt x="306307" y="897953"/>
                    <a:pt x="684155" y="897953"/>
                  </a:cubicBezTo>
                  <a:cubicBezTo>
                    <a:pt x="1062003" y="897953"/>
                    <a:pt x="1368310" y="840521"/>
                    <a:pt x="1368310" y="769674"/>
                  </a:cubicBezTo>
                  <a:lnTo>
                    <a:pt x="1368310" y="427597"/>
                  </a:lnTo>
                  <a:moveTo>
                    <a:pt x="0" y="342077"/>
                  </a:moveTo>
                  <a:lnTo>
                    <a:pt x="0" y="0"/>
                  </a:lnTo>
                  <a:cubicBezTo>
                    <a:pt x="0" y="70846"/>
                    <a:pt x="306307" y="128279"/>
                    <a:pt x="684155" y="128279"/>
                  </a:cubicBezTo>
                  <a:cubicBezTo>
                    <a:pt x="1062003" y="128279"/>
                    <a:pt x="1368310" y="70846"/>
                    <a:pt x="1368310" y="0"/>
                  </a:cubicBezTo>
                  <a:lnTo>
                    <a:pt x="1368310" y="342077"/>
                  </a:lnTo>
                </a:path>
              </a:pathLst>
            </a:custGeom>
            <a:grpFill/>
            <a:ln w="10689">
              <a:solidFill>
                <a:srgbClr val="4E88E7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58" name="Rounded Rectangle 18">
              <a:extLst>
                <a:ext uri="{FF2B5EF4-FFF2-40B4-BE49-F238E27FC236}">
                  <a16:creationId xmlns:a16="http://schemas.microsoft.com/office/drawing/2014/main" id="{A1AD64AD-31F5-5402-C5EA-6885CF90E005}"/>
                </a:ext>
              </a:extLst>
            </p:cNvPr>
            <p:cNvSpPr/>
            <p:nvPr/>
          </p:nvSpPr>
          <p:spPr>
            <a:xfrm>
              <a:off x="4570976" y="2680705"/>
              <a:ext cx="1368310" cy="769674"/>
            </a:xfrm>
            <a:custGeom>
              <a:avLst/>
              <a:gdLst/>
              <a:ahLst/>
              <a:cxnLst/>
              <a:rect l="0" t="0" r="0" b="0"/>
              <a:pathLst>
                <a:path w="1368310" h="769674">
                  <a:moveTo>
                    <a:pt x="1368310" y="769674"/>
                  </a:moveTo>
                  <a:lnTo>
                    <a:pt x="0" y="769674"/>
                  </a:lnTo>
                  <a:lnTo>
                    <a:pt x="0" y="342077"/>
                  </a:lnTo>
                  <a:cubicBezTo>
                    <a:pt x="0" y="153151"/>
                    <a:pt x="0" y="0"/>
                    <a:pt x="0" y="0"/>
                  </a:cubicBezTo>
                  <a:lnTo>
                    <a:pt x="1368310" y="0"/>
                  </a:lnTo>
                  <a:lnTo>
                    <a:pt x="1368310" y="769674"/>
                  </a:lnTo>
                </a:path>
              </a:pathLst>
            </a:custGeom>
            <a:grpFill/>
            <a:ln>
              <a:noFill/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59" name="Rounded Rectangle 19">
              <a:extLst>
                <a:ext uri="{FF2B5EF4-FFF2-40B4-BE49-F238E27FC236}">
                  <a16:creationId xmlns:a16="http://schemas.microsoft.com/office/drawing/2014/main" id="{476F24F5-052A-C3E3-8EE2-317387408370}"/>
                </a:ext>
              </a:extLst>
            </p:cNvPr>
            <p:cNvSpPr/>
            <p:nvPr/>
          </p:nvSpPr>
          <p:spPr>
            <a:xfrm>
              <a:off x="4570976" y="2680705"/>
              <a:ext cx="1368310" cy="769674"/>
            </a:xfrm>
            <a:custGeom>
              <a:avLst/>
              <a:gdLst/>
              <a:ahLst/>
              <a:cxnLst/>
              <a:rect l="0" t="0" r="0" b="0"/>
              <a:pathLst>
                <a:path w="1368310" h="769674">
                  <a:moveTo>
                    <a:pt x="1368310" y="342077"/>
                  </a:moveTo>
                  <a:lnTo>
                    <a:pt x="1368310" y="0"/>
                  </a:lnTo>
                  <a:lnTo>
                    <a:pt x="0" y="0"/>
                  </a:lnTo>
                  <a:lnTo>
                    <a:pt x="0" y="342076"/>
                  </a:lnTo>
                  <a:moveTo>
                    <a:pt x="1368310" y="427597"/>
                  </a:moveTo>
                  <a:lnTo>
                    <a:pt x="1368310" y="342077"/>
                  </a:lnTo>
                  <a:moveTo>
                    <a:pt x="0" y="427597"/>
                  </a:moveTo>
                  <a:lnTo>
                    <a:pt x="0" y="342077"/>
                  </a:lnTo>
                  <a:moveTo>
                    <a:pt x="0" y="427597"/>
                  </a:moveTo>
                  <a:lnTo>
                    <a:pt x="0" y="769674"/>
                  </a:lnTo>
                  <a:lnTo>
                    <a:pt x="1368310" y="769674"/>
                  </a:lnTo>
                  <a:lnTo>
                    <a:pt x="1368310" y="427597"/>
                  </a:lnTo>
                </a:path>
              </a:pathLst>
            </a:custGeom>
            <a:grpFill/>
            <a:ln w="10689">
              <a:solidFill>
                <a:srgbClr val="4E88E7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60" name="Rounded Rectangle 20">
              <a:extLst>
                <a:ext uri="{FF2B5EF4-FFF2-40B4-BE49-F238E27FC236}">
                  <a16:creationId xmlns:a16="http://schemas.microsoft.com/office/drawing/2014/main" id="{CF4443D0-7A20-75F1-9D06-9B7826EE8BCE}"/>
                </a:ext>
              </a:extLst>
            </p:cNvPr>
            <p:cNvSpPr/>
            <p:nvPr/>
          </p:nvSpPr>
          <p:spPr>
            <a:xfrm>
              <a:off x="3202665" y="3450379"/>
              <a:ext cx="1368310" cy="897953"/>
            </a:xfrm>
            <a:custGeom>
              <a:avLst/>
              <a:gdLst/>
              <a:ahLst/>
              <a:cxnLst/>
              <a:rect l="0" t="0" r="0" b="0"/>
              <a:pathLst>
                <a:path w="1368310" h="897953">
                  <a:moveTo>
                    <a:pt x="0" y="769674"/>
                  </a:moveTo>
                  <a:cubicBezTo>
                    <a:pt x="0" y="840520"/>
                    <a:pt x="306309" y="897953"/>
                    <a:pt x="684155" y="897953"/>
                  </a:cubicBezTo>
                  <a:cubicBezTo>
                    <a:pt x="1062001" y="897953"/>
                    <a:pt x="1368310" y="840520"/>
                    <a:pt x="1368310" y="769674"/>
                  </a:cubicBezTo>
                  <a:lnTo>
                    <a:pt x="1368310" y="0"/>
                  </a:lnTo>
                  <a:cubicBezTo>
                    <a:pt x="1368310" y="70845"/>
                    <a:pt x="1062001" y="128279"/>
                    <a:pt x="684155" y="128279"/>
                  </a:cubicBezTo>
                  <a:cubicBezTo>
                    <a:pt x="306309" y="128279"/>
                    <a:pt x="0" y="70845"/>
                    <a:pt x="0" y="0"/>
                  </a:cubicBezTo>
                  <a:lnTo>
                    <a:pt x="0" y="769674"/>
                  </a:lnTo>
                </a:path>
              </a:pathLst>
            </a:custGeom>
            <a:grpFill/>
            <a:ln>
              <a:noFill/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61" name="Rounded Rectangle 21">
              <a:extLst>
                <a:ext uri="{FF2B5EF4-FFF2-40B4-BE49-F238E27FC236}">
                  <a16:creationId xmlns:a16="http://schemas.microsoft.com/office/drawing/2014/main" id="{1EAA70B1-A9C3-377C-10E9-10C3FDEFC095}"/>
                </a:ext>
              </a:extLst>
            </p:cNvPr>
            <p:cNvSpPr/>
            <p:nvPr/>
          </p:nvSpPr>
          <p:spPr>
            <a:xfrm>
              <a:off x="3202665" y="3450379"/>
              <a:ext cx="1368310" cy="897953"/>
            </a:xfrm>
            <a:custGeom>
              <a:avLst/>
              <a:gdLst/>
              <a:ahLst/>
              <a:cxnLst/>
              <a:rect l="0" t="0" r="0" b="0"/>
              <a:pathLst>
                <a:path w="1368310" h="897953">
                  <a:moveTo>
                    <a:pt x="1368310" y="427597"/>
                  </a:moveTo>
                  <a:lnTo>
                    <a:pt x="1368310" y="342077"/>
                  </a:lnTo>
                  <a:moveTo>
                    <a:pt x="0" y="427597"/>
                  </a:moveTo>
                  <a:lnTo>
                    <a:pt x="0" y="342077"/>
                  </a:lnTo>
                  <a:moveTo>
                    <a:pt x="0" y="427597"/>
                  </a:moveTo>
                  <a:lnTo>
                    <a:pt x="0" y="769674"/>
                  </a:lnTo>
                  <a:cubicBezTo>
                    <a:pt x="0" y="840521"/>
                    <a:pt x="306307" y="897953"/>
                    <a:pt x="684155" y="897953"/>
                  </a:cubicBezTo>
                  <a:cubicBezTo>
                    <a:pt x="1062003" y="897953"/>
                    <a:pt x="1368310" y="840521"/>
                    <a:pt x="1368310" y="769674"/>
                  </a:cubicBezTo>
                  <a:lnTo>
                    <a:pt x="1368310" y="427597"/>
                  </a:lnTo>
                  <a:moveTo>
                    <a:pt x="0" y="342077"/>
                  </a:moveTo>
                  <a:lnTo>
                    <a:pt x="0" y="0"/>
                  </a:lnTo>
                  <a:cubicBezTo>
                    <a:pt x="0" y="70846"/>
                    <a:pt x="306307" y="128279"/>
                    <a:pt x="684155" y="128279"/>
                  </a:cubicBezTo>
                  <a:cubicBezTo>
                    <a:pt x="1062003" y="128279"/>
                    <a:pt x="1368310" y="70846"/>
                    <a:pt x="1368310" y="0"/>
                  </a:cubicBezTo>
                  <a:lnTo>
                    <a:pt x="1368310" y="342077"/>
                  </a:lnTo>
                </a:path>
              </a:pathLst>
            </a:custGeom>
            <a:grpFill/>
            <a:ln w="10689">
              <a:solidFill>
                <a:srgbClr val="E55753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62" name="Rounded Rectangle 22">
              <a:extLst>
                <a:ext uri="{FF2B5EF4-FFF2-40B4-BE49-F238E27FC236}">
                  <a16:creationId xmlns:a16="http://schemas.microsoft.com/office/drawing/2014/main" id="{1F61876F-0C59-CDCF-7F5D-DE0388AB61BD}"/>
                </a:ext>
              </a:extLst>
            </p:cNvPr>
            <p:cNvSpPr/>
            <p:nvPr/>
          </p:nvSpPr>
          <p:spPr>
            <a:xfrm>
              <a:off x="4570976" y="3450379"/>
              <a:ext cx="1368310" cy="769674"/>
            </a:xfrm>
            <a:custGeom>
              <a:avLst/>
              <a:gdLst/>
              <a:ahLst/>
              <a:cxnLst/>
              <a:rect l="0" t="0" r="0" b="0"/>
              <a:pathLst>
                <a:path w="1368310" h="769674">
                  <a:moveTo>
                    <a:pt x="1368310" y="769674"/>
                  </a:moveTo>
                  <a:lnTo>
                    <a:pt x="0" y="769674"/>
                  </a:lnTo>
                  <a:lnTo>
                    <a:pt x="0" y="342077"/>
                  </a:lnTo>
                  <a:cubicBezTo>
                    <a:pt x="0" y="153151"/>
                    <a:pt x="0" y="0"/>
                    <a:pt x="0" y="0"/>
                  </a:cubicBezTo>
                  <a:lnTo>
                    <a:pt x="1368310" y="0"/>
                  </a:lnTo>
                  <a:lnTo>
                    <a:pt x="1368310" y="769674"/>
                  </a:lnTo>
                </a:path>
              </a:pathLst>
            </a:custGeom>
            <a:grpFill/>
            <a:ln>
              <a:noFill/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63" name="Rounded Rectangle 23">
              <a:extLst>
                <a:ext uri="{FF2B5EF4-FFF2-40B4-BE49-F238E27FC236}">
                  <a16:creationId xmlns:a16="http://schemas.microsoft.com/office/drawing/2014/main" id="{3C770CA4-CA55-86A9-B0CB-79BCCDF34AA4}"/>
                </a:ext>
              </a:extLst>
            </p:cNvPr>
            <p:cNvSpPr/>
            <p:nvPr/>
          </p:nvSpPr>
          <p:spPr>
            <a:xfrm>
              <a:off x="4570976" y="3450379"/>
              <a:ext cx="1368310" cy="769674"/>
            </a:xfrm>
            <a:custGeom>
              <a:avLst/>
              <a:gdLst/>
              <a:ahLst/>
              <a:cxnLst/>
              <a:rect l="0" t="0" r="0" b="0"/>
              <a:pathLst>
                <a:path w="1368310" h="769674">
                  <a:moveTo>
                    <a:pt x="1368310" y="342077"/>
                  </a:moveTo>
                  <a:lnTo>
                    <a:pt x="1368310" y="0"/>
                  </a:lnTo>
                  <a:lnTo>
                    <a:pt x="0" y="0"/>
                  </a:lnTo>
                  <a:lnTo>
                    <a:pt x="0" y="342076"/>
                  </a:lnTo>
                  <a:moveTo>
                    <a:pt x="1368310" y="427597"/>
                  </a:moveTo>
                  <a:lnTo>
                    <a:pt x="1368310" y="342077"/>
                  </a:lnTo>
                  <a:moveTo>
                    <a:pt x="0" y="427597"/>
                  </a:moveTo>
                  <a:lnTo>
                    <a:pt x="0" y="342077"/>
                  </a:lnTo>
                  <a:moveTo>
                    <a:pt x="0" y="427597"/>
                  </a:moveTo>
                  <a:lnTo>
                    <a:pt x="0" y="769674"/>
                  </a:lnTo>
                  <a:lnTo>
                    <a:pt x="1368310" y="769674"/>
                  </a:lnTo>
                  <a:lnTo>
                    <a:pt x="1368310" y="427597"/>
                  </a:lnTo>
                </a:path>
              </a:pathLst>
            </a:custGeom>
            <a:grpFill/>
            <a:ln w="10689">
              <a:solidFill>
                <a:srgbClr val="E55753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64" name="Rounded Rectangle 24">
              <a:extLst>
                <a:ext uri="{FF2B5EF4-FFF2-40B4-BE49-F238E27FC236}">
                  <a16:creationId xmlns:a16="http://schemas.microsoft.com/office/drawing/2014/main" id="{A01C4568-FDC2-B9CA-994B-D4CB17C9AD33}"/>
                </a:ext>
              </a:extLst>
            </p:cNvPr>
            <p:cNvSpPr/>
            <p:nvPr/>
          </p:nvSpPr>
          <p:spPr>
            <a:xfrm>
              <a:off x="3202665" y="4220054"/>
              <a:ext cx="1368310" cy="897953"/>
            </a:xfrm>
            <a:custGeom>
              <a:avLst/>
              <a:gdLst/>
              <a:ahLst/>
              <a:cxnLst/>
              <a:rect l="0" t="0" r="0" b="0"/>
              <a:pathLst>
                <a:path w="1368310" h="897953">
                  <a:moveTo>
                    <a:pt x="0" y="769674"/>
                  </a:moveTo>
                  <a:cubicBezTo>
                    <a:pt x="0" y="840520"/>
                    <a:pt x="306309" y="897953"/>
                    <a:pt x="684155" y="897953"/>
                  </a:cubicBezTo>
                  <a:cubicBezTo>
                    <a:pt x="1062001" y="897953"/>
                    <a:pt x="1368310" y="840520"/>
                    <a:pt x="1368310" y="769674"/>
                  </a:cubicBezTo>
                  <a:lnTo>
                    <a:pt x="1368310" y="0"/>
                  </a:lnTo>
                  <a:cubicBezTo>
                    <a:pt x="1368310" y="70845"/>
                    <a:pt x="1062001" y="128279"/>
                    <a:pt x="684155" y="128279"/>
                  </a:cubicBezTo>
                  <a:cubicBezTo>
                    <a:pt x="306309" y="128279"/>
                    <a:pt x="0" y="70845"/>
                    <a:pt x="0" y="0"/>
                  </a:cubicBezTo>
                  <a:lnTo>
                    <a:pt x="0" y="769674"/>
                  </a:lnTo>
                </a:path>
              </a:pathLst>
            </a:custGeom>
            <a:grpFill/>
            <a:ln>
              <a:noFill/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65" name="Rounded Rectangle 25">
              <a:extLst>
                <a:ext uri="{FF2B5EF4-FFF2-40B4-BE49-F238E27FC236}">
                  <a16:creationId xmlns:a16="http://schemas.microsoft.com/office/drawing/2014/main" id="{A5A5816E-D2EF-E273-C4FA-9A170ECD83B1}"/>
                </a:ext>
              </a:extLst>
            </p:cNvPr>
            <p:cNvSpPr/>
            <p:nvPr/>
          </p:nvSpPr>
          <p:spPr>
            <a:xfrm>
              <a:off x="3202665" y="4220054"/>
              <a:ext cx="1368310" cy="897953"/>
            </a:xfrm>
            <a:custGeom>
              <a:avLst/>
              <a:gdLst/>
              <a:ahLst/>
              <a:cxnLst/>
              <a:rect l="0" t="0" r="0" b="0"/>
              <a:pathLst>
                <a:path w="1368310" h="897953">
                  <a:moveTo>
                    <a:pt x="1368310" y="427597"/>
                  </a:moveTo>
                  <a:lnTo>
                    <a:pt x="1368310" y="342077"/>
                  </a:lnTo>
                  <a:moveTo>
                    <a:pt x="0" y="427597"/>
                  </a:moveTo>
                  <a:lnTo>
                    <a:pt x="0" y="342077"/>
                  </a:lnTo>
                  <a:moveTo>
                    <a:pt x="0" y="427597"/>
                  </a:moveTo>
                  <a:lnTo>
                    <a:pt x="0" y="769674"/>
                  </a:lnTo>
                  <a:cubicBezTo>
                    <a:pt x="0" y="840521"/>
                    <a:pt x="306307" y="897953"/>
                    <a:pt x="684155" y="897953"/>
                  </a:cubicBezTo>
                  <a:cubicBezTo>
                    <a:pt x="1062003" y="897953"/>
                    <a:pt x="1368310" y="840521"/>
                    <a:pt x="1368310" y="769674"/>
                  </a:cubicBezTo>
                  <a:lnTo>
                    <a:pt x="1368310" y="427597"/>
                  </a:lnTo>
                  <a:moveTo>
                    <a:pt x="0" y="342077"/>
                  </a:moveTo>
                  <a:lnTo>
                    <a:pt x="0" y="0"/>
                  </a:lnTo>
                  <a:cubicBezTo>
                    <a:pt x="0" y="70846"/>
                    <a:pt x="306307" y="128279"/>
                    <a:pt x="684155" y="128279"/>
                  </a:cubicBezTo>
                  <a:cubicBezTo>
                    <a:pt x="1062003" y="128279"/>
                    <a:pt x="1368310" y="70846"/>
                    <a:pt x="1368310" y="0"/>
                  </a:cubicBezTo>
                  <a:lnTo>
                    <a:pt x="1368310" y="342077"/>
                  </a:lnTo>
                </a:path>
              </a:pathLst>
            </a:custGeom>
            <a:grpFill/>
            <a:ln w="10689">
              <a:solidFill>
                <a:srgbClr val="DE8431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66" name="Rounded Rectangle 26">
              <a:extLst>
                <a:ext uri="{FF2B5EF4-FFF2-40B4-BE49-F238E27FC236}">
                  <a16:creationId xmlns:a16="http://schemas.microsoft.com/office/drawing/2014/main" id="{507E21B3-FE55-FD33-E7E2-349DDD7F8733}"/>
                </a:ext>
              </a:extLst>
            </p:cNvPr>
            <p:cNvSpPr/>
            <p:nvPr/>
          </p:nvSpPr>
          <p:spPr>
            <a:xfrm>
              <a:off x="4570976" y="4220054"/>
              <a:ext cx="1368310" cy="769674"/>
            </a:xfrm>
            <a:custGeom>
              <a:avLst/>
              <a:gdLst/>
              <a:ahLst/>
              <a:cxnLst/>
              <a:rect l="0" t="0" r="0" b="0"/>
              <a:pathLst>
                <a:path w="1368310" h="769674">
                  <a:moveTo>
                    <a:pt x="1368310" y="769674"/>
                  </a:moveTo>
                  <a:lnTo>
                    <a:pt x="0" y="769674"/>
                  </a:lnTo>
                  <a:lnTo>
                    <a:pt x="0" y="342077"/>
                  </a:lnTo>
                  <a:cubicBezTo>
                    <a:pt x="0" y="153151"/>
                    <a:pt x="0" y="0"/>
                    <a:pt x="0" y="0"/>
                  </a:cubicBezTo>
                  <a:lnTo>
                    <a:pt x="1368310" y="0"/>
                  </a:lnTo>
                  <a:lnTo>
                    <a:pt x="1368310" y="769674"/>
                  </a:lnTo>
                </a:path>
              </a:pathLst>
            </a:custGeom>
            <a:grpFill/>
            <a:ln>
              <a:noFill/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67" name="Rounded Rectangle 27">
              <a:extLst>
                <a:ext uri="{FF2B5EF4-FFF2-40B4-BE49-F238E27FC236}">
                  <a16:creationId xmlns:a16="http://schemas.microsoft.com/office/drawing/2014/main" id="{EA4F5B76-0923-2F3A-15F8-3FB7AEE2E96C}"/>
                </a:ext>
              </a:extLst>
            </p:cNvPr>
            <p:cNvSpPr/>
            <p:nvPr/>
          </p:nvSpPr>
          <p:spPr>
            <a:xfrm>
              <a:off x="4570976" y="4220054"/>
              <a:ext cx="1368310" cy="769674"/>
            </a:xfrm>
            <a:custGeom>
              <a:avLst/>
              <a:gdLst/>
              <a:ahLst/>
              <a:cxnLst/>
              <a:rect l="0" t="0" r="0" b="0"/>
              <a:pathLst>
                <a:path w="1368310" h="769674">
                  <a:moveTo>
                    <a:pt x="1368310" y="342077"/>
                  </a:moveTo>
                  <a:lnTo>
                    <a:pt x="1368310" y="0"/>
                  </a:lnTo>
                  <a:lnTo>
                    <a:pt x="0" y="0"/>
                  </a:lnTo>
                  <a:lnTo>
                    <a:pt x="0" y="342076"/>
                  </a:lnTo>
                  <a:moveTo>
                    <a:pt x="1368310" y="427597"/>
                  </a:moveTo>
                  <a:lnTo>
                    <a:pt x="1368310" y="342077"/>
                  </a:lnTo>
                  <a:moveTo>
                    <a:pt x="0" y="427597"/>
                  </a:moveTo>
                  <a:lnTo>
                    <a:pt x="0" y="342077"/>
                  </a:lnTo>
                  <a:moveTo>
                    <a:pt x="0" y="427597"/>
                  </a:moveTo>
                  <a:lnTo>
                    <a:pt x="0" y="769674"/>
                  </a:lnTo>
                  <a:lnTo>
                    <a:pt x="1368310" y="769674"/>
                  </a:lnTo>
                  <a:lnTo>
                    <a:pt x="1368310" y="427597"/>
                  </a:lnTo>
                </a:path>
              </a:pathLst>
            </a:custGeom>
            <a:grpFill/>
            <a:ln w="10689">
              <a:solidFill>
                <a:srgbClr val="DE8431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68" name="Rounded Rectangle 28">
              <a:extLst>
                <a:ext uri="{FF2B5EF4-FFF2-40B4-BE49-F238E27FC236}">
                  <a16:creationId xmlns:a16="http://schemas.microsoft.com/office/drawing/2014/main" id="{50826457-4AE4-59F3-088B-DC5F8ECB4497}"/>
                </a:ext>
              </a:extLst>
            </p:cNvPr>
            <p:cNvSpPr/>
            <p:nvPr/>
          </p:nvSpPr>
          <p:spPr>
            <a:xfrm>
              <a:off x="3202665" y="4989729"/>
              <a:ext cx="1368310" cy="897953"/>
            </a:xfrm>
            <a:custGeom>
              <a:avLst/>
              <a:gdLst/>
              <a:ahLst/>
              <a:cxnLst/>
              <a:rect l="0" t="0" r="0" b="0"/>
              <a:pathLst>
                <a:path w="1368310" h="897953">
                  <a:moveTo>
                    <a:pt x="0" y="769674"/>
                  </a:moveTo>
                  <a:cubicBezTo>
                    <a:pt x="0" y="840520"/>
                    <a:pt x="306309" y="897953"/>
                    <a:pt x="684155" y="897953"/>
                  </a:cubicBezTo>
                  <a:cubicBezTo>
                    <a:pt x="1062001" y="897953"/>
                    <a:pt x="1368310" y="840520"/>
                    <a:pt x="1368310" y="769674"/>
                  </a:cubicBezTo>
                  <a:lnTo>
                    <a:pt x="1368310" y="0"/>
                  </a:lnTo>
                  <a:cubicBezTo>
                    <a:pt x="1368310" y="70845"/>
                    <a:pt x="1062001" y="128279"/>
                    <a:pt x="684155" y="128279"/>
                  </a:cubicBezTo>
                  <a:cubicBezTo>
                    <a:pt x="306309" y="128279"/>
                    <a:pt x="0" y="70845"/>
                    <a:pt x="0" y="0"/>
                  </a:cubicBezTo>
                  <a:lnTo>
                    <a:pt x="0" y="769674"/>
                  </a:lnTo>
                </a:path>
              </a:pathLst>
            </a:custGeom>
            <a:grpFill/>
            <a:ln>
              <a:noFill/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69" name="Rounded Rectangle 29">
              <a:extLst>
                <a:ext uri="{FF2B5EF4-FFF2-40B4-BE49-F238E27FC236}">
                  <a16:creationId xmlns:a16="http://schemas.microsoft.com/office/drawing/2014/main" id="{E41A3625-A13A-C236-6444-7AA681AD2521}"/>
                </a:ext>
              </a:extLst>
            </p:cNvPr>
            <p:cNvSpPr/>
            <p:nvPr/>
          </p:nvSpPr>
          <p:spPr>
            <a:xfrm>
              <a:off x="3202665" y="4989729"/>
              <a:ext cx="1368310" cy="897953"/>
            </a:xfrm>
            <a:custGeom>
              <a:avLst/>
              <a:gdLst/>
              <a:ahLst/>
              <a:cxnLst/>
              <a:rect l="0" t="0" r="0" b="0"/>
              <a:pathLst>
                <a:path w="1368310" h="897953">
                  <a:moveTo>
                    <a:pt x="1368310" y="427597"/>
                  </a:moveTo>
                  <a:lnTo>
                    <a:pt x="1368310" y="342077"/>
                  </a:lnTo>
                  <a:moveTo>
                    <a:pt x="0" y="427597"/>
                  </a:moveTo>
                  <a:lnTo>
                    <a:pt x="0" y="342077"/>
                  </a:lnTo>
                  <a:moveTo>
                    <a:pt x="0" y="427597"/>
                  </a:moveTo>
                  <a:lnTo>
                    <a:pt x="0" y="769674"/>
                  </a:lnTo>
                  <a:cubicBezTo>
                    <a:pt x="0" y="840521"/>
                    <a:pt x="306307" y="897953"/>
                    <a:pt x="684155" y="897953"/>
                  </a:cubicBezTo>
                  <a:cubicBezTo>
                    <a:pt x="1062003" y="897953"/>
                    <a:pt x="1368310" y="840521"/>
                    <a:pt x="1368310" y="769674"/>
                  </a:cubicBezTo>
                  <a:lnTo>
                    <a:pt x="1368310" y="427597"/>
                  </a:lnTo>
                  <a:moveTo>
                    <a:pt x="0" y="342077"/>
                  </a:moveTo>
                  <a:lnTo>
                    <a:pt x="0" y="0"/>
                  </a:lnTo>
                  <a:cubicBezTo>
                    <a:pt x="0" y="70846"/>
                    <a:pt x="306307" y="128279"/>
                    <a:pt x="684155" y="128279"/>
                  </a:cubicBezTo>
                  <a:cubicBezTo>
                    <a:pt x="1062003" y="128279"/>
                    <a:pt x="1368310" y="70846"/>
                    <a:pt x="1368310" y="0"/>
                  </a:cubicBezTo>
                  <a:lnTo>
                    <a:pt x="1368310" y="342077"/>
                  </a:lnTo>
                </a:path>
              </a:pathLst>
            </a:custGeom>
            <a:grpFill/>
            <a:ln w="10689">
              <a:solidFill>
                <a:srgbClr val="E0CB15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70" name="Rounded Rectangle 30">
              <a:extLst>
                <a:ext uri="{FF2B5EF4-FFF2-40B4-BE49-F238E27FC236}">
                  <a16:creationId xmlns:a16="http://schemas.microsoft.com/office/drawing/2014/main" id="{67810A9C-13ED-B971-3163-FD051BF50CC0}"/>
                </a:ext>
              </a:extLst>
            </p:cNvPr>
            <p:cNvSpPr/>
            <p:nvPr/>
          </p:nvSpPr>
          <p:spPr>
            <a:xfrm>
              <a:off x="4570976" y="4989729"/>
              <a:ext cx="1368310" cy="769674"/>
            </a:xfrm>
            <a:custGeom>
              <a:avLst/>
              <a:gdLst/>
              <a:ahLst/>
              <a:cxnLst/>
              <a:rect l="0" t="0" r="0" b="0"/>
              <a:pathLst>
                <a:path w="1368310" h="769674">
                  <a:moveTo>
                    <a:pt x="1368310" y="769674"/>
                  </a:moveTo>
                  <a:lnTo>
                    <a:pt x="0" y="769674"/>
                  </a:lnTo>
                  <a:lnTo>
                    <a:pt x="0" y="342077"/>
                  </a:lnTo>
                  <a:cubicBezTo>
                    <a:pt x="0" y="153151"/>
                    <a:pt x="0" y="0"/>
                    <a:pt x="0" y="0"/>
                  </a:cubicBezTo>
                  <a:lnTo>
                    <a:pt x="1368310" y="0"/>
                  </a:lnTo>
                  <a:lnTo>
                    <a:pt x="1368310" y="769674"/>
                  </a:lnTo>
                </a:path>
              </a:pathLst>
            </a:custGeom>
            <a:grpFill/>
            <a:ln>
              <a:noFill/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71" name="Rounded Rectangle 31">
              <a:extLst>
                <a:ext uri="{FF2B5EF4-FFF2-40B4-BE49-F238E27FC236}">
                  <a16:creationId xmlns:a16="http://schemas.microsoft.com/office/drawing/2014/main" id="{9F0A1098-D069-6143-F574-B879E7C3A1C1}"/>
                </a:ext>
              </a:extLst>
            </p:cNvPr>
            <p:cNvSpPr/>
            <p:nvPr/>
          </p:nvSpPr>
          <p:spPr>
            <a:xfrm>
              <a:off x="4570976" y="4989729"/>
              <a:ext cx="1368310" cy="769674"/>
            </a:xfrm>
            <a:custGeom>
              <a:avLst/>
              <a:gdLst/>
              <a:ahLst/>
              <a:cxnLst/>
              <a:rect l="0" t="0" r="0" b="0"/>
              <a:pathLst>
                <a:path w="1368310" h="769674">
                  <a:moveTo>
                    <a:pt x="1368310" y="342077"/>
                  </a:moveTo>
                  <a:lnTo>
                    <a:pt x="1368310" y="0"/>
                  </a:lnTo>
                  <a:lnTo>
                    <a:pt x="0" y="0"/>
                  </a:lnTo>
                  <a:lnTo>
                    <a:pt x="0" y="342076"/>
                  </a:lnTo>
                  <a:moveTo>
                    <a:pt x="1368310" y="427597"/>
                  </a:moveTo>
                  <a:lnTo>
                    <a:pt x="1368310" y="342077"/>
                  </a:lnTo>
                  <a:moveTo>
                    <a:pt x="0" y="427597"/>
                  </a:moveTo>
                  <a:lnTo>
                    <a:pt x="0" y="342077"/>
                  </a:lnTo>
                  <a:moveTo>
                    <a:pt x="0" y="427597"/>
                  </a:moveTo>
                  <a:lnTo>
                    <a:pt x="0" y="769674"/>
                  </a:lnTo>
                  <a:lnTo>
                    <a:pt x="1368310" y="769674"/>
                  </a:lnTo>
                  <a:lnTo>
                    <a:pt x="1368310" y="427597"/>
                  </a:lnTo>
                </a:path>
              </a:pathLst>
            </a:custGeom>
            <a:grpFill/>
            <a:ln w="10689">
              <a:solidFill>
                <a:srgbClr val="E0CB15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664" name="Rounded Rectangle 32">
              <a:extLst>
                <a:ext uri="{FF2B5EF4-FFF2-40B4-BE49-F238E27FC236}">
                  <a16:creationId xmlns:a16="http://schemas.microsoft.com/office/drawing/2014/main" id="{426E58B7-D043-8716-BDEC-1FB35E4217F8}"/>
                </a:ext>
              </a:extLst>
            </p:cNvPr>
            <p:cNvSpPr/>
            <p:nvPr/>
          </p:nvSpPr>
          <p:spPr>
            <a:xfrm>
              <a:off x="3202665" y="5759404"/>
              <a:ext cx="1368310" cy="299317"/>
            </a:xfrm>
            <a:custGeom>
              <a:avLst/>
              <a:gdLst/>
              <a:ahLst/>
              <a:cxnLst/>
              <a:rect l="0" t="0" r="0" b="0"/>
              <a:pathLst>
                <a:path w="1368310" h="299317">
                  <a:moveTo>
                    <a:pt x="1368310" y="171038"/>
                  </a:moveTo>
                  <a:cubicBezTo>
                    <a:pt x="1368310" y="241884"/>
                    <a:pt x="1062001" y="299317"/>
                    <a:pt x="684155" y="299317"/>
                  </a:cubicBezTo>
                  <a:cubicBezTo>
                    <a:pt x="306309" y="299317"/>
                    <a:pt x="0" y="241884"/>
                    <a:pt x="0" y="171038"/>
                  </a:cubicBezTo>
                  <a:lnTo>
                    <a:pt x="0" y="0"/>
                  </a:lnTo>
                  <a:cubicBezTo>
                    <a:pt x="0" y="70845"/>
                    <a:pt x="306309" y="128279"/>
                    <a:pt x="684155" y="128279"/>
                  </a:cubicBezTo>
                  <a:cubicBezTo>
                    <a:pt x="1062001" y="128279"/>
                    <a:pt x="1368310" y="70845"/>
                    <a:pt x="1368310" y="0"/>
                  </a:cubicBezTo>
                  <a:lnTo>
                    <a:pt x="1368310" y="171038"/>
                  </a:lnTo>
                </a:path>
              </a:pathLst>
            </a:custGeom>
            <a:grpFill/>
            <a:ln>
              <a:noFill/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665" name="Rounded Rectangle 33">
              <a:extLst>
                <a:ext uri="{FF2B5EF4-FFF2-40B4-BE49-F238E27FC236}">
                  <a16:creationId xmlns:a16="http://schemas.microsoft.com/office/drawing/2014/main" id="{412907B8-8032-6A22-56D2-26DAFEA9D350}"/>
                </a:ext>
              </a:extLst>
            </p:cNvPr>
            <p:cNvSpPr/>
            <p:nvPr/>
          </p:nvSpPr>
          <p:spPr>
            <a:xfrm>
              <a:off x="3202665" y="5759404"/>
              <a:ext cx="1368310" cy="299317"/>
            </a:xfrm>
            <a:custGeom>
              <a:avLst/>
              <a:gdLst/>
              <a:ahLst/>
              <a:cxnLst/>
              <a:rect l="0" t="0" r="0" b="0"/>
              <a:pathLst>
                <a:path w="1368310" h="299317">
                  <a:moveTo>
                    <a:pt x="684155" y="299317"/>
                  </a:moveTo>
                  <a:cubicBezTo>
                    <a:pt x="306307" y="299317"/>
                    <a:pt x="0" y="241885"/>
                    <a:pt x="0" y="171038"/>
                  </a:cubicBezTo>
                  <a:lnTo>
                    <a:pt x="0" y="0"/>
                  </a:lnTo>
                  <a:cubicBezTo>
                    <a:pt x="0" y="70846"/>
                    <a:pt x="306307" y="128279"/>
                    <a:pt x="684155" y="128279"/>
                  </a:cubicBezTo>
                  <a:cubicBezTo>
                    <a:pt x="1062003" y="128279"/>
                    <a:pt x="1368310" y="70846"/>
                    <a:pt x="1368310" y="0"/>
                  </a:cubicBezTo>
                  <a:lnTo>
                    <a:pt x="1368310" y="171038"/>
                  </a:lnTo>
                  <a:cubicBezTo>
                    <a:pt x="1368310" y="241885"/>
                    <a:pt x="1062003" y="299317"/>
                    <a:pt x="684155" y="299317"/>
                  </a:cubicBezTo>
                  <a:close/>
                  <a:moveTo>
                    <a:pt x="1368310" y="0"/>
                  </a:moveTo>
                  <a:cubicBezTo>
                    <a:pt x="1368310" y="119549"/>
                    <a:pt x="1368310" y="51489"/>
                    <a:pt x="1368310" y="171038"/>
                  </a:cubicBezTo>
                  <a:moveTo>
                    <a:pt x="0" y="0"/>
                  </a:moveTo>
                  <a:cubicBezTo>
                    <a:pt x="0" y="119549"/>
                    <a:pt x="0" y="51489"/>
                    <a:pt x="0" y="171038"/>
                  </a:cubicBezTo>
                </a:path>
              </a:pathLst>
            </a:custGeom>
            <a:grpFill/>
            <a:ln w="10689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7666" name="Group 17665">
              <a:extLst>
                <a:ext uri="{FF2B5EF4-FFF2-40B4-BE49-F238E27FC236}">
                  <a16:creationId xmlns:a16="http://schemas.microsoft.com/office/drawing/2014/main" id="{1AD59F70-4B5C-2199-C768-A7B14C32F1BA}"/>
                </a:ext>
              </a:extLst>
            </p:cNvPr>
            <p:cNvGrpSpPr/>
            <p:nvPr/>
          </p:nvGrpSpPr>
          <p:grpSpPr>
            <a:xfrm>
              <a:off x="4746488" y="2937263"/>
              <a:ext cx="1017280" cy="311136"/>
              <a:chOff x="1956143" y="2480063"/>
              <a:chExt cx="1017280" cy="311136"/>
            </a:xfrm>
            <a:grpFill/>
          </p:grpSpPr>
          <p:sp>
            <p:nvSpPr>
              <p:cNvPr id="17695" name="TextBox 17694">
                <a:extLst>
                  <a:ext uri="{FF2B5EF4-FFF2-40B4-BE49-F238E27FC236}">
                    <a16:creationId xmlns:a16="http://schemas.microsoft.com/office/drawing/2014/main" id="{04675559-BE53-99EE-0F4C-6B718872229C}"/>
                  </a:ext>
                </a:extLst>
              </p:cNvPr>
              <p:cNvSpPr txBox="1"/>
              <p:nvPr/>
            </p:nvSpPr>
            <p:spPr>
              <a:xfrm>
                <a:off x="1956143" y="2480063"/>
                <a:ext cx="1017279" cy="12827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900" b="0">
                    <a:solidFill>
                      <a:srgbClr val="4E88E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Clusters, review</a:t>
                </a:r>
              </a:p>
            </p:txBody>
          </p:sp>
          <p:sp>
            <p:nvSpPr>
              <p:cNvPr id="17696" name="TextBox 17695">
                <a:extLst>
                  <a:ext uri="{FF2B5EF4-FFF2-40B4-BE49-F238E27FC236}">
                    <a16:creationId xmlns:a16="http://schemas.microsoft.com/office/drawing/2014/main" id="{59BE7E70-23B5-2219-7ED9-B31D46CBFCCD}"/>
                  </a:ext>
                </a:extLst>
              </p:cNvPr>
              <p:cNvSpPr txBox="1"/>
              <p:nvPr/>
            </p:nvSpPr>
            <p:spPr>
              <a:xfrm>
                <a:off x="1956144" y="2662921"/>
                <a:ext cx="1017279" cy="12827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900" b="0" dirty="0">
                    <a:solidFill>
                      <a:srgbClr val="4E88E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queue, feedback</a:t>
                </a:r>
              </a:p>
            </p:txBody>
          </p:sp>
        </p:grpSp>
        <p:grpSp>
          <p:nvGrpSpPr>
            <p:cNvPr id="17667" name="Group 17666">
              <a:extLst>
                <a:ext uri="{FF2B5EF4-FFF2-40B4-BE49-F238E27FC236}">
                  <a16:creationId xmlns:a16="http://schemas.microsoft.com/office/drawing/2014/main" id="{201C6AF8-CB52-E75F-285C-EA66C95475D0}"/>
                </a:ext>
              </a:extLst>
            </p:cNvPr>
            <p:cNvGrpSpPr/>
            <p:nvPr/>
          </p:nvGrpSpPr>
          <p:grpSpPr>
            <a:xfrm>
              <a:off x="3535250" y="3749697"/>
              <a:ext cx="703133" cy="342076"/>
              <a:chOff x="744905" y="3292497"/>
              <a:chExt cx="703133" cy="342076"/>
            </a:xfrm>
            <a:grpFill/>
          </p:grpSpPr>
          <p:sp>
            <p:nvSpPr>
              <p:cNvPr id="17693" name="TextBox 17692">
                <a:extLst>
                  <a:ext uri="{FF2B5EF4-FFF2-40B4-BE49-F238E27FC236}">
                    <a16:creationId xmlns:a16="http://schemas.microsoft.com/office/drawing/2014/main" id="{481E96D6-F690-69C1-28E7-03340B48006B}"/>
                  </a:ext>
                </a:extLst>
              </p:cNvPr>
              <p:cNvSpPr txBox="1"/>
              <p:nvPr/>
            </p:nvSpPr>
            <p:spPr>
              <a:xfrm>
                <a:off x="692171" y="3292497"/>
                <a:ext cx="808602" cy="1710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1000" b="1">
                    <a:solidFill>
                      <a:srgbClr val="E5575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P1 – Trust</a:t>
                </a:r>
              </a:p>
            </p:txBody>
          </p:sp>
          <p:sp>
            <p:nvSpPr>
              <p:cNvPr id="17694" name="TextBox 17693">
                <a:extLst>
                  <a:ext uri="{FF2B5EF4-FFF2-40B4-BE49-F238E27FC236}">
                    <a16:creationId xmlns:a16="http://schemas.microsoft.com/office/drawing/2014/main" id="{F96A4D08-4D01-5C96-5A78-5F283980FFB9}"/>
                  </a:ext>
                </a:extLst>
              </p:cNvPr>
              <p:cNvSpPr txBox="1"/>
              <p:nvPr/>
            </p:nvSpPr>
            <p:spPr>
              <a:xfrm>
                <a:off x="692171" y="3463535"/>
                <a:ext cx="808602" cy="1710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1000" b="1">
                    <a:solidFill>
                      <a:srgbClr val="E5575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Layer</a:t>
                </a:r>
              </a:p>
            </p:txBody>
          </p:sp>
        </p:grpSp>
        <p:grpSp>
          <p:nvGrpSpPr>
            <p:cNvPr id="17668" name="Group 17667">
              <a:extLst>
                <a:ext uri="{FF2B5EF4-FFF2-40B4-BE49-F238E27FC236}">
                  <a16:creationId xmlns:a16="http://schemas.microsoft.com/office/drawing/2014/main" id="{E60CE8FA-1176-046A-6AF4-A224E364412D}"/>
                </a:ext>
              </a:extLst>
            </p:cNvPr>
            <p:cNvGrpSpPr/>
            <p:nvPr/>
          </p:nvGrpSpPr>
          <p:grpSpPr>
            <a:xfrm>
              <a:off x="4734613" y="3652583"/>
              <a:ext cx="1041030" cy="311013"/>
              <a:chOff x="1944268" y="3195383"/>
              <a:chExt cx="1041030" cy="311013"/>
            </a:xfrm>
            <a:grpFill/>
          </p:grpSpPr>
          <p:sp>
            <p:nvSpPr>
              <p:cNvPr id="17690" name="TextBox 17689">
                <a:extLst>
                  <a:ext uri="{FF2B5EF4-FFF2-40B4-BE49-F238E27FC236}">
                    <a16:creationId xmlns:a16="http://schemas.microsoft.com/office/drawing/2014/main" id="{7EB69C12-6C84-9E49-8424-846042AE739C}"/>
                  </a:ext>
                </a:extLst>
              </p:cNvPr>
              <p:cNvSpPr txBox="1"/>
              <p:nvPr/>
            </p:nvSpPr>
            <p:spPr>
              <a:xfrm>
                <a:off x="1944268" y="3195383"/>
                <a:ext cx="1029155" cy="12827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900" b="0" dirty="0">
                    <a:solidFill>
                      <a:srgbClr val="E5575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Time-series change +</a:t>
                </a:r>
              </a:p>
            </p:txBody>
          </p:sp>
          <p:sp>
            <p:nvSpPr>
              <p:cNvPr id="17691" name="TextBox 17690">
                <a:extLst>
                  <a:ext uri="{FF2B5EF4-FFF2-40B4-BE49-F238E27FC236}">
                    <a16:creationId xmlns:a16="http://schemas.microsoft.com/office/drawing/2014/main" id="{FAA82050-5929-0096-8A40-56EC60CD49CC}"/>
                  </a:ext>
                </a:extLst>
              </p:cNvPr>
              <p:cNvSpPr txBox="1"/>
              <p:nvPr/>
            </p:nvSpPr>
            <p:spPr>
              <a:xfrm>
                <a:off x="1956143" y="3378117"/>
                <a:ext cx="1029155" cy="12827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900" b="0" dirty="0">
                    <a:solidFill>
                      <a:srgbClr val="E5575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false-alarm firewall</a:t>
                </a:r>
              </a:p>
            </p:txBody>
          </p:sp>
        </p:grpSp>
        <p:grpSp>
          <p:nvGrpSpPr>
            <p:cNvPr id="17669" name="Group 17668">
              <a:extLst>
                <a:ext uri="{FF2B5EF4-FFF2-40B4-BE49-F238E27FC236}">
                  <a16:creationId xmlns:a16="http://schemas.microsoft.com/office/drawing/2014/main" id="{648572F6-8A2F-7DD4-494A-1982DE413FB4}"/>
                </a:ext>
              </a:extLst>
            </p:cNvPr>
            <p:cNvGrpSpPr/>
            <p:nvPr/>
          </p:nvGrpSpPr>
          <p:grpSpPr>
            <a:xfrm>
              <a:off x="3458468" y="2980023"/>
              <a:ext cx="856705" cy="342076"/>
              <a:chOff x="668123" y="2522823"/>
              <a:chExt cx="856705" cy="342076"/>
            </a:xfrm>
            <a:grpFill/>
          </p:grpSpPr>
          <p:sp>
            <p:nvSpPr>
              <p:cNvPr id="17688" name="TextBox 17687">
                <a:extLst>
                  <a:ext uri="{FF2B5EF4-FFF2-40B4-BE49-F238E27FC236}">
                    <a16:creationId xmlns:a16="http://schemas.microsoft.com/office/drawing/2014/main" id="{945A4C2B-FCF1-0076-785C-4BA51AECED92}"/>
                  </a:ext>
                </a:extLst>
              </p:cNvPr>
              <p:cNvSpPr txBox="1"/>
              <p:nvPr/>
            </p:nvSpPr>
            <p:spPr>
              <a:xfrm>
                <a:off x="603871" y="2522823"/>
                <a:ext cx="985210" cy="1710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1000" b="1">
                    <a:solidFill>
                      <a:srgbClr val="4E88E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P2 –</a:t>
                </a:r>
              </a:p>
            </p:txBody>
          </p:sp>
          <p:sp>
            <p:nvSpPr>
              <p:cNvPr id="17689" name="TextBox 17688">
                <a:extLst>
                  <a:ext uri="{FF2B5EF4-FFF2-40B4-BE49-F238E27FC236}">
                    <a16:creationId xmlns:a16="http://schemas.microsoft.com/office/drawing/2014/main" id="{99607CD5-6490-2F25-8F83-875D39937A8A}"/>
                  </a:ext>
                </a:extLst>
              </p:cNvPr>
              <p:cNvSpPr txBox="1"/>
              <p:nvPr/>
            </p:nvSpPr>
            <p:spPr>
              <a:xfrm>
                <a:off x="603871" y="2693861"/>
                <a:ext cx="985210" cy="1710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1000" b="1">
                    <a:solidFill>
                      <a:srgbClr val="4E88E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Differentiator</a:t>
                </a:r>
              </a:p>
            </p:txBody>
          </p:sp>
        </p:grpSp>
        <p:grpSp>
          <p:nvGrpSpPr>
            <p:cNvPr id="17670" name="Group 17669">
              <a:extLst>
                <a:ext uri="{FF2B5EF4-FFF2-40B4-BE49-F238E27FC236}">
                  <a16:creationId xmlns:a16="http://schemas.microsoft.com/office/drawing/2014/main" id="{35F88A58-B7A1-F85A-3E0D-7B69C82312FC}"/>
                </a:ext>
              </a:extLst>
            </p:cNvPr>
            <p:cNvGrpSpPr/>
            <p:nvPr/>
          </p:nvGrpSpPr>
          <p:grpSpPr>
            <a:xfrm>
              <a:off x="4784929" y="2066371"/>
              <a:ext cx="955003" cy="491552"/>
              <a:chOff x="1994584" y="1609171"/>
              <a:chExt cx="955003" cy="491552"/>
            </a:xfrm>
            <a:grpFill/>
          </p:grpSpPr>
          <p:sp>
            <p:nvSpPr>
              <p:cNvPr id="17685" name="TextBox 17684">
                <a:extLst>
                  <a:ext uri="{FF2B5EF4-FFF2-40B4-BE49-F238E27FC236}">
                    <a16:creationId xmlns:a16="http://schemas.microsoft.com/office/drawing/2014/main" id="{C871610D-078F-3C6D-3A89-161F6F908DE0}"/>
                  </a:ext>
                </a:extLst>
              </p:cNvPr>
              <p:cNvSpPr txBox="1"/>
              <p:nvPr/>
            </p:nvSpPr>
            <p:spPr>
              <a:xfrm>
                <a:off x="2017026" y="1609171"/>
                <a:ext cx="932561" cy="12827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900" b="0" dirty="0">
                    <a:solidFill>
                      <a:srgbClr val="3CC58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Air-gapped bundle,</a:t>
                </a:r>
              </a:p>
            </p:txBody>
          </p:sp>
          <p:sp>
            <p:nvSpPr>
              <p:cNvPr id="17686" name="TextBox 17685">
                <a:extLst>
                  <a:ext uri="{FF2B5EF4-FFF2-40B4-BE49-F238E27FC236}">
                    <a16:creationId xmlns:a16="http://schemas.microsoft.com/office/drawing/2014/main" id="{0E3E791F-1BD2-BBB0-719B-B24C6477A508}"/>
                  </a:ext>
                </a:extLst>
              </p:cNvPr>
              <p:cNvSpPr txBox="1"/>
              <p:nvPr/>
            </p:nvSpPr>
            <p:spPr>
              <a:xfrm>
                <a:off x="1998506" y="1796392"/>
                <a:ext cx="932561" cy="12827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900" b="0" dirty="0">
                    <a:solidFill>
                      <a:srgbClr val="3CC58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eval report,</a:t>
                </a:r>
              </a:p>
            </p:txBody>
          </p:sp>
          <p:sp>
            <p:nvSpPr>
              <p:cNvPr id="17687" name="TextBox 17686">
                <a:extLst>
                  <a:ext uri="{FF2B5EF4-FFF2-40B4-BE49-F238E27FC236}">
                    <a16:creationId xmlns:a16="http://schemas.microsoft.com/office/drawing/2014/main" id="{B6F2EEB9-B265-1F28-56E7-6B9175C73BD6}"/>
                  </a:ext>
                </a:extLst>
              </p:cNvPr>
              <p:cNvSpPr txBox="1"/>
              <p:nvPr/>
            </p:nvSpPr>
            <p:spPr>
              <a:xfrm>
                <a:off x="1994584" y="1972445"/>
                <a:ext cx="932561" cy="12827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900" b="0" dirty="0">
                    <a:solidFill>
                      <a:srgbClr val="3CC58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scale test</a:t>
                </a:r>
              </a:p>
            </p:txBody>
          </p:sp>
        </p:grpSp>
        <p:sp>
          <p:nvSpPr>
            <p:cNvPr id="17671" name="TextBox 17670">
              <a:extLst>
                <a:ext uri="{FF2B5EF4-FFF2-40B4-BE49-F238E27FC236}">
                  <a16:creationId xmlns:a16="http://schemas.microsoft.com/office/drawing/2014/main" id="{F1D728EA-B026-1F07-9198-F4F6825F7271}"/>
                </a:ext>
              </a:extLst>
            </p:cNvPr>
            <p:cNvSpPr txBox="1"/>
            <p:nvPr/>
          </p:nvSpPr>
          <p:spPr>
            <a:xfrm>
              <a:off x="3336175" y="4604892"/>
              <a:ext cx="1101284" cy="171038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 dirty="0">
                  <a:solidFill>
                    <a:srgbClr val="DE84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P1 - Core Search</a:t>
              </a:r>
            </a:p>
          </p:txBody>
        </p:sp>
        <p:grpSp>
          <p:nvGrpSpPr>
            <p:cNvPr id="17672" name="Group 17671">
              <a:extLst>
                <a:ext uri="{FF2B5EF4-FFF2-40B4-BE49-F238E27FC236}">
                  <a16:creationId xmlns:a16="http://schemas.microsoft.com/office/drawing/2014/main" id="{BAB1008D-6394-954C-94B4-F5991FC90521}"/>
                </a:ext>
              </a:extLst>
            </p:cNvPr>
            <p:cNvGrpSpPr/>
            <p:nvPr/>
          </p:nvGrpSpPr>
          <p:grpSpPr>
            <a:xfrm>
              <a:off x="4752691" y="4434893"/>
              <a:ext cx="1004880" cy="316792"/>
              <a:chOff x="1962346" y="3977693"/>
              <a:chExt cx="1004880" cy="316792"/>
            </a:xfrm>
            <a:grpFill/>
          </p:grpSpPr>
          <p:sp>
            <p:nvSpPr>
              <p:cNvPr id="17683" name="TextBox 17682">
                <a:extLst>
                  <a:ext uri="{FF2B5EF4-FFF2-40B4-BE49-F238E27FC236}">
                    <a16:creationId xmlns:a16="http://schemas.microsoft.com/office/drawing/2014/main" id="{DB619A0F-5867-2ADB-C579-9BF691F0AAE6}"/>
                  </a:ext>
                </a:extLst>
              </p:cNvPr>
              <p:cNvSpPr txBox="1"/>
              <p:nvPr/>
            </p:nvSpPr>
            <p:spPr>
              <a:xfrm>
                <a:off x="1962347" y="3977693"/>
                <a:ext cx="1004879" cy="12827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900" b="0" dirty="0">
                    <a:solidFill>
                      <a:srgbClr val="DE843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Embeddings, index,</a:t>
                </a:r>
              </a:p>
            </p:txBody>
          </p:sp>
          <p:sp>
            <p:nvSpPr>
              <p:cNvPr id="17684" name="TextBox 17683">
                <a:extLst>
                  <a:ext uri="{FF2B5EF4-FFF2-40B4-BE49-F238E27FC236}">
                    <a16:creationId xmlns:a16="http://schemas.microsoft.com/office/drawing/2014/main" id="{4B001B49-BEA6-F3CD-DC98-5C104AFC5214}"/>
                  </a:ext>
                </a:extLst>
              </p:cNvPr>
              <p:cNvSpPr txBox="1"/>
              <p:nvPr/>
            </p:nvSpPr>
            <p:spPr>
              <a:xfrm>
                <a:off x="1962346" y="4166207"/>
                <a:ext cx="1004879" cy="12827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900" b="0" dirty="0">
                    <a:solidFill>
                      <a:srgbClr val="DE843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text &amp; image search</a:t>
                </a:r>
              </a:p>
            </p:txBody>
          </p:sp>
        </p:grpSp>
        <p:grpSp>
          <p:nvGrpSpPr>
            <p:cNvPr id="17673" name="Group 17672">
              <a:extLst>
                <a:ext uri="{FF2B5EF4-FFF2-40B4-BE49-F238E27FC236}">
                  <a16:creationId xmlns:a16="http://schemas.microsoft.com/office/drawing/2014/main" id="{15D53B9E-0197-2FD7-F6CC-986844674A9E}"/>
                </a:ext>
              </a:extLst>
            </p:cNvPr>
            <p:cNvGrpSpPr/>
            <p:nvPr/>
          </p:nvGrpSpPr>
          <p:grpSpPr>
            <a:xfrm>
              <a:off x="3503181" y="2210348"/>
              <a:ext cx="767273" cy="342076"/>
              <a:chOff x="712836" y="1753148"/>
              <a:chExt cx="767273" cy="342076"/>
            </a:xfrm>
            <a:grpFill/>
          </p:grpSpPr>
          <p:sp>
            <p:nvSpPr>
              <p:cNvPr id="17681" name="TextBox 17680">
                <a:extLst>
                  <a:ext uri="{FF2B5EF4-FFF2-40B4-BE49-F238E27FC236}">
                    <a16:creationId xmlns:a16="http://schemas.microsoft.com/office/drawing/2014/main" id="{22B0CC63-8B31-2D1F-AD51-855878566A80}"/>
                  </a:ext>
                </a:extLst>
              </p:cNvPr>
              <p:cNvSpPr txBox="1"/>
              <p:nvPr/>
            </p:nvSpPr>
            <p:spPr>
              <a:xfrm>
                <a:off x="655291" y="1753148"/>
                <a:ext cx="882363" cy="1710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1000" b="1">
                    <a:solidFill>
                      <a:srgbClr val="3CC58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P3 –</a:t>
                </a:r>
              </a:p>
            </p:txBody>
          </p:sp>
          <p:sp>
            <p:nvSpPr>
              <p:cNvPr id="17682" name="TextBox 17681">
                <a:extLst>
                  <a:ext uri="{FF2B5EF4-FFF2-40B4-BE49-F238E27FC236}">
                    <a16:creationId xmlns:a16="http://schemas.microsoft.com/office/drawing/2014/main" id="{F21C7837-7E69-D85D-6E17-5A53E898B929}"/>
                  </a:ext>
                </a:extLst>
              </p:cNvPr>
              <p:cNvSpPr txBox="1"/>
              <p:nvPr/>
            </p:nvSpPr>
            <p:spPr>
              <a:xfrm>
                <a:off x="655291" y="1924186"/>
                <a:ext cx="882363" cy="1710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1000" b="1" dirty="0">
                    <a:solidFill>
                      <a:srgbClr val="3CC58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Deployment</a:t>
                </a:r>
              </a:p>
            </p:txBody>
          </p:sp>
        </p:grpSp>
        <p:sp>
          <p:nvSpPr>
            <p:cNvPr id="17674" name="TextBox 17673">
              <a:extLst>
                <a:ext uri="{FF2B5EF4-FFF2-40B4-BE49-F238E27FC236}">
                  <a16:creationId xmlns:a16="http://schemas.microsoft.com/office/drawing/2014/main" id="{75328C01-1031-C957-3B3D-E70A6F075947}"/>
                </a:ext>
              </a:extLst>
            </p:cNvPr>
            <p:cNvSpPr txBox="1"/>
            <p:nvPr/>
          </p:nvSpPr>
          <p:spPr>
            <a:xfrm>
              <a:off x="5022264" y="1568952"/>
              <a:ext cx="782786" cy="171038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4848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Build Stages</a:t>
              </a:r>
            </a:p>
          </p:txBody>
        </p:sp>
        <p:grpSp>
          <p:nvGrpSpPr>
            <p:cNvPr id="17675" name="Group 17674">
              <a:extLst>
                <a:ext uri="{FF2B5EF4-FFF2-40B4-BE49-F238E27FC236}">
                  <a16:creationId xmlns:a16="http://schemas.microsoft.com/office/drawing/2014/main" id="{66AA3D57-C855-D57E-E326-50C1235996AC}"/>
                </a:ext>
              </a:extLst>
            </p:cNvPr>
            <p:cNvGrpSpPr/>
            <p:nvPr/>
          </p:nvGrpSpPr>
          <p:grpSpPr>
            <a:xfrm>
              <a:off x="3526926" y="5289047"/>
              <a:ext cx="719788" cy="342076"/>
              <a:chOff x="736581" y="4831847"/>
              <a:chExt cx="719788" cy="342076"/>
            </a:xfrm>
            <a:grpFill/>
          </p:grpSpPr>
          <p:sp>
            <p:nvSpPr>
              <p:cNvPr id="17679" name="TextBox 17678">
                <a:extLst>
                  <a:ext uri="{FF2B5EF4-FFF2-40B4-BE49-F238E27FC236}">
                    <a16:creationId xmlns:a16="http://schemas.microsoft.com/office/drawing/2014/main" id="{1CD0ACA2-F0DF-8105-7370-065BE3CC6693}"/>
                  </a:ext>
                </a:extLst>
              </p:cNvPr>
              <p:cNvSpPr txBox="1"/>
              <p:nvPr/>
            </p:nvSpPr>
            <p:spPr>
              <a:xfrm>
                <a:off x="682597" y="4831847"/>
                <a:ext cx="827756" cy="1710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1000" b="1">
                    <a:solidFill>
                      <a:srgbClr val="E0CB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P0 –</a:t>
                </a:r>
              </a:p>
            </p:txBody>
          </p:sp>
          <p:sp>
            <p:nvSpPr>
              <p:cNvPr id="17680" name="TextBox 17679">
                <a:extLst>
                  <a:ext uri="{FF2B5EF4-FFF2-40B4-BE49-F238E27FC236}">
                    <a16:creationId xmlns:a16="http://schemas.microsoft.com/office/drawing/2014/main" id="{80F7CF48-C3C6-E962-5799-ECF6184359F0}"/>
                  </a:ext>
                </a:extLst>
              </p:cNvPr>
              <p:cNvSpPr txBox="1"/>
              <p:nvPr/>
            </p:nvSpPr>
            <p:spPr>
              <a:xfrm>
                <a:off x="682597" y="5002885"/>
                <a:ext cx="827756" cy="1710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1000" b="1" dirty="0">
                    <a:solidFill>
                      <a:srgbClr val="E0CB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Foundation</a:t>
                </a:r>
              </a:p>
            </p:txBody>
          </p:sp>
        </p:grpSp>
        <p:grpSp>
          <p:nvGrpSpPr>
            <p:cNvPr id="17676" name="Group 17675">
              <a:extLst>
                <a:ext uri="{FF2B5EF4-FFF2-40B4-BE49-F238E27FC236}">
                  <a16:creationId xmlns:a16="http://schemas.microsoft.com/office/drawing/2014/main" id="{F8013D15-F81D-1561-16A5-7667A2EB7014}"/>
                </a:ext>
              </a:extLst>
            </p:cNvPr>
            <p:cNvGrpSpPr/>
            <p:nvPr/>
          </p:nvGrpSpPr>
          <p:grpSpPr>
            <a:xfrm>
              <a:off x="4878339" y="5246287"/>
              <a:ext cx="753585" cy="293490"/>
              <a:chOff x="2087994" y="4789087"/>
              <a:chExt cx="753585" cy="293490"/>
            </a:xfrm>
            <a:grpFill/>
          </p:grpSpPr>
          <p:sp>
            <p:nvSpPr>
              <p:cNvPr id="17677" name="TextBox 17676">
                <a:extLst>
                  <a:ext uri="{FF2B5EF4-FFF2-40B4-BE49-F238E27FC236}">
                    <a16:creationId xmlns:a16="http://schemas.microsoft.com/office/drawing/2014/main" id="{F3047CF0-9043-77B5-FFA4-DB99356BBCB7}"/>
                  </a:ext>
                </a:extLst>
              </p:cNvPr>
              <p:cNvSpPr txBox="1"/>
              <p:nvPr/>
            </p:nvSpPr>
            <p:spPr>
              <a:xfrm>
                <a:off x="2087994" y="4789087"/>
                <a:ext cx="753585" cy="12827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900" b="0" dirty="0">
                    <a:solidFill>
                      <a:srgbClr val="E0CB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COG ingest,</a:t>
                </a:r>
              </a:p>
            </p:txBody>
          </p:sp>
          <p:sp>
            <p:nvSpPr>
              <p:cNvPr id="17678" name="TextBox 17677">
                <a:extLst>
                  <a:ext uri="{FF2B5EF4-FFF2-40B4-BE49-F238E27FC236}">
                    <a16:creationId xmlns:a16="http://schemas.microsoft.com/office/drawing/2014/main" id="{0D16ABDA-3CD1-CCE2-14F9-BBE67F41329F}"/>
                  </a:ext>
                </a:extLst>
              </p:cNvPr>
              <p:cNvSpPr txBox="1"/>
              <p:nvPr/>
            </p:nvSpPr>
            <p:spPr>
              <a:xfrm>
                <a:off x="2087994" y="4954299"/>
                <a:ext cx="753585" cy="12827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900" b="0" dirty="0">
                    <a:solidFill>
                      <a:srgbClr val="E0CB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quality masks</a:t>
                </a:r>
              </a:p>
            </p:txBody>
          </p:sp>
        </p:grpSp>
      </p:grpSp>
      <p:sp>
        <p:nvSpPr>
          <p:cNvPr id="17705" name="TextBox 17704">
            <a:extLst>
              <a:ext uri="{FF2B5EF4-FFF2-40B4-BE49-F238E27FC236}">
                <a16:creationId xmlns:a16="http://schemas.microsoft.com/office/drawing/2014/main" id="{3FA69682-AFF2-3E58-DCF8-67FC2C2C0A91}"/>
              </a:ext>
            </a:extLst>
          </p:cNvPr>
          <p:cNvSpPr txBox="1"/>
          <p:nvPr/>
        </p:nvSpPr>
        <p:spPr>
          <a:xfrm>
            <a:off x="9127233" y="1353039"/>
            <a:ext cx="3005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Implementation Roadmap</a:t>
            </a:r>
            <a:endParaRPr lang="en-IN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06" name="Rectangle 17705">
            <a:extLst>
              <a:ext uri="{FF2B5EF4-FFF2-40B4-BE49-F238E27FC236}">
                <a16:creationId xmlns:a16="http://schemas.microsoft.com/office/drawing/2014/main" id="{FB25707D-7E65-C3A1-9ABF-85B08AD8A2AB}"/>
              </a:ext>
            </a:extLst>
          </p:cNvPr>
          <p:cNvSpPr/>
          <p:nvPr/>
        </p:nvSpPr>
        <p:spPr>
          <a:xfrm>
            <a:off x="0" y="6194323"/>
            <a:ext cx="12192000" cy="662177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707" name="Rectangle: Rounded Corners 17706">
            <a:extLst>
              <a:ext uri="{FF2B5EF4-FFF2-40B4-BE49-F238E27FC236}">
                <a16:creationId xmlns:a16="http://schemas.microsoft.com/office/drawing/2014/main" id="{826DC437-E422-7E79-4CB6-ABE7007FC95B}"/>
              </a:ext>
            </a:extLst>
          </p:cNvPr>
          <p:cNvSpPr/>
          <p:nvPr/>
        </p:nvSpPr>
        <p:spPr>
          <a:xfrm>
            <a:off x="162064" y="6255411"/>
            <a:ext cx="2126475" cy="540000"/>
          </a:xfrm>
          <a:prstGeom prst="roundRect">
            <a:avLst>
              <a:gd name="adj" fmla="val 50000"/>
            </a:avLst>
          </a:prstGeom>
          <a:solidFill>
            <a:srgbClr val="FDFBF7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708" name="Rectangle: Rounded Corners 17707">
            <a:extLst>
              <a:ext uri="{FF2B5EF4-FFF2-40B4-BE49-F238E27FC236}">
                <a16:creationId xmlns:a16="http://schemas.microsoft.com/office/drawing/2014/main" id="{66C7A2E9-384A-B664-953F-9CCC42E48104}"/>
              </a:ext>
            </a:extLst>
          </p:cNvPr>
          <p:cNvSpPr/>
          <p:nvPr/>
        </p:nvSpPr>
        <p:spPr>
          <a:xfrm>
            <a:off x="2450603" y="6255411"/>
            <a:ext cx="2126475" cy="540000"/>
          </a:xfrm>
          <a:prstGeom prst="roundRect">
            <a:avLst>
              <a:gd name="adj" fmla="val 50000"/>
            </a:avLst>
          </a:prstGeom>
          <a:solidFill>
            <a:srgbClr val="FDFBF7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709" name="Rectangle: Rounded Corners 17708">
            <a:extLst>
              <a:ext uri="{FF2B5EF4-FFF2-40B4-BE49-F238E27FC236}">
                <a16:creationId xmlns:a16="http://schemas.microsoft.com/office/drawing/2014/main" id="{43961CC7-1FC9-EDAB-FC8A-7407B7B12D6B}"/>
              </a:ext>
            </a:extLst>
          </p:cNvPr>
          <p:cNvSpPr/>
          <p:nvPr/>
        </p:nvSpPr>
        <p:spPr>
          <a:xfrm>
            <a:off x="4739142" y="6259469"/>
            <a:ext cx="2126475" cy="540000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Feasibility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10" name="Rectangle: Rounded Corners 17709">
            <a:extLst>
              <a:ext uri="{FF2B5EF4-FFF2-40B4-BE49-F238E27FC236}">
                <a16:creationId xmlns:a16="http://schemas.microsoft.com/office/drawing/2014/main" id="{868DEC34-5BE0-7ED0-D6C6-BE514DB54E6D}"/>
              </a:ext>
            </a:extLst>
          </p:cNvPr>
          <p:cNvSpPr/>
          <p:nvPr/>
        </p:nvSpPr>
        <p:spPr>
          <a:xfrm>
            <a:off x="7027681" y="6262280"/>
            <a:ext cx="2126475" cy="540000"/>
          </a:xfrm>
          <a:prstGeom prst="roundRect">
            <a:avLst>
              <a:gd name="adj" fmla="val 50000"/>
            </a:avLst>
          </a:prstGeom>
          <a:solidFill>
            <a:srgbClr val="FDFBF7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711" name="Rectangle: Rounded Corners 17710">
            <a:extLst>
              <a:ext uri="{FF2B5EF4-FFF2-40B4-BE49-F238E27FC236}">
                <a16:creationId xmlns:a16="http://schemas.microsoft.com/office/drawing/2014/main" id="{244CDB6A-55E6-1CE5-8FDA-2A21874F907A}"/>
              </a:ext>
            </a:extLst>
          </p:cNvPr>
          <p:cNvSpPr/>
          <p:nvPr/>
        </p:nvSpPr>
        <p:spPr>
          <a:xfrm>
            <a:off x="9316220" y="6262280"/>
            <a:ext cx="2126475" cy="540000"/>
          </a:xfrm>
          <a:prstGeom prst="roundRect">
            <a:avLst>
              <a:gd name="adj" fmla="val 50000"/>
            </a:avLst>
          </a:prstGeom>
          <a:solidFill>
            <a:srgbClr val="FDFBF7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712" name="Oval 17711">
            <a:extLst>
              <a:ext uri="{FF2B5EF4-FFF2-40B4-BE49-F238E27FC236}">
                <a16:creationId xmlns:a16="http://schemas.microsoft.com/office/drawing/2014/main" id="{D6AFA0A5-F17E-D03D-4ED4-265F1A3984D2}"/>
              </a:ext>
            </a:extLst>
          </p:cNvPr>
          <p:cNvSpPr/>
          <p:nvPr/>
        </p:nvSpPr>
        <p:spPr>
          <a:xfrm>
            <a:off x="11628377" y="6281879"/>
            <a:ext cx="504000" cy="504000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713" name="Slide Number Placeholder 5">
            <a:extLst>
              <a:ext uri="{FF2B5EF4-FFF2-40B4-BE49-F238E27FC236}">
                <a16:creationId xmlns:a16="http://schemas.microsoft.com/office/drawing/2014/main" id="{E1B7D799-A432-407B-6CE3-06E55B4DD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486" y="6352756"/>
            <a:ext cx="285135" cy="365125"/>
          </a:xfrm>
        </p:spPr>
        <p:txBody>
          <a:bodyPr/>
          <a:lstStyle/>
          <a:p>
            <a:fld id="{677C3CE7-23F7-4828-823C-E0205DF2CF97}" type="slidenum">
              <a:rPr lang="en-US" sz="1800" b="1" smtClean="0">
                <a:solidFill>
                  <a:schemeClr val="tx1"/>
                </a:solidFill>
              </a:rPr>
              <a:pPr/>
              <a:t>4</a:t>
            </a:fld>
            <a:endParaRPr lang="en-US" sz="1600" b="1" dirty="0">
              <a:solidFill>
                <a:schemeClr val="tx1"/>
              </a:solidFill>
            </a:endParaRPr>
          </a:p>
        </p:txBody>
      </p:sp>
      <p:cxnSp>
        <p:nvCxnSpPr>
          <p:cNvPr id="17715" name="Straight Arrow Connector 17714">
            <a:extLst>
              <a:ext uri="{FF2B5EF4-FFF2-40B4-BE49-F238E27FC236}">
                <a16:creationId xmlns:a16="http://schemas.microsoft.com/office/drawing/2014/main" id="{67282B58-6F64-0898-F0EA-9DD23BBEC1DE}"/>
              </a:ext>
            </a:extLst>
          </p:cNvPr>
          <p:cNvCxnSpPr/>
          <p:nvPr/>
        </p:nvCxnSpPr>
        <p:spPr>
          <a:xfrm>
            <a:off x="8742797" y="3427332"/>
            <a:ext cx="68022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17" name="TextBox 17716">
            <a:extLst>
              <a:ext uri="{FF2B5EF4-FFF2-40B4-BE49-F238E27FC236}">
                <a16:creationId xmlns:a16="http://schemas.microsoft.com/office/drawing/2014/main" id="{8ADD407C-E3F6-EB7F-D750-2C9384409939}"/>
              </a:ext>
            </a:extLst>
          </p:cNvPr>
          <p:cNvSpPr txBox="1"/>
          <p:nvPr/>
        </p:nvSpPr>
        <p:spPr>
          <a:xfrm>
            <a:off x="6230718" y="1395050"/>
            <a:ext cx="2462894" cy="2946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b="1" dirty="0">
                <a:solidFill>
                  <a:srgbClr val="384F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Solutions</a:t>
            </a:r>
            <a:endParaRPr b="1" dirty="0">
              <a:solidFill>
                <a:srgbClr val="384F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844767-C24F-6565-75EA-5EBBF81E7D18}"/>
              </a:ext>
            </a:extLst>
          </p:cNvPr>
          <p:cNvCxnSpPr>
            <a:cxnSpLocks/>
          </p:cNvCxnSpPr>
          <p:nvPr/>
        </p:nvCxnSpPr>
        <p:spPr>
          <a:xfrm>
            <a:off x="1694240" y="2556494"/>
            <a:ext cx="0" cy="24680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ounded Rectangle 17">
            <a:extLst>
              <a:ext uri="{FF2B5EF4-FFF2-40B4-BE49-F238E27FC236}">
                <a16:creationId xmlns:a16="http://schemas.microsoft.com/office/drawing/2014/main" id="{35DE3301-C31C-0543-A819-D868732A3509}"/>
              </a:ext>
            </a:extLst>
          </p:cNvPr>
          <p:cNvSpPr/>
          <p:nvPr/>
        </p:nvSpPr>
        <p:spPr>
          <a:xfrm rot="5400000">
            <a:off x="1652221" y="2698584"/>
            <a:ext cx="84036" cy="82359"/>
          </a:xfrm>
          <a:custGeom>
            <a:avLst/>
            <a:gdLst/>
            <a:ahLst/>
            <a:cxnLst/>
            <a:rect l="0" t="0" r="0" b="0"/>
            <a:pathLst>
              <a:path w="66675" h="76200">
                <a:moveTo>
                  <a:pt x="66675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ounded Rectangle 10">
            <a:extLst>
              <a:ext uri="{FF2B5EF4-FFF2-40B4-BE49-F238E27FC236}">
                <a16:creationId xmlns:a16="http://schemas.microsoft.com/office/drawing/2014/main" id="{63F82F8F-A0BC-2C57-12BC-9422E0809C60}"/>
              </a:ext>
            </a:extLst>
          </p:cNvPr>
          <p:cNvSpPr/>
          <p:nvPr/>
        </p:nvSpPr>
        <p:spPr>
          <a:xfrm>
            <a:off x="1786680" y="5376946"/>
            <a:ext cx="1645805" cy="573381"/>
          </a:xfrm>
          <a:custGeom>
            <a:avLst/>
            <a:gdLst/>
            <a:ahLst/>
            <a:cxnLst/>
            <a:rect l="0" t="0" r="0" b="0"/>
            <a:pathLst>
              <a:path w="1667703" h="605790">
                <a:moveTo>
                  <a:pt x="1610553" y="605790"/>
                </a:moveTo>
                <a:lnTo>
                  <a:pt x="1629603" y="605790"/>
                </a:lnTo>
                <a:cubicBezTo>
                  <a:pt x="1650644" y="605790"/>
                  <a:pt x="1667703" y="588730"/>
                  <a:pt x="1667703" y="567690"/>
                </a:cubicBezTo>
                <a:lnTo>
                  <a:pt x="1667703" y="38100"/>
                </a:lnTo>
                <a:cubicBezTo>
                  <a:pt x="1667703" y="17059"/>
                  <a:pt x="1650644" y="0"/>
                  <a:pt x="1629603" y="0"/>
                </a:cubicBezTo>
                <a:lnTo>
                  <a:pt x="38100" y="0"/>
                </a:lnTo>
                <a:cubicBezTo>
                  <a:pt x="17059" y="0"/>
                  <a:pt x="0" y="17059"/>
                  <a:pt x="0" y="38100"/>
                </a:cubicBezTo>
                <a:lnTo>
                  <a:pt x="0" y="567690"/>
                </a:lnTo>
                <a:cubicBezTo>
                  <a:pt x="0" y="588730"/>
                  <a:pt x="17059" y="605790"/>
                  <a:pt x="38100" y="605790"/>
                </a:cubicBezTo>
                <a:lnTo>
                  <a:pt x="1610553" y="605790"/>
                </a:lnTo>
              </a:path>
            </a:pathLst>
          </a:custGeom>
          <a:noFill/>
          <a:ln>
            <a:solidFill>
              <a:srgbClr val="00B0F0"/>
            </a:solidFill>
          </a:ln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FA5603-5131-291E-77B2-057450A42B73}"/>
              </a:ext>
            </a:extLst>
          </p:cNvPr>
          <p:cNvSpPr txBox="1"/>
          <p:nvPr/>
        </p:nvSpPr>
        <p:spPr>
          <a:xfrm>
            <a:off x="2218460" y="5441771"/>
            <a:ext cx="724897" cy="1297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IN" sz="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Analyst validation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20D6D5-A19E-F184-B15E-DA89B51A3A16}"/>
              </a:ext>
            </a:extLst>
          </p:cNvPr>
          <p:cNvSpPr txBox="1"/>
          <p:nvPr/>
        </p:nvSpPr>
        <p:spPr>
          <a:xfrm>
            <a:off x="2236512" y="5648618"/>
            <a:ext cx="1660662" cy="1297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IN" sz="800" dirty="0">
                <a:solidFill>
                  <a:srgbClr val="484848"/>
                </a:solidFill>
                <a:latin typeface="Roboto"/>
              </a:rPr>
              <a:t>Confirm/reject decisions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7CB86C-8CDC-7951-6AD5-91A47F878A9C}"/>
              </a:ext>
            </a:extLst>
          </p:cNvPr>
          <p:cNvSpPr txBox="1"/>
          <p:nvPr/>
        </p:nvSpPr>
        <p:spPr>
          <a:xfrm>
            <a:off x="2238429" y="5775003"/>
            <a:ext cx="1660662" cy="1297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IN" sz="800" dirty="0">
                <a:solidFill>
                  <a:srgbClr val="484848"/>
                </a:solidFill>
                <a:latin typeface="Roboto"/>
              </a:rPr>
              <a:t>Re-ranking &amp; re-calibration</a:t>
            </a:r>
          </a:p>
          <a:p>
            <a:pPr algn="l"/>
            <a:endParaRPr sz="800" b="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ounded Rectangle 32">
            <a:extLst>
              <a:ext uri="{FF2B5EF4-FFF2-40B4-BE49-F238E27FC236}">
                <a16:creationId xmlns:a16="http://schemas.microsoft.com/office/drawing/2014/main" id="{3A2D2DA2-299F-0FC2-06B4-B6569736257C}"/>
              </a:ext>
            </a:extLst>
          </p:cNvPr>
          <p:cNvSpPr/>
          <p:nvPr/>
        </p:nvSpPr>
        <p:spPr>
          <a:xfrm>
            <a:off x="1864520" y="5540484"/>
            <a:ext cx="225420" cy="237850"/>
          </a:xfrm>
          <a:custGeom>
            <a:avLst/>
            <a:gdLst/>
            <a:ahLst/>
            <a:cxnLst/>
            <a:rect l="0" t="0" r="0" b="0"/>
            <a:pathLst>
              <a:path w="428625" h="442912">
                <a:moveTo>
                  <a:pt x="0" y="0"/>
                </a:moveTo>
                <a:moveTo>
                  <a:pt x="333375" y="254317"/>
                </a:moveTo>
                <a:lnTo>
                  <a:pt x="428625" y="290512"/>
                </a:lnTo>
                <a:lnTo>
                  <a:pt x="226694" y="366712"/>
                </a:lnTo>
                <a:lnTo>
                  <a:pt x="28575" y="290512"/>
                </a:lnTo>
                <a:lnTo>
                  <a:pt x="127634" y="252412"/>
                </a:lnTo>
                <a:moveTo>
                  <a:pt x="0" y="0"/>
                </a:moveTo>
                <a:moveTo>
                  <a:pt x="390525" y="353377"/>
                </a:moveTo>
                <a:lnTo>
                  <a:pt x="428625" y="366712"/>
                </a:lnTo>
                <a:lnTo>
                  <a:pt x="226694" y="442912"/>
                </a:lnTo>
                <a:lnTo>
                  <a:pt x="28575" y="366712"/>
                </a:lnTo>
                <a:lnTo>
                  <a:pt x="66675" y="351472"/>
                </a:lnTo>
                <a:moveTo>
                  <a:pt x="226693" y="14287"/>
                </a:moveTo>
                <a:cubicBezTo>
                  <a:pt x="274318" y="14287"/>
                  <a:pt x="312418" y="52387"/>
                  <a:pt x="312418" y="100012"/>
                </a:cubicBezTo>
                <a:cubicBezTo>
                  <a:pt x="312418" y="136207"/>
                  <a:pt x="260983" y="206692"/>
                  <a:pt x="238123" y="235267"/>
                </a:cubicBezTo>
                <a:cubicBezTo>
                  <a:pt x="236218" y="239077"/>
                  <a:pt x="230503" y="240982"/>
                  <a:pt x="226693" y="240982"/>
                </a:cubicBezTo>
                <a:cubicBezTo>
                  <a:pt x="222883" y="240982"/>
                  <a:pt x="219073" y="239077"/>
                  <a:pt x="215263" y="235267"/>
                </a:cubicBezTo>
                <a:cubicBezTo>
                  <a:pt x="192403" y="204787"/>
                  <a:pt x="140968" y="136207"/>
                  <a:pt x="140968" y="100012"/>
                </a:cubicBezTo>
                <a:cubicBezTo>
                  <a:pt x="142873" y="52387"/>
                  <a:pt x="180973" y="14287"/>
                  <a:pt x="226693" y="14287"/>
                </a:cubicBezTo>
                <a:close/>
                <a:moveTo>
                  <a:pt x="228600" y="118996"/>
                </a:moveTo>
                <a:cubicBezTo>
                  <a:pt x="241670" y="118996"/>
                  <a:pt x="252267" y="108400"/>
                  <a:pt x="252267" y="95328"/>
                </a:cubicBezTo>
                <a:cubicBezTo>
                  <a:pt x="252267" y="82257"/>
                  <a:pt x="241670" y="71660"/>
                  <a:pt x="228600" y="71660"/>
                </a:cubicBezTo>
                <a:cubicBezTo>
                  <a:pt x="215527" y="71660"/>
                  <a:pt x="204932" y="82257"/>
                  <a:pt x="204932" y="95328"/>
                </a:cubicBezTo>
                <a:cubicBezTo>
                  <a:pt x="204932" y="108400"/>
                  <a:pt x="215527" y="118996"/>
                  <a:pt x="228600" y="118996"/>
                </a:cubicBezTo>
                <a:close/>
              </a:path>
            </a:pathLst>
          </a:custGeom>
          <a:noFill/>
          <a:ln w="14287">
            <a:solidFill>
              <a:srgbClr val="0070C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610" name="Rounded Rectangle 22">
            <a:extLst>
              <a:ext uri="{FF2B5EF4-FFF2-40B4-BE49-F238E27FC236}">
                <a16:creationId xmlns:a16="http://schemas.microsoft.com/office/drawing/2014/main" id="{20AE15DD-D90F-0BA1-1CDA-C16F5CB9C705}"/>
              </a:ext>
            </a:extLst>
          </p:cNvPr>
          <p:cNvSpPr/>
          <p:nvPr/>
        </p:nvSpPr>
        <p:spPr>
          <a:xfrm rot="16200000" flipV="1">
            <a:off x="1776655" y="3472297"/>
            <a:ext cx="740978" cy="905841"/>
          </a:xfrm>
          <a:custGeom>
            <a:avLst/>
            <a:gdLst/>
            <a:ahLst/>
            <a:cxnLst/>
            <a:rect l="0" t="0" r="0" b="0"/>
            <a:pathLst>
              <a:path w="647700" h="398145">
                <a:moveTo>
                  <a:pt x="0" y="0"/>
                </a:moveTo>
                <a:lnTo>
                  <a:pt x="228600" y="0"/>
                </a:lnTo>
                <a:cubicBezTo>
                  <a:pt x="291750" y="0"/>
                  <a:pt x="342900" y="51149"/>
                  <a:pt x="342900" y="114300"/>
                </a:cubicBezTo>
                <a:lnTo>
                  <a:pt x="342900" y="283845"/>
                </a:lnTo>
                <a:cubicBezTo>
                  <a:pt x="342900" y="346995"/>
                  <a:pt x="394049" y="398145"/>
                  <a:pt x="457200" y="398145"/>
                </a:cubicBezTo>
                <a:lnTo>
                  <a:pt x="647700" y="398145"/>
                </a:lnTo>
              </a:path>
            </a:pathLst>
          </a:cu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611" name="Straight Connector 17610">
            <a:extLst>
              <a:ext uri="{FF2B5EF4-FFF2-40B4-BE49-F238E27FC236}">
                <a16:creationId xmlns:a16="http://schemas.microsoft.com/office/drawing/2014/main" id="{42AEC443-AF3D-09CF-C0D2-425A0DFB4E4E}"/>
              </a:ext>
            </a:extLst>
          </p:cNvPr>
          <p:cNvCxnSpPr>
            <a:cxnSpLocks/>
          </p:cNvCxnSpPr>
          <p:nvPr/>
        </p:nvCxnSpPr>
        <p:spPr>
          <a:xfrm>
            <a:off x="749864" y="4839364"/>
            <a:ext cx="0" cy="52826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13" name="Straight Connector 17612">
            <a:extLst>
              <a:ext uri="{FF2B5EF4-FFF2-40B4-BE49-F238E27FC236}">
                <a16:creationId xmlns:a16="http://schemas.microsoft.com/office/drawing/2014/main" id="{822BAE5F-6467-BE4E-24D0-8E4C44FE0264}"/>
              </a:ext>
            </a:extLst>
          </p:cNvPr>
          <p:cNvCxnSpPr>
            <a:cxnSpLocks/>
          </p:cNvCxnSpPr>
          <p:nvPr/>
        </p:nvCxnSpPr>
        <p:spPr>
          <a:xfrm>
            <a:off x="2600065" y="4839364"/>
            <a:ext cx="0" cy="52826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615" name="Rounded Rectangle 23">
            <a:extLst>
              <a:ext uri="{FF2B5EF4-FFF2-40B4-BE49-F238E27FC236}">
                <a16:creationId xmlns:a16="http://schemas.microsoft.com/office/drawing/2014/main" id="{1BF09A1A-676F-0D95-F928-F94B0DD3A867}"/>
              </a:ext>
            </a:extLst>
          </p:cNvPr>
          <p:cNvSpPr/>
          <p:nvPr/>
        </p:nvSpPr>
        <p:spPr>
          <a:xfrm rot="5400000">
            <a:off x="707850" y="5272960"/>
            <a:ext cx="84036" cy="82359"/>
          </a:xfrm>
          <a:custGeom>
            <a:avLst/>
            <a:gdLst/>
            <a:ahLst/>
            <a:cxnLst/>
            <a:rect l="0" t="0" r="0" b="0"/>
            <a:pathLst>
              <a:path w="66675" h="76200">
                <a:moveTo>
                  <a:pt x="66675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14287"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17" name="Rounded Rectangle 23">
            <a:extLst>
              <a:ext uri="{FF2B5EF4-FFF2-40B4-BE49-F238E27FC236}">
                <a16:creationId xmlns:a16="http://schemas.microsoft.com/office/drawing/2014/main" id="{D9DD6C5E-C76A-71F6-6408-AEE72BA58D72}"/>
              </a:ext>
            </a:extLst>
          </p:cNvPr>
          <p:cNvSpPr/>
          <p:nvPr/>
        </p:nvSpPr>
        <p:spPr>
          <a:xfrm rot="5400000">
            <a:off x="2558046" y="5272960"/>
            <a:ext cx="84036" cy="82359"/>
          </a:xfrm>
          <a:custGeom>
            <a:avLst/>
            <a:gdLst/>
            <a:ahLst/>
            <a:cxnLst/>
            <a:rect l="0" t="0" r="0" b="0"/>
            <a:pathLst>
              <a:path w="66675" h="76200">
                <a:moveTo>
                  <a:pt x="66675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14287"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3" name="Rectangle 17532">
            <a:extLst>
              <a:ext uri="{FF2B5EF4-FFF2-40B4-BE49-F238E27FC236}">
                <a16:creationId xmlns:a16="http://schemas.microsoft.com/office/drawing/2014/main" id="{46917F5A-09AF-F334-A507-B1D8B80D03B3}"/>
              </a:ext>
            </a:extLst>
          </p:cNvPr>
          <p:cNvSpPr/>
          <p:nvPr/>
        </p:nvSpPr>
        <p:spPr>
          <a:xfrm>
            <a:off x="0" y="-36060"/>
            <a:ext cx="12192000" cy="62344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DDCB8B-7184-E6A5-F72B-DB894BDF45C4}"/>
              </a:ext>
            </a:extLst>
          </p:cNvPr>
          <p:cNvSpPr/>
          <p:nvPr/>
        </p:nvSpPr>
        <p:spPr>
          <a:xfrm>
            <a:off x="34" y="-47625"/>
            <a:ext cx="12192000" cy="113040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CDD892-ED09-E81C-3BC4-5188B992FEB9}"/>
              </a:ext>
            </a:extLst>
          </p:cNvPr>
          <p:cNvSpPr/>
          <p:nvPr/>
        </p:nvSpPr>
        <p:spPr>
          <a:xfrm>
            <a:off x="0" y="6220132"/>
            <a:ext cx="12192000" cy="662177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DB39963E-D2B2-B354-CD31-571C0321B2B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236004"/>
            <a:ext cx="1931646" cy="593328"/>
          </a:xfrm>
          <a:prstGeom prst="ellips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Byte Bandits</a:t>
            </a:r>
            <a:endParaRPr lang="en-IN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3606DF3-1E83-8A9B-6BFB-BB357B7011B3}"/>
              </a:ext>
            </a:extLst>
          </p:cNvPr>
          <p:cNvSpPr/>
          <p:nvPr/>
        </p:nvSpPr>
        <p:spPr>
          <a:xfrm>
            <a:off x="162064" y="6255411"/>
            <a:ext cx="2126475" cy="540000"/>
          </a:xfrm>
          <a:prstGeom prst="roundRect">
            <a:avLst>
              <a:gd name="adj" fmla="val 50000"/>
            </a:avLst>
          </a:prstGeom>
          <a:solidFill>
            <a:srgbClr val="FDFBF7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98D318D-FE2F-98C2-8946-B917FE14292B}"/>
              </a:ext>
            </a:extLst>
          </p:cNvPr>
          <p:cNvSpPr/>
          <p:nvPr/>
        </p:nvSpPr>
        <p:spPr>
          <a:xfrm>
            <a:off x="2450603" y="6255411"/>
            <a:ext cx="2126475" cy="540000"/>
          </a:xfrm>
          <a:prstGeom prst="roundRect">
            <a:avLst>
              <a:gd name="adj" fmla="val 50000"/>
            </a:avLst>
          </a:prstGeom>
          <a:solidFill>
            <a:srgbClr val="FDFBF7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E22124C-5B16-8376-3FEC-219D93F360B3}"/>
              </a:ext>
            </a:extLst>
          </p:cNvPr>
          <p:cNvSpPr/>
          <p:nvPr/>
        </p:nvSpPr>
        <p:spPr>
          <a:xfrm>
            <a:off x="4739142" y="6259469"/>
            <a:ext cx="2126475" cy="540000"/>
          </a:xfrm>
          <a:prstGeom prst="roundRect">
            <a:avLst>
              <a:gd name="adj" fmla="val 50000"/>
            </a:avLst>
          </a:prstGeom>
          <a:solidFill>
            <a:srgbClr val="FDFBF7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2D0A083-E03D-1078-3236-E4E6E3D6E543}"/>
              </a:ext>
            </a:extLst>
          </p:cNvPr>
          <p:cNvSpPr/>
          <p:nvPr/>
        </p:nvSpPr>
        <p:spPr>
          <a:xfrm>
            <a:off x="7027681" y="6262280"/>
            <a:ext cx="2126475" cy="540000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E4B41D3-FC47-8A4F-6266-1009F07CED63}"/>
              </a:ext>
            </a:extLst>
          </p:cNvPr>
          <p:cNvSpPr/>
          <p:nvPr/>
        </p:nvSpPr>
        <p:spPr>
          <a:xfrm>
            <a:off x="9316220" y="6262280"/>
            <a:ext cx="2126475" cy="540000"/>
          </a:xfrm>
          <a:prstGeom prst="roundRect">
            <a:avLst>
              <a:gd name="adj" fmla="val 50000"/>
            </a:avLst>
          </a:prstGeom>
          <a:solidFill>
            <a:srgbClr val="FDFBF7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8449CDA-6E1D-145F-880B-0C097358274D}"/>
              </a:ext>
            </a:extLst>
          </p:cNvPr>
          <p:cNvSpPr/>
          <p:nvPr/>
        </p:nvSpPr>
        <p:spPr>
          <a:xfrm>
            <a:off x="11628377" y="6281879"/>
            <a:ext cx="504000" cy="504000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E1DB9ED8-ECCE-DD55-B795-28D6DF365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486" y="6352756"/>
            <a:ext cx="285135" cy="365125"/>
          </a:xfrm>
        </p:spPr>
        <p:txBody>
          <a:bodyPr/>
          <a:lstStyle/>
          <a:p>
            <a:fld id="{677C3CE7-23F7-4828-823C-E0205DF2CF97}" type="slidenum">
              <a:rPr lang="en-US" sz="1800" b="1" smtClean="0">
                <a:solidFill>
                  <a:schemeClr val="tx1"/>
                </a:solidFill>
              </a:rPr>
              <a:pPr/>
              <a:t>5</a:t>
            </a:fld>
            <a:endParaRPr lang="en-US" sz="1600" b="1" dirty="0">
              <a:solidFill>
                <a:schemeClr val="tx1"/>
              </a:solidFill>
            </a:endParaRPr>
          </a:p>
        </p:txBody>
      </p:sp>
      <p:grpSp>
        <p:nvGrpSpPr>
          <p:cNvPr id="17534" name="Group 17533">
            <a:extLst>
              <a:ext uri="{FF2B5EF4-FFF2-40B4-BE49-F238E27FC236}">
                <a16:creationId xmlns:a16="http://schemas.microsoft.com/office/drawing/2014/main" id="{1AB19671-146C-A173-7117-25FC53CC9FA7}"/>
              </a:ext>
            </a:extLst>
          </p:cNvPr>
          <p:cNvGrpSpPr/>
          <p:nvPr/>
        </p:nvGrpSpPr>
        <p:grpSpPr>
          <a:xfrm>
            <a:off x="34" y="3056200"/>
            <a:ext cx="6028910" cy="3414243"/>
            <a:chOff x="542516" y="869700"/>
            <a:chExt cx="8229599" cy="5598966"/>
          </a:xfrm>
        </p:grpSpPr>
        <p:sp>
          <p:nvSpPr>
            <p:cNvPr id="17535" name="Rectangle 17534">
              <a:extLst>
                <a:ext uri="{FF2B5EF4-FFF2-40B4-BE49-F238E27FC236}">
                  <a16:creationId xmlns:a16="http://schemas.microsoft.com/office/drawing/2014/main" id="{F9932448-F8A9-56F4-AFA7-C8A3B990077A}"/>
                </a:ext>
              </a:extLst>
            </p:cNvPr>
            <p:cNvSpPr/>
            <p:nvPr/>
          </p:nvSpPr>
          <p:spPr>
            <a:xfrm>
              <a:off x="542516" y="869700"/>
              <a:ext cx="8229599" cy="522263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grpSp>
          <p:nvGrpSpPr>
            <p:cNvPr id="17536" name="Group 17535">
              <a:extLst>
                <a:ext uri="{FF2B5EF4-FFF2-40B4-BE49-F238E27FC236}">
                  <a16:creationId xmlns:a16="http://schemas.microsoft.com/office/drawing/2014/main" id="{75BD0F66-81EF-DB28-C112-7E85DCDCB51B}"/>
                </a:ext>
              </a:extLst>
            </p:cNvPr>
            <p:cNvGrpSpPr/>
            <p:nvPr/>
          </p:nvGrpSpPr>
          <p:grpSpPr>
            <a:xfrm>
              <a:off x="3447423" y="2329961"/>
              <a:ext cx="1010525" cy="1013991"/>
              <a:chOff x="2990223" y="1512276"/>
              <a:chExt cx="1010525" cy="1013991"/>
            </a:xfrm>
          </p:grpSpPr>
          <p:sp>
            <p:nvSpPr>
              <p:cNvPr id="17605" name="Rounded Rectangle 2">
                <a:extLst>
                  <a:ext uri="{FF2B5EF4-FFF2-40B4-BE49-F238E27FC236}">
                    <a16:creationId xmlns:a16="http://schemas.microsoft.com/office/drawing/2014/main" id="{7DC8E3D4-977E-BFD9-D524-53E92FD86592}"/>
                  </a:ext>
                </a:extLst>
              </p:cNvPr>
              <p:cNvSpPr/>
              <p:nvPr/>
            </p:nvSpPr>
            <p:spPr>
              <a:xfrm>
                <a:off x="2990223" y="1512276"/>
                <a:ext cx="733937" cy="521753"/>
              </a:xfrm>
              <a:custGeom>
                <a:avLst/>
                <a:gdLst/>
                <a:ahLst/>
                <a:cxnLst/>
                <a:rect l="0" t="0" r="0" b="0"/>
                <a:pathLst>
                  <a:path w="733937" h="521753">
                    <a:moveTo>
                      <a:pt x="642506" y="439"/>
                    </a:moveTo>
                    <a:lnTo>
                      <a:pt x="733937" y="158789"/>
                    </a:lnTo>
                    <a:lnTo>
                      <a:pt x="300740" y="158789"/>
                    </a:lnTo>
                    <a:lnTo>
                      <a:pt x="91422" y="521753"/>
                    </a:lnTo>
                    <a:lnTo>
                      <a:pt x="0" y="363394"/>
                    </a:lnTo>
                    <a:lnTo>
                      <a:pt x="209318" y="0"/>
                    </a:lnTo>
                    <a:lnTo>
                      <a:pt x="642506" y="0"/>
                    </a:lnTo>
                  </a:path>
                </a:pathLst>
              </a:custGeom>
              <a:solidFill>
                <a:srgbClr val="61ACA2">
                  <a:alpha val="30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606" name="Rounded Rectangle 3">
                <a:extLst>
                  <a:ext uri="{FF2B5EF4-FFF2-40B4-BE49-F238E27FC236}">
                    <a16:creationId xmlns:a16="http://schemas.microsoft.com/office/drawing/2014/main" id="{6D3AF0E7-5824-4B31-76EB-AE493DBCAEC4}"/>
                  </a:ext>
                </a:extLst>
              </p:cNvPr>
              <p:cNvSpPr/>
              <p:nvPr/>
            </p:nvSpPr>
            <p:spPr>
              <a:xfrm>
                <a:off x="3147895" y="1787678"/>
                <a:ext cx="852853" cy="738589"/>
              </a:xfrm>
              <a:custGeom>
                <a:avLst/>
                <a:gdLst/>
                <a:ahLst/>
                <a:cxnLst/>
                <a:rect l="0" t="0" r="0" b="0"/>
                <a:pathLst>
                  <a:path w="852853" h="738589">
                    <a:moveTo>
                      <a:pt x="639640" y="738589"/>
                    </a:moveTo>
                    <a:lnTo>
                      <a:pt x="213213" y="738589"/>
                    </a:lnTo>
                    <a:lnTo>
                      <a:pt x="0" y="369294"/>
                    </a:lnTo>
                    <a:lnTo>
                      <a:pt x="213213" y="0"/>
                    </a:lnTo>
                    <a:lnTo>
                      <a:pt x="639640" y="0"/>
                    </a:lnTo>
                    <a:lnTo>
                      <a:pt x="852853" y="369294"/>
                    </a:lnTo>
                    <a:lnTo>
                      <a:pt x="639640" y="738589"/>
                    </a:lnTo>
                  </a:path>
                </a:pathLst>
              </a:custGeom>
              <a:solidFill>
                <a:srgbClr val="61ACA2">
                  <a:alpha val="30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7537" name="Group 17536">
              <a:extLst>
                <a:ext uri="{FF2B5EF4-FFF2-40B4-BE49-F238E27FC236}">
                  <a16:creationId xmlns:a16="http://schemas.microsoft.com/office/drawing/2014/main" id="{9A9D720E-A921-DD32-30F4-0CEAF89185D1}"/>
                </a:ext>
              </a:extLst>
            </p:cNvPr>
            <p:cNvGrpSpPr/>
            <p:nvPr/>
          </p:nvGrpSpPr>
          <p:grpSpPr>
            <a:xfrm>
              <a:off x="3447423" y="2329961"/>
              <a:ext cx="1010522" cy="1013993"/>
              <a:chOff x="2990223" y="1512276"/>
              <a:chExt cx="1010522" cy="1013993"/>
            </a:xfrm>
          </p:grpSpPr>
          <p:sp>
            <p:nvSpPr>
              <p:cNvPr id="17603" name="Rounded Rectangle 5">
                <a:extLst>
                  <a:ext uri="{FF2B5EF4-FFF2-40B4-BE49-F238E27FC236}">
                    <a16:creationId xmlns:a16="http://schemas.microsoft.com/office/drawing/2014/main" id="{04682C6C-009F-DFFE-4198-08E5ADFECEC6}"/>
                  </a:ext>
                </a:extLst>
              </p:cNvPr>
              <p:cNvSpPr/>
              <p:nvPr/>
            </p:nvSpPr>
            <p:spPr>
              <a:xfrm>
                <a:off x="2990223" y="1512276"/>
                <a:ext cx="733937" cy="521751"/>
              </a:xfrm>
              <a:custGeom>
                <a:avLst/>
                <a:gdLst/>
                <a:ahLst/>
                <a:cxnLst/>
                <a:rect l="0" t="0" r="0" b="0"/>
                <a:pathLst>
                  <a:path w="733937" h="521751">
                    <a:moveTo>
                      <a:pt x="642511" y="439"/>
                    </a:moveTo>
                    <a:lnTo>
                      <a:pt x="733937" y="158793"/>
                    </a:lnTo>
                    <a:lnTo>
                      <a:pt x="300741" y="158354"/>
                    </a:lnTo>
                    <a:lnTo>
                      <a:pt x="91425" y="521751"/>
                    </a:lnTo>
                    <a:lnTo>
                      <a:pt x="0" y="363396"/>
                    </a:lnTo>
                    <a:lnTo>
                      <a:pt x="209315" y="0"/>
                    </a:lnTo>
                    <a:lnTo>
                      <a:pt x="642511" y="439"/>
                    </a:lnTo>
                    <a:close/>
                  </a:path>
                </a:pathLst>
              </a:custGeom>
              <a:noFill/>
              <a:ln w="26376">
                <a:solidFill>
                  <a:srgbClr val="FDFBF7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604" name="Rounded Rectangle 6">
                <a:extLst>
                  <a:ext uri="{FF2B5EF4-FFF2-40B4-BE49-F238E27FC236}">
                    <a16:creationId xmlns:a16="http://schemas.microsoft.com/office/drawing/2014/main" id="{0C297862-34A9-1079-887F-BD3EF194A7B9}"/>
                  </a:ext>
                </a:extLst>
              </p:cNvPr>
              <p:cNvSpPr/>
              <p:nvPr/>
            </p:nvSpPr>
            <p:spPr>
              <a:xfrm>
                <a:off x="3147892" y="1787676"/>
                <a:ext cx="852853" cy="738593"/>
              </a:xfrm>
              <a:custGeom>
                <a:avLst/>
                <a:gdLst/>
                <a:ahLst/>
                <a:cxnLst/>
                <a:rect l="0" t="0" r="0" b="0"/>
                <a:pathLst>
                  <a:path w="852853" h="738593">
                    <a:moveTo>
                      <a:pt x="639640" y="738593"/>
                    </a:moveTo>
                    <a:lnTo>
                      <a:pt x="213213" y="738593"/>
                    </a:lnTo>
                    <a:lnTo>
                      <a:pt x="0" y="369296"/>
                    </a:lnTo>
                    <a:lnTo>
                      <a:pt x="213213" y="0"/>
                    </a:lnTo>
                    <a:lnTo>
                      <a:pt x="639640" y="0"/>
                    </a:lnTo>
                    <a:lnTo>
                      <a:pt x="852853" y="369296"/>
                    </a:lnTo>
                    <a:lnTo>
                      <a:pt x="639640" y="738593"/>
                    </a:lnTo>
                    <a:close/>
                  </a:path>
                </a:pathLst>
              </a:custGeom>
              <a:noFill/>
              <a:ln w="26376">
                <a:solidFill>
                  <a:srgbClr val="FDFBF7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7538" name="Group 17537">
              <a:extLst>
                <a:ext uri="{FF2B5EF4-FFF2-40B4-BE49-F238E27FC236}">
                  <a16:creationId xmlns:a16="http://schemas.microsoft.com/office/drawing/2014/main" id="{1C4C0206-30E3-6102-C7D2-FCF759E55082}"/>
                </a:ext>
              </a:extLst>
            </p:cNvPr>
            <p:cNvGrpSpPr/>
            <p:nvPr/>
          </p:nvGrpSpPr>
          <p:grpSpPr>
            <a:xfrm>
              <a:off x="2779498" y="3481015"/>
              <a:ext cx="1172884" cy="738597"/>
              <a:chOff x="2322298" y="2663330"/>
              <a:chExt cx="1172884" cy="738597"/>
            </a:xfrm>
          </p:grpSpPr>
          <p:sp>
            <p:nvSpPr>
              <p:cNvPr id="17601" name="Rounded Rectangle 8">
                <a:extLst>
                  <a:ext uri="{FF2B5EF4-FFF2-40B4-BE49-F238E27FC236}">
                    <a16:creationId xmlns:a16="http://schemas.microsoft.com/office/drawing/2014/main" id="{9723E6E6-542A-9F9B-9F61-4B98F4D146F3}"/>
                  </a:ext>
                </a:extLst>
              </p:cNvPr>
              <p:cNvSpPr/>
              <p:nvPr/>
            </p:nvSpPr>
            <p:spPr>
              <a:xfrm>
                <a:off x="2322298" y="2663330"/>
                <a:ext cx="396867" cy="737912"/>
              </a:xfrm>
              <a:custGeom>
                <a:avLst/>
                <a:gdLst/>
                <a:ahLst/>
                <a:cxnLst/>
                <a:rect l="0" t="0" r="0" b="0"/>
                <a:pathLst>
                  <a:path w="396867" h="737912">
                    <a:moveTo>
                      <a:pt x="396867" y="0"/>
                    </a:moveTo>
                    <a:lnTo>
                      <a:pt x="182686" y="371844"/>
                    </a:lnTo>
                    <a:lnTo>
                      <a:pt x="394044" y="737912"/>
                    </a:lnTo>
                    <a:lnTo>
                      <a:pt x="211296" y="737912"/>
                    </a:lnTo>
                    <a:lnTo>
                      <a:pt x="0" y="371932"/>
                    </a:lnTo>
                    <a:lnTo>
                      <a:pt x="214233" y="0"/>
                    </a:lnTo>
                    <a:lnTo>
                      <a:pt x="396867" y="0"/>
                    </a:lnTo>
                  </a:path>
                </a:pathLst>
              </a:custGeom>
              <a:solidFill>
                <a:srgbClr val="61ACA2">
                  <a:alpha val="30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602" name="Rounded Rectangle 9">
                <a:extLst>
                  <a:ext uri="{FF2B5EF4-FFF2-40B4-BE49-F238E27FC236}">
                    <a16:creationId xmlns:a16="http://schemas.microsoft.com/office/drawing/2014/main" id="{002DD325-E157-A91C-F0E4-C5B84A7848AF}"/>
                  </a:ext>
                </a:extLst>
              </p:cNvPr>
              <p:cNvSpPr/>
              <p:nvPr/>
            </p:nvSpPr>
            <p:spPr>
              <a:xfrm>
                <a:off x="2642329" y="2663330"/>
                <a:ext cx="852853" cy="738597"/>
              </a:xfrm>
              <a:custGeom>
                <a:avLst/>
                <a:gdLst/>
                <a:ahLst/>
                <a:cxnLst/>
                <a:rect l="0" t="0" r="0" b="0"/>
                <a:pathLst>
                  <a:path w="852853" h="738597">
                    <a:moveTo>
                      <a:pt x="0" y="369303"/>
                    </a:moveTo>
                    <a:lnTo>
                      <a:pt x="213213" y="0"/>
                    </a:lnTo>
                    <a:lnTo>
                      <a:pt x="639640" y="0"/>
                    </a:lnTo>
                    <a:lnTo>
                      <a:pt x="852853" y="369303"/>
                    </a:lnTo>
                    <a:lnTo>
                      <a:pt x="639640" y="738597"/>
                    </a:lnTo>
                    <a:lnTo>
                      <a:pt x="213213" y="738597"/>
                    </a:lnTo>
                    <a:lnTo>
                      <a:pt x="0" y="369303"/>
                    </a:lnTo>
                  </a:path>
                </a:pathLst>
              </a:custGeom>
              <a:solidFill>
                <a:srgbClr val="61ACA2">
                  <a:alpha val="30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7539" name="Group 17538">
              <a:extLst>
                <a:ext uri="{FF2B5EF4-FFF2-40B4-BE49-F238E27FC236}">
                  <a16:creationId xmlns:a16="http://schemas.microsoft.com/office/drawing/2014/main" id="{8F792A8F-DAEF-0E1C-3D55-3196A73CFF02}"/>
                </a:ext>
              </a:extLst>
            </p:cNvPr>
            <p:cNvGrpSpPr/>
            <p:nvPr/>
          </p:nvGrpSpPr>
          <p:grpSpPr>
            <a:xfrm>
              <a:off x="2779498" y="3481015"/>
              <a:ext cx="1172887" cy="738597"/>
              <a:chOff x="2322298" y="2663330"/>
              <a:chExt cx="1172887" cy="738597"/>
            </a:xfrm>
          </p:grpSpPr>
          <p:sp>
            <p:nvSpPr>
              <p:cNvPr id="17599" name="Rounded Rectangle 11">
                <a:extLst>
                  <a:ext uri="{FF2B5EF4-FFF2-40B4-BE49-F238E27FC236}">
                    <a16:creationId xmlns:a16="http://schemas.microsoft.com/office/drawing/2014/main" id="{B2F9E8FE-E6D0-DFAB-05EE-BC2B10A56347}"/>
                  </a:ext>
                </a:extLst>
              </p:cNvPr>
              <p:cNvSpPr/>
              <p:nvPr/>
            </p:nvSpPr>
            <p:spPr>
              <a:xfrm>
                <a:off x="2322298" y="2663330"/>
                <a:ext cx="396870" cy="737910"/>
              </a:xfrm>
              <a:custGeom>
                <a:avLst/>
                <a:gdLst/>
                <a:ahLst/>
                <a:cxnLst/>
                <a:rect l="0" t="0" r="0" b="0"/>
                <a:pathLst>
                  <a:path w="396870" h="737910">
                    <a:moveTo>
                      <a:pt x="396870" y="0"/>
                    </a:moveTo>
                    <a:lnTo>
                      <a:pt x="182690" y="371839"/>
                    </a:lnTo>
                    <a:lnTo>
                      <a:pt x="394042" y="737910"/>
                    </a:lnTo>
                    <a:lnTo>
                      <a:pt x="211296" y="737910"/>
                    </a:lnTo>
                    <a:lnTo>
                      <a:pt x="0" y="371932"/>
                    </a:lnTo>
                    <a:lnTo>
                      <a:pt x="214232" y="0"/>
                    </a:lnTo>
                    <a:lnTo>
                      <a:pt x="396870" y="0"/>
                    </a:lnTo>
                    <a:close/>
                  </a:path>
                </a:pathLst>
              </a:custGeom>
              <a:noFill/>
              <a:ln w="26376">
                <a:solidFill>
                  <a:srgbClr val="FDFBF7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600" name="Rounded Rectangle 12">
                <a:extLst>
                  <a:ext uri="{FF2B5EF4-FFF2-40B4-BE49-F238E27FC236}">
                    <a16:creationId xmlns:a16="http://schemas.microsoft.com/office/drawing/2014/main" id="{A6235157-880A-74C7-240D-AAD9DA765C78}"/>
                  </a:ext>
                </a:extLst>
              </p:cNvPr>
              <p:cNvSpPr/>
              <p:nvPr/>
            </p:nvSpPr>
            <p:spPr>
              <a:xfrm>
                <a:off x="2642332" y="2663334"/>
                <a:ext cx="852853" cy="738593"/>
              </a:xfrm>
              <a:custGeom>
                <a:avLst/>
                <a:gdLst/>
                <a:ahLst/>
                <a:cxnLst/>
                <a:rect l="0" t="0" r="0" b="0"/>
                <a:pathLst>
                  <a:path w="852853" h="738593">
                    <a:moveTo>
                      <a:pt x="0" y="369296"/>
                    </a:moveTo>
                    <a:lnTo>
                      <a:pt x="213213" y="0"/>
                    </a:lnTo>
                    <a:lnTo>
                      <a:pt x="639640" y="0"/>
                    </a:lnTo>
                    <a:lnTo>
                      <a:pt x="852853" y="369296"/>
                    </a:lnTo>
                    <a:lnTo>
                      <a:pt x="639640" y="738593"/>
                    </a:lnTo>
                    <a:lnTo>
                      <a:pt x="213213" y="738593"/>
                    </a:lnTo>
                    <a:lnTo>
                      <a:pt x="0" y="369296"/>
                    </a:lnTo>
                    <a:close/>
                  </a:path>
                </a:pathLst>
              </a:custGeom>
              <a:noFill/>
              <a:ln w="26376">
                <a:solidFill>
                  <a:srgbClr val="FDFBF7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7540" name="Group 17539">
              <a:extLst>
                <a:ext uri="{FF2B5EF4-FFF2-40B4-BE49-F238E27FC236}">
                  <a16:creationId xmlns:a16="http://schemas.microsoft.com/office/drawing/2014/main" id="{325B1318-511C-221D-65F7-117EB4B3F31C}"/>
                </a:ext>
              </a:extLst>
            </p:cNvPr>
            <p:cNvGrpSpPr/>
            <p:nvPr/>
          </p:nvGrpSpPr>
          <p:grpSpPr>
            <a:xfrm>
              <a:off x="3446684" y="4356674"/>
              <a:ext cx="1011264" cy="1021481"/>
              <a:chOff x="2989484" y="3538989"/>
              <a:chExt cx="1011264" cy="1021481"/>
            </a:xfrm>
          </p:grpSpPr>
          <p:sp>
            <p:nvSpPr>
              <p:cNvPr id="17597" name="Rounded Rectangle 14">
                <a:extLst>
                  <a:ext uri="{FF2B5EF4-FFF2-40B4-BE49-F238E27FC236}">
                    <a16:creationId xmlns:a16="http://schemas.microsoft.com/office/drawing/2014/main" id="{8451A0A3-29D2-EE42-DE14-F0B73C4542A1}"/>
                  </a:ext>
                </a:extLst>
              </p:cNvPr>
              <p:cNvSpPr/>
              <p:nvPr/>
            </p:nvSpPr>
            <p:spPr>
              <a:xfrm>
                <a:off x="2989484" y="4032607"/>
                <a:ext cx="729998" cy="527863"/>
              </a:xfrm>
              <a:custGeom>
                <a:avLst/>
                <a:gdLst/>
                <a:ahLst/>
                <a:cxnLst/>
                <a:rect l="0" t="0" r="0" b="0"/>
                <a:pathLst>
                  <a:path w="729998" h="527863">
                    <a:moveTo>
                      <a:pt x="91369" y="0"/>
                    </a:moveTo>
                    <a:lnTo>
                      <a:pt x="304565" y="369259"/>
                    </a:lnTo>
                    <a:lnTo>
                      <a:pt x="729998" y="369259"/>
                    </a:lnTo>
                    <a:lnTo>
                      <a:pt x="638673" y="527863"/>
                    </a:lnTo>
                    <a:lnTo>
                      <a:pt x="213143" y="527863"/>
                    </a:lnTo>
                    <a:lnTo>
                      <a:pt x="0" y="158261"/>
                    </a:lnTo>
                    <a:lnTo>
                      <a:pt x="91369" y="0"/>
                    </a:lnTo>
                  </a:path>
                </a:pathLst>
              </a:custGeom>
              <a:solidFill>
                <a:srgbClr val="61ACA2">
                  <a:alpha val="30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598" name="Rounded Rectangle 15">
                <a:extLst>
                  <a:ext uri="{FF2B5EF4-FFF2-40B4-BE49-F238E27FC236}">
                    <a16:creationId xmlns:a16="http://schemas.microsoft.com/office/drawing/2014/main" id="{C23E8FD0-C9E8-F8E1-FD81-1D0DCA1ADEAB}"/>
                  </a:ext>
                </a:extLst>
              </p:cNvPr>
              <p:cNvSpPr/>
              <p:nvPr/>
            </p:nvSpPr>
            <p:spPr>
              <a:xfrm>
                <a:off x="3147895" y="3538989"/>
                <a:ext cx="852853" cy="738597"/>
              </a:xfrm>
              <a:custGeom>
                <a:avLst/>
                <a:gdLst/>
                <a:ahLst/>
                <a:cxnLst/>
                <a:rect l="0" t="0" r="0" b="0"/>
                <a:pathLst>
                  <a:path w="852853" h="738597">
                    <a:moveTo>
                      <a:pt x="213213" y="738597"/>
                    </a:moveTo>
                    <a:lnTo>
                      <a:pt x="0" y="369294"/>
                    </a:lnTo>
                    <a:lnTo>
                      <a:pt x="213213" y="0"/>
                    </a:lnTo>
                    <a:lnTo>
                      <a:pt x="639640" y="0"/>
                    </a:lnTo>
                    <a:lnTo>
                      <a:pt x="852853" y="369294"/>
                    </a:lnTo>
                    <a:lnTo>
                      <a:pt x="639640" y="738597"/>
                    </a:lnTo>
                    <a:lnTo>
                      <a:pt x="213213" y="738597"/>
                    </a:lnTo>
                  </a:path>
                </a:pathLst>
              </a:custGeom>
              <a:solidFill>
                <a:srgbClr val="61ACA2">
                  <a:alpha val="30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7541" name="Group 17540">
              <a:extLst>
                <a:ext uri="{FF2B5EF4-FFF2-40B4-BE49-F238E27FC236}">
                  <a16:creationId xmlns:a16="http://schemas.microsoft.com/office/drawing/2014/main" id="{024ABE10-E391-6324-CF35-C0D058ED9FE5}"/>
                </a:ext>
              </a:extLst>
            </p:cNvPr>
            <p:cNvGrpSpPr/>
            <p:nvPr/>
          </p:nvGrpSpPr>
          <p:grpSpPr>
            <a:xfrm>
              <a:off x="3446684" y="4356674"/>
              <a:ext cx="1011261" cy="1021482"/>
              <a:chOff x="2989484" y="3538989"/>
              <a:chExt cx="1011261" cy="1021482"/>
            </a:xfrm>
          </p:grpSpPr>
          <p:sp>
            <p:nvSpPr>
              <p:cNvPr id="17595" name="Rounded Rectangle 17">
                <a:extLst>
                  <a:ext uri="{FF2B5EF4-FFF2-40B4-BE49-F238E27FC236}">
                    <a16:creationId xmlns:a16="http://schemas.microsoft.com/office/drawing/2014/main" id="{2EDB3999-3B92-3629-4202-E5095DF813D9}"/>
                  </a:ext>
                </a:extLst>
              </p:cNvPr>
              <p:cNvSpPr/>
              <p:nvPr/>
            </p:nvSpPr>
            <p:spPr>
              <a:xfrm>
                <a:off x="2989484" y="4032611"/>
                <a:ext cx="729996" cy="527860"/>
              </a:xfrm>
              <a:custGeom>
                <a:avLst/>
                <a:gdLst/>
                <a:ahLst/>
                <a:cxnLst/>
                <a:rect l="0" t="0" r="0" b="0"/>
                <a:pathLst>
                  <a:path w="729996" h="527860">
                    <a:moveTo>
                      <a:pt x="91372" y="0"/>
                    </a:moveTo>
                    <a:lnTo>
                      <a:pt x="304564" y="369259"/>
                    </a:lnTo>
                    <a:lnTo>
                      <a:pt x="729996" y="369691"/>
                    </a:lnTo>
                    <a:lnTo>
                      <a:pt x="638676" y="527860"/>
                    </a:lnTo>
                    <a:lnTo>
                      <a:pt x="213138" y="527428"/>
                    </a:lnTo>
                    <a:lnTo>
                      <a:pt x="0" y="158261"/>
                    </a:lnTo>
                    <a:lnTo>
                      <a:pt x="91372" y="0"/>
                    </a:lnTo>
                    <a:close/>
                  </a:path>
                </a:pathLst>
              </a:custGeom>
              <a:noFill/>
              <a:ln w="26376">
                <a:solidFill>
                  <a:srgbClr val="FDFBF7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596" name="Rounded Rectangle 18">
                <a:extLst>
                  <a:ext uri="{FF2B5EF4-FFF2-40B4-BE49-F238E27FC236}">
                    <a16:creationId xmlns:a16="http://schemas.microsoft.com/office/drawing/2014/main" id="{BEC909BC-94EF-19F7-2719-04B059460D38}"/>
                  </a:ext>
                </a:extLst>
              </p:cNvPr>
              <p:cNvSpPr/>
              <p:nvPr/>
            </p:nvSpPr>
            <p:spPr>
              <a:xfrm>
                <a:off x="3147892" y="3538989"/>
                <a:ext cx="852853" cy="738593"/>
              </a:xfrm>
              <a:custGeom>
                <a:avLst/>
                <a:gdLst/>
                <a:ahLst/>
                <a:cxnLst/>
                <a:rect l="0" t="0" r="0" b="0"/>
                <a:pathLst>
                  <a:path w="852853" h="738593">
                    <a:moveTo>
                      <a:pt x="213213" y="738593"/>
                    </a:moveTo>
                    <a:lnTo>
                      <a:pt x="0" y="369296"/>
                    </a:lnTo>
                    <a:lnTo>
                      <a:pt x="213213" y="0"/>
                    </a:lnTo>
                    <a:lnTo>
                      <a:pt x="639640" y="0"/>
                    </a:lnTo>
                    <a:lnTo>
                      <a:pt x="852853" y="369296"/>
                    </a:lnTo>
                    <a:lnTo>
                      <a:pt x="639640" y="738593"/>
                    </a:lnTo>
                    <a:lnTo>
                      <a:pt x="213213" y="738593"/>
                    </a:lnTo>
                    <a:close/>
                  </a:path>
                </a:pathLst>
              </a:custGeom>
              <a:noFill/>
              <a:ln w="26376">
                <a:solidFill>
                  <a:srgbClr val="FDFBF7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7542" name="Group 17541">
              <a:extLst>
                <a:ext uri="{FF2B5EF4-FFF2-40B4-BE49-F238E27FC236}">
                  <a16:creationId xmlns:a16="http://schemas.microsoft.com/office/drawing/2014/main" id="{5047767C-E544-9A05-00FD-46FE67827D2A}"/>
                </a:ext>
              </a:extLst>
            </p:cNvPr>
            <p:cNvGrpSpPr/>
            <p:nvPr/>
          </p:nvGrpSpPr>
          <p:grpSpPr>
            <a:xfrm>
              <a:off x="4616202" y="4356674"/>
              <a:ext cx="1015247" cy="1022826"/>
              <a:chOff x="4159002" y="3538989"/>
              <a:chExt cx="1015247" cy="1022826"/>
            </a:xfrm>
          </p:grpSpPr>
          <p:sp>
            <p:nvSpPr>
              <p:cNvPr id="17593" name="Rounded Rectangle 20">
                <a:extLst>
                  <a:ext uri="{FF2B5EF4-FFF2-40B4-BE49-F238E27FC236}">
                    <a16:creationId xmlns:a16="http://schemas.microsoft.com/office/drawing/2014/main" id="{ED8D7264-CB90-0E40-78E7-99F6ADE4EB9A}"/>
                  </a:ext>
                </a:extLst>
              </p:cNvPr>
              <p:cNvSpPr/>
              <p:nvPr/>
            </p:nvSpPr>
            <p:spPr>
              <a:xfrm>
                <a:off x="4445077" y="4031824"/>
                <a:ext cx="729172" cy="529991"/>
              </a:xfrm>
              <a:custGeom>
                <a:avLst/>
                <a:gdLst/>
                <a:ahLst/>
                <a:cxnLst/>
                <a:rect l="0" t="0" r="0" b="0"/>
                <a:pathLst>
                  <a:path w="729172" h="529991">
                    <a:moveTo>
                      <a:pt x="0" y="371211"/>
                    </a:moveTo>
                    <a:lnTo>
                      <a:pt x="423683" y="371211"/>
                    </a:lnTo>
                    <a:lnTo>
                      <a:pt x="637750" y="0"/>
                    </a:lnTo>
                    <a:lnTo>
                      <a:pt x="729172" y="158349"/>
                    </a:lnTo>
                    <a:lnTo>
                      <a:pt x="515114" y="529991"/>
                    </a:lnTo>
                    <a:lnTo>
                      <a:pt x="91431" y="529991"/>
                    </a:lnTo>
                    <a:lnTo>
                      <a:pt x="0" y="371211"/>
                    </a:lnTo>
                  </a:path>
                </a:pathLst>
              </a:custGeom>
              <a:solidFill>
                <a:srgbClr val="61ACA2">
                  <a:alpha val="30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594" name="Rounded Rectangle 21">
                <a:extLst>
                  <a:ext uri="{FF2B5EF4-FFF2-40B4-BE49-F238E27FC236}">
                    <a16:creationId xmlns:a16="http://schemas.microsoft.com/office/drawing/2014/main" id="{030AE22F-0A0B-C36D-32CB-38A1B3DCA02E}"/>
                  </a:ext>
                </a:extLst>
              </p:cNvPr>
              <p:cNvSpPr/>
              <p:nvPr/>
            </p:nvSpPr>
            <p:spPr>
              <a:xfrm>
                <a:off x="4159002" y="3538989"/>
                <a:ext cx="852853" cy="738597"/>
              </a:xfrm>
              <a:custGeom>
                <a:avLst/>
                <a:gdLst/>
                <a:ahLst/>
                <a:cxnLst/>
                <a:rect l="0" t="0" r="0" b="0"/>
                <a:pathLst>
                  <a:path w="852853" h="738597">
                    <a:moveTo>
                      <a:pt x="639640" y="738597"/>
                    </a:moveTo>
                    <a:lnTo>
                      <a:pt x="213213" y="738597"/>
                    </a:lnTo>
                    <a:lnTo>
                      <a:pt x="0" y="369294"/>
                    </a:lnTo>
                    <a:lnTo>
                      <a:pt x="213213" y="0"/>
                    </a:lnTo>
                    <a:lnTo>
                      <a:pt x="639640" y="0"/>
                    </a:lnTo>
                    <a:lnTo>
                      <a:pt x="852853" y="369294"/>
                    </a:lnTo>
                    <a:lnTo>
                      <a:pt x="639640" y="738597"/>
                    </a:lnTo>
                  </a:path>
                </a:pathLst>
              </a:custGeom>
              <a:solidFill>
                <a:srgbClr val="61ACA2">
                  <a:alpha val="30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7543" name="Group 17542">
              <a:extLst>
                <a:ext uri="{FF2B5EF4-FFF2-40B4-BE49-F238E27FC236}">
                  <a16:creationId xmlns:a16="http://schemas.microsoft.com/office/drawing/2014/main" id="{7BC4134E-B880-9AFC-EA9C-900D7DB6BDE1}"/>
                </a:ext>
              </a:extLst>
            </p:cNvPr>
            <p:cNvGrpSpPr/>
            <p:nvPr/>
          </p:nvGrpSpPr>
          <p:grpSpPr>
            <a:xfrm>
              <a:off x="4616202" y="4356674"/>
              <a:ext cx="1015249" cy="1022826"/>
              <a:chOff x="4159002" y="3538989"/>
              <a:chExt cx="1015249" cy="1022826"/>
            </a:xfrm>
          </p:grpSpPr>
          <p:sp>
            <p:nvSpPr>
              <p:cNvPr id="17591" name="Rounded Rectangle 23">
                <a:extLst>
                  <a:ext uri="{FF2B5EF4-FFF2-40B4-BE49-F238E27FC236}">
                    <a16:creationId xmlns:a16="http://schemas.microsoft.com/office/drawing/2014/main" id="{AD8DCA1E-F66D-D490-4B41-1D20CA03F2C2}"/>
                  </a:ext>
                </a:extLst>
              </p:cNvPr>
              <p:cNvSpPr/>
              <p:nvPr/>
            </p:nvSpPr>
            <p:spPr>
              <a:xfrm>
                <a:off x="4445078" y="4031822"/>
                <a:ext cx="729173" cy="529993"/>
              </a:xfrm>
              <a:custGeom>
                <a:avLst/>
                <a:gdLst/>
                <a:ahLst/>
                <a:cxnLst/>
                <a:rect l="0" t="0" r="0" b="0"/>
                <a:pathLst>
                  <a:path w="729173" h="529993">
                    <a:moveTo>
                      <a:pt x="0" y="371209"/>
                    </a:moveTo>
                    <a:lnTo>
                      <a:pt x="423683" y="371638"/>
                    </a:lnTo>
                    <a:lnTo>
                      <a:pt x="637747" y="0"/>
                    </a:lnTo>
                    <a:lnTo>
                      <a:pt x="729173" y="158353"/>
                    </a:lnTo>
                    <a:lnTo>
                      <a:pt x="515109" y="529993"/>
                    </a:lnTo>
                    <a:lnTo>
                      <a:pt x="91425" y="529563"/>
                    </a:lnTo>
                    <a:lnTo>
                      <a:pt x="0" y="371209"/>
                    </a:lnTo>
                    <a:close/>
                  </a:path>
                </a:pathLst>
              </a:custGeom>
              <a:noFill/>
              <a:ln w="26376">
                <a:solidFill>
                  <a:srgbClr val="FDFBF7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592" name="Rounded Rectangle 24">
                <a:extLst>
                  <a:ext uri="{FF2B5EF4-FFF2-40B4-BE49-F238E27FC236}">
                    <a16:creationId xmlns:a16="http://schemas.microsoft.com/office/drawing/2014/main" id="{0589F9B7-BB9A-8C6F-6A30-3C9C9FFEBEDA}"/>
                  </a:ext>
                </a:extLst>
              </p:cNvPr>
              <p:cNvSpPr/>
              <p:nvPr/>
            </p:nvSpPr>
            <p:spPr>
              <a:xfrm>
                <a:off x="4159002" y="3538989"/>
                <a:ext cx="852853" cy="738593"/>
              </a:xfrm>
              <a:custGeom>
                <a:avLst/>
                <a:gdLst/>
                <a:ahLst/>
                <a:cxnLst/>
                <a:rect l="0" t="0" r="0" b="0"/>
                <a:pathLst>
                  <a:path w="852853" h="738593">
                    <a:moveTo>
                      <a:pt x="639640" y="738593"/>
                    </a:moveTo>
                    <a:lnTo>
                      <a:pt x="213213" y="738593"/>
                    </a:lnTo>
                    <a:lnTo>
                      <a:pt x="0" y="369296"/>
                    </a:lnTo>
                    <a:lnTo>
                      <a:pt x="213213" y="0"/>
                    </a:lnTo>
                    <a:lnTo>
                      <a:pt x="639640" y="0"/>
                    </a:lnTo>
                    <a:lnTo>
                      <a:pt x="852853" y="369296"/>
                    </a:lnTo>
                    <a:lnTo>
                      <a:pt x="639640" y="738593"/>
                    </a:lnTo>
                    <a:close/>
                  </a:path>
                </a:pathLst>
              </a:custGeom>
              <a:noFill/>
              <a:ln w="26376">
                <a:solidFill>
                  <a:srgbClr val="FDFBF7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7544" name="Group 17543">
              <a:extLst>
                <a:ext uri="{FF2B5EF4-FFF2-40B4-BE49-F238E27FC236}">
                  <a16:creationId xmlns:a16="http://schemas.microsoft.com/office/drawing/2014/main" id="{2539714D-7B95-A335-1E0C-A70473E847E2}"/>
                </a:ext>
              </a:extLst>
            </p:cNvPr>
            <p:cNvGrpSpPr/>
            <p:nvPr/>
          </p:nvGrpSpPr>
          <p:grpSpPr>
            <a:xfrm>
              <a:off x="5121759" y="3481015"/>
              <a:ext cx="1172859" cy="738597"/>
              <a:chOff x="4664559" y="2663330"/>
              <a:chExt cx="1172859" cy="738597"/>
            </a:xfrm>
          </p:grpSpPr>
          <p:sp>
            <p:nvSpPr>
              <p:cNvPr id="17589" name="Rounded Rectangle 26">
                <a:extLst>
                  <a:ext uri="{FF2B5EF4-FFF2-40B4-BE49-F238E27FC236}">
                    <a16:creationId xmlns:a16="http://schemas.microsoft.com/office/drawing/2014/main" id="{E28E3D0F-9AB8-8BB1-5CDC-FBBC5E0C7FE7}"/>
                  </a:ext>
                </a:extLst>
              </p:cNvPr>
              <p:cNvSpPr/>
              <p:nvPr/>
            </p:nvSpPr>
            <p:spPr>
              <a:xfrm>
                <a:off x="5437878" y="2663330"/>
                <a:ext cx="399540" cy="737912"/>
              </a:xfrm>
              <a:custGeom>
                <a:avLst/>
                <a:gdLst/>
                <a:ahLst/>
                <a:cxnLst/>
                <a:rect l="0" t="0" r="0" b="0"/>
                <a:pathLst>
                  <a:path w="399540" h="737912">
                    <a:moveTo>
                      <a:pt x="8150" y="737912"/>
                    </a:moveTo>
                    <a:lnTo>
                      <a:pt x="216853" y="375589"/>
                    </a:lnTo>
                    <a:lnTo>
                      <a:pt x="0" y="0"/>
                    </a:lnTo>
                    <a:lnTo>
                      <a:pt x="182748" y="0"/>
                    </a:lnTo>
                    <a:lnTo>
                      <a:pt x="399540" y="375501"/>
                    </a:lnTo>
                    <a:lnTo>
                      <a:pt x="190793" y="737912"/>
                    </a:lnTo>
                    <a:lnTo>
                      <a:pt x="8150" y="737912"/>
                    </a:lnTo>
                  </a:path>
                </a:pathLst>
              </a:custGeom>
              <a:solidFill>
                <a:srgbClr val="61ACA2">
                  <a:alpha val="30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590" name="Rounded Rectangle 27">
                <a:extLst>
                  <a:ext uri="{FF2B5EF4-FFF2-40B4-BE49-F238E27FC236}">
                    <a16:creationId xmlns:a16="http://schemas.microsoft.com/office/drawing/2014/main" id="{5530B97C-76EF-85BD-2AF4-E5F12B433B10}"/>
                  </a:ext>
                </a:extLst>
              </p:cNvPr>
              <p:cNvSpPr/>
              <p:nvPr/>
            </p:nvSpPr>
            <p:spPr>
              <a:xfrm>
                <a:off x="4664559" y="2663330"/>
                <a:ext cx="852853" cy="738597"/>
              </a:xfrm>
              <a:custGeom>
                <a:avLst/>
                <a:gdLst/>
                <a:ahLst/>
                <a:cxnLst/>
                <a:rect l="0" t="0" r="0" b="0"/>
                <a:pathLst>
                  <a:path w="852853" h="738597">
                    <a:moveTo>
                      <a:pt x="0" y="369294"/>
                    </a:moveTo>
                    <a:lnTo>
                      <a:pt x="213213" y="0"/>
                    </a:lnTo>
                    <a:lnTo>
                      <a:pt x="639640" y="0"/>
                    </a:lnTo>
                    <a:lnTo>
                      <a:pt x="852853" y="369294"/>
                    </a:lnTo>
                    <a:lnTo>
                      <a:pt x="639640" y="738597"/>
                    </a:lnTo>
                    <a:lnTo>
                      <a:pt x="213213" y="738597"/>
                    </a:lnTo>
                    <a:lnTo>
                      <a:pt x="0" y="369294"/>
                    </a:lnTo>
                  </a:path>
                </a:pathLst>
              </a:custGeom>
              <a:solidFill>
                <a:srgbClr val="61ACA2">
                  <a:alpha val="30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7545" name="Group 17544">
              <a:extLst>
                <a:ext uri="{FF2B5EF4-FFF2-40B4-BE49-F238E27FC236}">
                  <a16:creationId xmlns:a16="http://schemas.microsoft.com/office/drawing/2014/main" id="{328398A1-727A-642A-36DB-D3A2B69A480E}"/>
                </a:ext>
              </a:extLst>
            </p:cNvPr>
            <p:cNvGrpSpPr/>
            <p:nvPr/>
          </p:nvGrpSpPr>
          <p:grpSpPr>
            <a:xfrm>
              <a:off x="5121759" y="3481015"/>
              <a:ext cx="1172859" cy="738593"/>
              <a:chOff x="4664559" y="2663330"/>
              <a:chExt cx="1172859" cy="738593"/>
            </a:xfrm>
          </p:grpSpPr>
          <p:sp>
            <p:nvSpPr>
              <p:cNvPr id="17587" name="Rounded Rectangle 29">
                <a:extLst>
                  <a:ext uri="{FF2B5EF4-FFF2-40B4-BE49-F238E27FC236}">
                    <a16:creationId xmlns:a16="http://schemas.microsoft.com/office/drawing/2014/main" id="{857776E1-F303-2EA5-842A-FF58D5E1752B}"/>
                  </a:ext>
                </a:extLst>
              </p:cNvPr>
              <p:cNvSpPr/>
              <p:nvPr/>
            </p:nvSpPr>
            <p:spPr>
              <a:xfrm>
                <a:off x="5437879" y="2663330"/>
                <a:ext cx="399539" cy="737910"/>
              </a:xfrm>
              <a:custGeom>
                <a:avLst/>
                <a:gdLst/>
                <a:ahLst/>
                <a:cxnLst/>
                <a:rect l="0" t="0" r="0" b="0"/>
                <a:pathLst>
                  <a:path w="399539" h="737910">
                    <a:moveTo>
                      <a:pt x="8153" y="737910"/>
                    </a:moveTo>
                    <a:lnTo>
                      <a:pt x="216848" y="375591"/>
                    </a:lnTo>
                    <a:lnTo>
                      <a:pt x="0" y="0"/>
                    </a:lnTo>
                    <a:lnTo>
                      <a:pt x="182744" y="0"/>
                    </a:lnTo>
                    <a:lnTo>
                      <a:pt x="399539" y="375498"/>
                    </a:lnTo>
                    <a:lnTo>
                      <a:pt x="190790" y="737910"/>
                    </a:lnTo>
                    <a:lnTo>
                      <a:pt x="8153" y="737910"/>
                    </a:lnTo>
                    <a:close/>
                  </a:path>
                </a:pathLst>
              </a:custGeom>
              <a:noFill/>
              <a:ln w="26376">
                <a:solidFill>
                  <a:srgbClr val="FDFBF7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588" name="Rounded Rectangle 30">
                <a:extLst>
                  <a:ext uri="{FF2B5EF4-FFF2-40B4-BE49-F238E27FC236}">
                    <a16:creationId xmlns:a16="http://schemas.microsoft.com/office/drawing/2014/main" id="{D94116BD-24F7-5F86-9B1A-42BEF41AE941}"/>
                  </a:ext>
                </a:extLst>
              </p:cNvPr>
              <p:cNvSpPr/>
              <p:nvPr/>
            </p:nvSpPr>
            <p:spPr>
              <a:xfrm>
                <a:off x="4664559" y="2663330"/>
                <a:ext cx="852853" cy="738593"/>
              </a:xfrm>
              <a:custGeom>
                <a:avLst/>
                <a:gdLst/>
                <a:ahLst/>
                <a:cxnLst/>
                <a:rect l="0" t="0" r="0" b="0"/>
                <a:pathLst>
                  <a:path w="852853" h="738593">
                    <a:moveTo>
                      <a:pt x="0" y="369296"/>
                    </a:moveTo>
                    <a:lnTo>
                      <a:pt x="213213" y="0"/>
                    </a:lnTo>
                    <a:lnTo>
                      <a:pt x="639640" y="0"/>
                    </a:lnTo>
                    <a:lnTo>
                      <a:pt x="852853" y="369296"/>
                    </a:lnTo>
                    <a:lnTo>
                      <a:pt x="639640" y="738593"/>
                    </a:lnTo>
                    <a:lnTo>
                      <a:pt x="213213" y="738593"/>
                    </a:lnTo>
                    <a:lnTo>
                      <a:pt x="0" y="369296"/>
                    </a:lnTo>
                    <a:close/>
                  </a:path>
                </a:pathLst>
              </a:custGeom>
              <a:noFill/>
              <a:ln w="26376">
                <a:solidFill>
                  <a:srgbClr val="FDFBF7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7546" name="Group 17545">
              <a:extLst>
                <a:ext uri="{FF2B5EF4-FFF2-40B4-BE49-F238E27FC236}">
                  <a16:creationId xmlns:a16="http://schemas.microsoft.com/office/drawing/2014/main" id="{AF94706C-DD9B-8B9B-66FC-45A30704D447}"/>
                </a:ext>
              </a:extLst>
            </p:cNvPr>
            <p:cNvGrpSpPr/>
            <p:nvPr/>
          </p:nvGrpSpPr>
          <p:grpSpPr>
            <a:xfrm>
              <a:off x="4616202" y="2331301"/>
              <a:ext cx="1010886" cy="1012653"/>
              <a:chOff x="4159002" y="1513616"/>
              <a:chExt cx="1010886" cy="1012653"/>
            </a:xfrm>
          </p:grpSpPr>
          <p:sp>
            <p:nvSpPr>
              <p:cNvPr id="17585" name="Rounded Rectangle 32">
                <a:extLst>
                  <a:ext uri="{FF2B5EF4-FFF2-40B4-BE49-F238E27FC236}">
                    <a16:creationId xmlns:a16="http://schemas.microsoft.com/office/drawing/2014/main" id="{236185D9-7527-834C-6510-8FF1E38A6711}"/>
                  </a:ext>
                </a:extLst>
              </p:cNvPr>
              <p:cNvSpPr/>
              <p:nvPr/>
            </p:nvSpPr>
            <p:spPr>
              <a:xfrm>
                <a:off x="4439547" y="1513616"/>
                <a:ext cx="730341" cy="527265"/>
              </a:xfrm>
              <a:custGeom>
                <a:avLst/>
                <a:gdLst/>
                <a:ahLst/>
                <a:cxnLst/>
                <a:rect l="0" t="0" r="0" b="0"/>
                <a:pathLst>
                  <a:path w="730341" h="527265">
                    <a:moveTo>
                      <a:pt x="638972" y="527265"/>
                    </a:moveTo>
                    <a:lnTo>
                      <a:pt x="426119" y="158604"/>
                    </a:lnTo>
                    <a:lnTo>
                      <a:pt x="0" y="158604"/>
                    </a:lnTo>
                    <a:lnTo>
                      <a:pt x="91316" y="0"/>
                    </a:lnTo>
                    <a:lnTo>
                      <a:pt x="517541" y="0"/>
                    </a:lnTo>
                    <a:lnTo>
                      <a:pt x="730341" y="369004"/>
                    </a:lnTo>
                    <a:lnTo>
                      <a:pt x="638972" y="527265"/>
                    </a:lnTo>
                  </a:path>
                </a:pathLst>
              </a:custGeom>
              <a:solidFill>
                <a:srgbClr val="61ACA2">
                  <a:alpha val="30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586" name="Rounded Rectangle 33">
                <a:extLst>
                  <a:ext uri="{FF2B5EF4-FFF2-40B4-BE49-F238E27FC236}">
                    <a16:creationId xmlns:a16="http://schemas.microsoft.com/office/drawing/2014/main" id="{50071067-5A6F-B256-99D7-0307980FA200}"/>
                  </a:ext>
                </a:extLst>
              </p:cNvPr>
              <p:cNvSpPr/>
              <p:nvPr/>
            </p:nvSpPr>
            <p:spPr>
              <a:xfrm>
                <a:off x="4159002" y="1787672"/>
                <a:ext cx="852853" cy="738597"/>
              </a:xfrm>
              <a:custGeom>
                <a:avLst/>
                <a:gdLst/>
                <a:ahLst/>
                <a:cxnLst/>
                <a:rect l="0" t="0" r="0" b="0"/>
                <a:pathLst>
                  <a:path w="852853" h="738597">
                    <a:moveTo>
                      <a:pt x="213213" y="738597"/>
                    </a:moveTo>
                    <a:lnTo>
                      <a:pt x="0" y="369294"/>
                    </a:lnTo>
                    <a:lnTo>
                      <a:pt x="213213" y="0"/>
                    </a:lnTo>
                    <a:lnTo>
                      <a:pt x="639640" y="0"/>
                    </a:lnTo>
                    <a:lnTo>
                      <a:pt x="852853" y="369294"/>
                    </a:lnTo>
                    <a:lnTo>
                      <a:pt x="639640" y="738597"/>
                    </a:lnTo>
                    <a:lnTo>
                      <a:pt x="213213" y="738597"/>
                    </a:lnTo>
                  </a:path>
                </a:pathLst>
              </a:custGeom>
              <a:solidFill>
                <a:srgbClr val="61ACA2">
                  <a:alpha val="30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7547" name="Group 17546">
              <a:extLst>
                <a:ext uri="{FF2B5EF4-FFF2-40B4-BE49-F238E27FC236}">
                  <a16:creationId xmlns:a16="http://schemas.microsoft.com/office/drawing/2014/main" id="{FA27936E-9608-C61F-E29A-67150B9F2A47}"/>
                </a:ext>
              </a:extLst>
            </p:cNvPr>
            <p:cNvGrpSpPr/>
            <p:nvPr/>
          </p:nvGrpSpPr>
          <p:grpSpPr>
            <a:xfrm>
              <a:off x="4616202" y="2331301"/>
              <a:ext cx="1010885" cy="1012651"/>
              <a:chOff x="4159002" y="1513616"/>
              <a:chExt cx="1010885" cy="1012651"/>
            </a:xfrm>
          </p:grpSpPr>
          <p:sp>
            <p:nvSpPr>
              <p:cNvPr id="17583" name="Rounded Rectangle 35">
                <a:extLst>
                  <a:ext uri="{FF2B5EF4-FFF2-40B4-BE49-F238E27FC236}">
                    <a16:creationId xmlns:a16="http://schemas.microsoft.com/office/drawing/2014/main" id="{F7E381C2-F90D-7FEC-8E81-C8FA9F578FD4}"/>
                  </a:ext>
                </a:extLst>
              </p:cNvPr>
              <p:cNvSpPr/>
              <p:nvPr/>
            </p:nvSpPr>
            <p:spPr>
              <a:xfrm>
                <a:off x="4439549" y="1513616"/>
                <a:ext cx="730338" cy="527266"/>
              </a:xfrm>
              <a:custGeom>
                <a:avLst/>
                <a:gdLst/>
                <a:ahLst/>
                <a:cxnLst/>
                <a:rect l="0" t="0" r="0" b="0"/>
                <a:pathLst>
                  <a:path w="730338" h="527266">
                    <a:moveTo>
                      <a:pt x="638966" y="527266"/>
                    </a:moveTo>
                    <a:lnTo>
                      <a:pt x="426117" y="158600"/>
                    </a:lnTo>
                    <a:lnTo>
                      <a:pt x="0" y="158169"/>
                    </a:lnTo>
                    <a:lnTo>
                      <a:pt x="91318" y="0"/>
                    </a:lnTo>
                    <a:lnTo>
                      <a:pt x="517543" y="432"/>
                    </a:lnTo>
                    <a:lnTo>
                      <a:pt x="730338" y="369005"/>
                    </a:lnTo>
                    <a:lnTo>
                      <a:pt x="638966" y="527266"/>
                    </a:lnTo>
                    <a:close/>
                  </a:path>
                </a:pathLst>
              </a:custGeom>
              <a:noFill/>
              <a:ln w="26376">
                <a:solidFill>
                  <a:srgbClr val="FDFBF7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584" name="Rounded Rectangle 36">
                <a:extLst>
                  <a:ext uri="{FF2B5EF4-FFF2-40B4-BE49-F238E27FC236}">
                    <a16:creationId xmlns:a16="http://schemas.microsoft.com/office/drawing/2014/main" id="{2B6E7B73-5493-72AD-635E-4FE3234D7063}"/>
                  </a:ext>
                </a:extLst>
              </p:cNvPr>
              <p:cNvSpPr/>
              <p:nvPr/>
            </p:nvSpPr>
            <p:spPr>
              <a:xfrm>
                <a:off x="4159002" y="1787674"/>
                <a:ext cx="852853" cy="738593"/>
              </a:xfrm>
              <a:custGeom>
                <a:avLst/>
                <a:gdLst/>
                <a:ahLst/>
                <a:cxnLst/>
                <a:rect l="0" t="0" r="0" b="0"/>
                <a:pathLst>
                  <a:path w="852853" h="738593">
                    <a:moveTo>
                      <a:pt x="213213" y="738593"/>
                    </a:moveTo>
                    <a:lnTo>
                      <a:pt x="0" y="369296"/>
                    </a:lnTo>
                    <a:lnTo>
                      <a:pt x="213213" y="0"/>
                    </a:lnTo>
                    <a:lnTo>
                      <a:pt x="639640" y="0"/>
                    </a:lnTo>
                    <a:lnTo>
                      <a:pt x="852853" y="369296"/>
                    </a:lnTo>
                    <a:lnTo>
                      <a:pt x="639640" y="738593"/>
                    </a:lnTo>
                    <a:lnTo>
                      <a:pt x="213213" y="738593"/>
                    </a:lnTo>
                    <a:close/>
                  </a:path>
                </a:pathLst>
              </a:custGeom>
              <a:noFill/>
              <a:ln w="26376">
                <a:solidFill>
                  <a:srgbClr val="FDFBF7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17548" name="Rounded Rectangle 38">
              <a:extLst>
                <a:ext uri="{FF2B5EF4-FFF2-40B4-BE49-F238E27FC236}">
                  <a16:creationId xmlns:a16="http://schemas.microsoft.com/office/drawing/2014/main" id="{46CECEEE-FD30-FFBD-06C8-4BFDACDAD2B3}"/>
                </a:ext>
              </a:extLst>
            </p:cNvPr>
            <p:cNvSpPr/>
            <p:nvPr/>
          </p:nvSpPr>
          <p:spPr>
            <a:xfrm>
              <a:off x="3816084" y="2774958"/>
              <a:ext cx="415401" cy="407857"/>
            </a:xfrm>
            <a:custGeom>
              <a:avLst/>
              <a:gdLst/>
              <a:ahLst/>
              <a:cxnLst/>
              <a:rect l="0" t="0" r="0" b="0"/>
              <a:pathLst>
                <a:path w="415401" h="407857">
                  <a:moveTo>
                    <a:pt x="309893" y="0"/>
                  </a:moveTo>
                  <a:cubicBezTo>
                    <a:pt x="315169" y="0"/>
                    <a:pt x="320444" y="3516"/>
                    <a:pt x="323961" y="8792"/>
                  </a:cubicBezTo>
                  <a:lnTo>
                    <a:pt x="411884" y="177604"/>
                  </a:lnTo>
                  <a:cubicBezTo>
                    <a:pt x="415401" y="182880"/>
                    <a:pt x="415401" y="188155"/>
                    <a:pt x="411884" y="193430"/>
                  </a:cubicBezTo>
                  <a:cubicBezTo>
                    <a:pt x="408367" y="196947"/>
                    <a:pt x="403092" y="200464"/>
                    <a:pt x="397816" y="200464"/>
                  </a:cubicBezTo>
                  <a:lnTo>
                    <a:pt x="220212" y="200464"/>
                  </a:lnTo>
                  <a:cubicBezTo>
                    <a:pt x="214936" y="200464"/>
                    <a:pt x="209661" y="198706"/>
                    <a:pt x="206144" y="193430"/>
                  </a:cubicBezTo>
                  <a:cubicBezTo>
                    <a:pt x="204385" y="188155"/>
                    <a:pt x="202627" y="182880"/>
                    <a:pt x="206144" y="177604"/>
                  </a:cubicBezTo>
                  <a:lnTo>
                    <a:pt x="295825" y="8792"/>
                  </a:lnTo>
                  <a:cubicBezTo>
                    <a:pt x="297584" y="3516"/>
                    <a:pt x="302859" y="0"/>
                    <a:pt x="309893" y="0"/>
                  </a:cubicBezTo>
                  <a:moveTo>
                    <a:pt x="323082" y="75613"/>
                  </a:moveTo>
                  <a:cubicBezTo>
                    <a:pt x="323082" y="68333"/>
                    <a:pt x="317173" y="62425"/>
                    <a:pt x="309893" y="62425"/>
                  </a:cubicBezTo>
                  <a:cubicBezTo>
                    <a:pt x="302613" y="62425"/>
                    <a:pt x="296705" y="68333"/>
                    <a:pt x="296705" y="75613"/>
                  </a:cubicBezTo>
                  <a:lnTo>
                    <a:pt x="296705" y="101990"/>
                  </a:lnTo>
                  <a:cubicBezTo>
                    <a:pt x="296705" y="109270"/>
                    <a:pt x="302613" y="115179"/>
                    <a:pt x="309893" y="115179"/>
                  </a:cubicBezTo>
                  <a:cubicBezTo>
                    <a:pt x="317173" y="115179"/>
                    <a:pt x="323082" y="109270"/>
                    <a:pt x="323082" y="101990"/>
                  </a:cubicBezTo>
                  <a:lnTo>
                    <a:pt x="323082" y="75613"/>
                  </a:lnTo>
                  <a:moveTo>
                    <a:pt x="329676" y="154744"/>
                  </a:moveTo>
                  <a:cubicBezTo>
                    <a:pt x="329676" y="143815"/>
                    <a:pt x="320822" y="134961"/>
                    <a:pt x="309893" y="134961"/>
                  </a:cubicBezTo>
                  <a:cubicBezTo>
                    <a:pt x="298964" y="134961"/>
                    <a:pt x="290110" y="143815"/>
                    <a:pt x="290110" y="154744"/>
                  </a:cubicBezTo>
                  <a:cubicBezTo>
                    <a:pt x="290110" y="165673"/>
                    <a:pt x="298964" y="174527"/>
                    <a:pt x="309893" y="174527"/>
                  </a:cubicBezTo>
                  <a:cubicBezTo>
                    <a:pt x="320822" y="174527"/>
                    <a:pt x="329676" y="165673"/>
                    <a:pt x="329676" y="154744"/>
                  </a:cubicBezTo>
                  <a:moveTo>
                    <a:pt x="169884" y="179398"/>
                  </a:moveTo>
                  <a:cubicBezTo>
                    <a:pt x="172874" y="179398"/>
                    <a:pt x="175564" y="179960"/>
                    <a:pt x="177903" y="181016"/>
                  </a:cubicBezTo>
                  <a:cubicBezTo>
                    <a:pt x="177419" y="188085"/>
                    <a:pt x="178519" y="195171"/>
                    <a:pt x="181121" y="201765"/>
                  </a:cubicBezTo>
                  <a:cubicBezTo>
                    <a:pt x="181877" y="203999"/>
                    <a:pt x="182897" y="206109"/>
                    <a:pt x="184198" y="208061"/>
                  </a:cubicBezTo>
                  <a:cubicBezTo>
                    <a:pt x="185253" y="209608"/>
                    <a:pt x="186326" y="211050"/>
                    <a:pt x="187469" y="212369"/>
                  </a:cubicBezTo>
                  <a:lnTo>
                    <a:pt x="187469" y="324330"/>
                  </a:lnTo>
                  <a:lnTo>
                    <a:pt x="134715" y="324330"/>
                  </a:lnTo>
                  <a:lnTo>
                    <a:pt x="134715" y="196982"/>
                  </a:lnTo>
                  <a:cubicBezTo>
                    <a:pt x="134715" y="186432"/>
                    <a:pt x="141749" y="179398"/>
                    <a:pt x="152300" y="179398"/>
                  </a:cubicBezTo>
                  <a:lnTo>
                    <a:pt x="169884" y="179398"/>
                  </a:lnTo>
                  <a:moveTo>
                    <a:pt x="303229" y="407857"/>
                  </a:moveTo>
                  <a:cubicBezTo>
                    <a:pt x="314588" y="407857"/>
                    <a:pt x="322167" y="400278"/>
                    <a:pt x="322167" y="388901"/>
                  </a:cubicBezTo>
                  <a:lnTo>
                    <a:pt x="322167" y="369962"/>
                  </a:lnTo>
                  <a:cubicBezTo>
                    <a:pt x="322167" y="358585"/>
                    <a:pt x="314606" y="351006"/>
                    <a:pt x="303211" y="351006"/>
                  </a:cubicBezTo>
                  <a:lnTo>
                    <a:pt x="18973" y="351006"/>
                  </a:lnTo>
                  <a:cubicBezTo>
                    <a:pt x="7596" y="351006"/>
                    <a:pt x="17" y="358567"/>
                    <a:pt x="17" y="369962"/>
                  </a:cubicBezTo>
                  <a:lnTo>
                    <a:pt x="17" y="388901"/>
                  </a:lnTo>
                  <a:cubicBezTo>
                    <a:pt x="0" y="400296"/>
                    <a:pt x="7578" y="407857"/>
                    <a:pt x="18956" y="407857"/>
                  </a:cubicBezTo>
                  <a:lnTo>
                    <a:pt x="303229" y="407857"/>
                  </a:lnTo>
                  <a:moveTo>
                    <a:pt x="213828" y="226419"/>
                  </a:moveTo>
                  <a:lnTo>
                    <a:pt x="213828" y="324330"/>
                  </a:lnTo>
                  <a:lnTo>
                    <a:pt x="288493" y="324330"/>
                  </a:lnTo>
                  <a:cubicBezTo>
                    <a:pt x="287060" y="285846"/>
                    <a:pt x="267998" y="249842"/>
                    <a:pt x="236724" y="226859"/>
                  </a:cubicBezTo>
                  <a:lnTo>
                    <a:pt x="220194" y="226859"/>
                  </a:lnTo>
                  <a:cubicBezTo>
                    <a:pt x="218066" y="226859"/>
                    <a:pt x="215939" y="226709"/>
                    <a:pt x="213828" y="226419"/>
                  </a:cubicBezTo>
                  <a:moveTo>
                    <a:pt x="108321" y="324629"/>
                  </a:moveTo>
                  <a:lnTo>
                    <a:pt x="33674" y="324629"/>
                  </a:lnTo>
                  <a:cubicBezTo>
                    <a:pt x="35309" y="275814"/>
                    <a:pt x="65151" y="233101"/>
                    <a:pt x="108338" y="213318"/>
                  </a:cubicBezTo>
                  <a:lnTo>
                    <a:pt x="108338" y="324330"/>
                  </a:lnTo>
                </a:path>
              </a:pathLst>
            </a:custGeom>
            <a:solidFill>
              <a:srgbClr val="61ACA2">
                <a:alpha val="86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549" name="Rounded Rectangle 39">
              <a:extLst>
                <a:ext uri="{FF2B5EF4-FFF2-40B4-BE49-F238E27FC236}">
                  <a16:creationId xmlns:a16="http://schemas.microsoft.com/office/drawing/2014/main" id="{0EAC9B82-D758-2AB8-95D3-87296A2E7E60}"/>
                </a:ext>
              </a:extLst>
            </p:cNvPr>
            <p:cNvSpPr/>
            <p:nvPr/>
          </p:nvSpPr>
          <p:spPr>
            <a:xfrm>
              <a:off x="4835403" y="2760785"/>
              <a:ext cx="422962" cy="422101"/>
            </a:xfrm>
            <a:custGeom>
              <a:avLst/>
              <a:gdLst/>
              <a:ahLst/>
              <a:cxnLst/>
              <a:rect l="0" t="0" r="0" b="0"/>
              <a:pathLst>
                <a:path w="422962" h="422101">
                  <a:moveTo>
                    <a:pt x="343489" y="202223"/>
                  </a:moveTo>
                  <a:cubicBezTo>
                    <a:pt x="360440" y="202126"/>
                    <a:pt x="374165" y="188401"/>
                    <a:pt x="374262" y="171450"/>
                  </a:cubicBezTo>
                  <a:lnTo>
                    <a:pt x="374262" y="30773"/>
                  </a:lnTo>
                  <a:cubicBezTo>
                    <a:pt x="374262" y="13777"/>
                    <a:pt x="360484" y="0"/>
                    <a:pt x="343489" y="0"/>
                  </a:cubicBezTo>
                  <a:lnTo>
                    <a:pt x="97304" y="0"/>
                  </a:lnTo>
                  <a:cubicBezTo>
                    <a:pt x="80308" y="0"/>
                    <a:pt x="66531" y="13777"/>
                    <a:pt x="66531" y="30773"/>
                  </a:cubicBezTo>
                  <a:lnTo>
                    <a:pt x="66531" y="171450"/>
                  </a:lnTo>
                  <a:cubicBezTo>
                    <a:pt x="66628" y="188401"/>
                    <a:pt x="80352" y="202126"/>
                    <a:pt x="97304" y="202223"/>
                  </a:cubicBezTo>
                  <a:lnTo>
                    <a:pt x="202812" y="202223"/>
                  </a:lnTo>
                  <a:cubicBezTo>
                    <a:pt x="205238" y="202223"/>
                    <a:pt x="207208" y="204192"/>
                    <a:pt x="207208" y="206619"/>
                  </a:cubicBezTo>
                  <a:lnTo>
                    <a:pt x="207208" y="241788"/>
                  </a:lnTo>
                  <a:cubicBezTo>
                    <a:pt x="207173" y="247107"/>
                    <a:pt x="210373" y="251908"/>
                    <a:pt x="215297" y="253921"/>
                  </a:cubicBezTo>
                  <a:cubicBezTo>
                    <a:pt x="220220" y="256049"/>
                    <a:pt x="225953" y="254932"/>
                    <a:pt x="229716" y="251108"/>
                  </a:cubicBezTo>
                  <a:lnTo>
                    <a:pt x="277370" y="203453"/>
                  </a:lnTo>
                  <a:cubicBezTo>
                    <a:pt x="278135" y="202627"/>
                    <a:pt x="279234" y="202179"/>
                    <a:pt x="280360" y="202223"/>
                  </a:cubicBezTo>
                  <a:lnTo>
                    <a:pt x="343489" y="202223"/>
                  </a:lnTo>
                  <a:moveTo>
                    <a:pt x="264358" y="179714"/>
                  </a:moveTo>
                  <a:lnTo>
                    <a:pt x="241674" y="202398"/>
                  </a:lnTo>
                  <a:cubicBezTo>
                    <a:pt x="240355" y="203647"/>
                    <a:pt x="238421" y="203990"/>
                    <a:pt x="236750" y="203278"/>
                  </a:cubicBezTo>
                  <a:cubicBezTo>
                    <a:pt x="235106" y="202618"/>
                    <a:pt x="234060" y="201000"/>
                    <a:pt x="234112" y="199233"/>
                  </a:cubicBezTo>
                  <a:lnTo>
                    <a:pt x="234112" y="189034"/>
                  </a:lnTo>
                  <a:cubicBezTo>
                    <a:pt x="234112" y="185447"/>
                    <a:pt x="232653" y="182009"/>
                    <a:pt x="230068" y="179521"/>
                  </a:cubicBezTo>
                  <a:cubicBezTo>
                    <a:pt x="227474" y="177024"/>
                    <a:pt x="223984" y="175705"/>
                    <a:pt x="220396" y="175846"/>
                  </a:cubicBezTo>
                  <a:lnTo>
                    <a:pt x="97304" y="175846"/>
                  </a:lnTo>
                  <a:cubicBezTo>
                    <a:pt x="94877" y="175846"/>
                    <a:pt x="92908" y="173876"/>
                    <a:pt x="92908" y="171450"/>
                  </a:cubicBezTo>
                  <a:lnTo>
                    <a:pt x="92908" y="30773"/>
                  </a:lnTo>
                  <a:cubicBezTo>
                    <a:pt x="92908" y="28346"/>
                    <a:pt x="94877" y="26376"/>
                    <a:pt x="97304" y="26376"/>
                  </a:cubicBezTo>
                  <a:lnTo>
                    <a:pt x="343489" y="26376"/>
                  </a:lnTo>
                  <a:cubicBezTo>
                    <a:pt x="345915" y="26376"/>
                    <a:pt x="347885" y="28346"/>
                    <a:pt x="347885" y="30773"/>
                  </a:cubicBezTo>
                  <a:lnTo>
                    <a:pt x="347885" y="171450"/>
                  </a:lnTo>
                  <a:cubicBezTo>
                    <a:pt x="347885" y="173876"/>
                    <a:pt x="345915" y="175846"/>
                    <a:pt x="343489" y="175846"/>
                  </a:cubicBezTo>
                  <a:lnTo>
                    <a:pt x="273150" y="175846"/>
                  </a:lnTo>
                  <a:cubicBezTo>
                    <a:pt x="269835" y="175986"/>
                    <a:pt x="266697" y="177367"/>
                    <a:pt x="264358" y="179714"/>
                  </a:cubicBezTo>
                  <a:moveTo>
                    <a:pt x="29252" y="285750"/>
                  </a:moveTo>
                  <a:cubicBezTo>
                    <a:pt x="29252" y="317314"/>
                    <a:pt x="54837" y="342900"/>
                    <a:pt x="86402" y="342900"/>
                  </a:cubicBezTo>
                  <a:cubicBezTo>
                    <a:pt x="117966" y="342900"/>
                    <a:pt x="143552" y="317314"/>
                    <a:pt x="143552" y="285750"/>
                  </a:cubicBezTo>
                  <a:cubicBezTo>
                    <a:pt x="143552" y="254185"/>
                    <a:pt x="117966" y="228600"/>
                    <a:pt x="86402" y="228600"/>
                  </a:cubicBezTo>
                  <a:cubicBezTo>
                    <a:pt x="54837" y="228600"/>
                    <a:pt x="29252" y="254185"/>
                    <a:pt x="29252" y="285750"/>
                  </a:cubicBezTo>
                  <a:moveTo>
                    <a:pt x="86402" y="342900"/>
                  </a:moveTo>
                  <a:cubicBezTo>
                    <a:pt x="45333" y="342864"/>
                    <a:pt x="9706" y="371255"/>
                    <a:pt x="589" y="411304"/>
                  </a:cubicBezTo>
                  <a:cubicBezTo>
                    <a:pt x="0" y="413906"/>
                    <a:pt x="650" y="416632"/>
                    <a:pt x="2347" y="418689"/>
                  </a:cubicBezTo>
                  <a:cubicBezTo>
                    <a:pt x="4026" y="420861"/>
                    <a:pt x="6638" y="422101"/>
                    <a:pt x="9381" y="422030"/>
                  </a:cubicBezTo>
                  <a:lnTo>
                    <a:pt x="163422" y="422030"/>
                  </a:lnTo>
                  <a:cubicBezTo>
                    <a:pt x="166077" y="421978"/>
                    <a:pt x="168574" y="420747"/>
                    <a:pt x="170236" y="418680"/>
                  </a:cubicBezTo>
                  <a:cubicBezTo>
                    <a:pt x="171898" y="416605"/>
                    <a:pt x="172557" y="413906"/>
                    <a:pt x="172039" y="411304"/>
                  </a:cubicBezTo>
                  <a:cubicBezTo>
                    <a:pt x="162939" y="371325"/>
                    <a:pt x="127409" y="342943"/>
                    <a:pt x="86402" y="342900"/>
                  </a:cubicBezTo>
                  <a:moveTo>
                    <a:pt x="279656" y="285750"/>
                  </a:moveTo>
                  <a:cubicBezTo>
                    <a:pt x="279656" y="317314"/>
                    <a:pt x="305242" y="342900"/>
                    <a:pt x="336806" y="342900"/>
                  </a:cubicBezTo>
                  <a:cubicBezTo>
                    <a:pt x="368371" y="342900"/>
                    <a:pt x="393956" y="317314"/>
                    <a:pt x="393956" y="285750"/>
                  </a:cubicBezTo>
                  <a:cubicBezTo>
                    <a:pt x="393956" y="254185"/>
                    <a:pt x="368371" y="228600"/>
                    <a:pt x="336806" y="228600"/>
                  </a:cubicBezTo>
                  <a:cubicBezTo>
                    <a:pt x="305242" y="228600"/>
                    <a:pt x="279656" y="254185"/>
                    <a:pt x="279656" y="285750"/>
                  </a:cubicBezTo>
                  <a:moveTo>
                    <a:pt x="422619" y="411304"/>
                  </a:moveTo>
                  <a:cubicBezTo>
                    <a:pt x="413361" y="371483"/>
                    <a:pt x="377867" y="343295"/>
                    <a:pt x="336982" y="343295"/>
                  </a:cubicBezTo>
                  <a:cubicBezTo>
                    <a:pt x="296098" y="343295"/>
                    <a:pt x="260603" y="371483"/>
                    <a:pt x="251345" y="411304"/>
                  </a:cubicBezTo>
                  <a:cubicBezTo>
                    <a:pt x="250826" y="413906"/>
                    <a:pt x="251486" y="416605"/>
                    <a:pt x="253148" y="418680"/>
                  </a:cubicBezTo>
                  <a:cubicBezTo>
                    <a:pt x="254809" y="420747"/>
                    <a:pt x="257306" y="421978"/>
                    <a:pt x="259962" y="422030"/>
                  </a:cubicBezTo>
                  <a:lnTo>
                    <a:pt x="413827" y="422030"/>
                  </a:lnTo>
                  <a:cubicBezTo>
                    <a:pt x="416482" y="421978"/>
                    <a:pt x="418979" y="420747"/>
                    <a:pt x="420641" y="418680"/>
                  </a:cubicBezTo>
                  <a:cubicBezTo>
                    <a:pt x="422303" y="416605"/>
                    <a:pt x="422962" y="413906"/>
                    <a:pt x="422444" y="411304"/>
                  </a:cubicBezTo>
                  <a:moveTo>
                    <a:pt x="220396" y="43961"/>
                  </a:moveTo>
                  <a:cubicBezTo>
                    <a:pt x="198547" y="43961"/>
                    <a:pt x="180831" y="61678"/>
                    <a:pt x="180831" y="83526"/>
                  </a:cubicBezTo>
                  <a:cubicBezTo>
                    <a:pt x="180831" y="90806"/>
                    <a:pt x="186739" y="96715"/>
                    <a:pt x="194019" y="96715"/>
                  </a:cubicBezTo>
                  <a:cubicBezTo>
                    <a:pt x="201299" y="96715"/>
                    <a:pt x="207208" y="90806"/>
                    <a:pt x="207208" y="83526"/>
                  </a:cubicBezTo>
                  <a:cubicBezTo>
                    <a:pt x="207208" y="76246"/>
                    <a:pt x="213116" y="70338"/>
                    <a:pt x="220396" y="70338"/>
                  </a:cubicBezTo>
                  <a:cubicBezTo>
                    <a:pt x="227676" y="70338"/>
                    <a:pt x="233585" y="76246"/>
                    <a:pt x="233585" y="83526"/>
                  </a:cubicBezTo>
                  <a:cubicBezTo>
                    <a:pt x="233585" y="90806"/>
                    <a:pt x="227676" y="96715"/>
                    <a:pt x="220396" y="96715"/>
                  </a:cubicBezTo>
                  <a:cubicBezTo>
                    <a:pt x="213116" y="96715"/>
                    <a:pt x="207208" y="102623"/>
                    <a:pt x="207208" y="109903"/>
                  </a:cubicBezTo>
                  <a:cubicBezTo>
                    <a:pt x="207208" y="117183"/>
                    <a:pt x="213116" y="123092"/>
                    <a:pt x="220396" y="123092"/>
                  </a:cubicBezTo>
                  <a:cubicBezTo>
                    <a:pt x="242245" y="123092"/>
                    <a:pt x="259962" y="105375"/>
                    <a:pt x="259962" y="83526"/>
                  </a:cubicBezTo>
                  <a:cubicBezTo>
                    <a:pt x="259962" y="61678"/>
                    <a:pt x="242245" y="43961"/>
                    <a:pt x="220396" y="43961"/>
                  </a:cubicBezTo>
                  <a:moveTo>
                    <a:pt x="207208" y="149469"/>
                  </a:moveTo>
                  <a:cubicBezTo>
                    <a:pt x="207208" y="156749"/>
                    <a:pt x="213116" y="162657"/>
                    <a:pt x="220396" y="162657"/>
                  </a:cubicBezTo>
                  <a:cubicBezTo>
                    <a:pt x="227676" y="162657"/>
                    <a:pt x="233585" y="156749"/>
                    <a:pt x="233585" y="149469"/>
                  </a:cubicBezTo>
                  <a:cubicBezTo>
                    <a:pt x="233585" y="142189"/>
                    <a:pt x="227676" y="136280"/>
                    <a:pt x="220396" y="136280"/>
                  </a:cubicBezTo>
                  <a:cubicBezTo>
                    <a:pt x="213116" y="136280"/>
                    <a:pt x="207208" y="142189"/>
                    <a:pt x="207208" y="149469"/>
                  </a:cubicBezTo>
                </a:path>
              </a:pathLst>
            </a:custGeom>
            <a:solidFill>
              <a:srgbClr val="61ACA2">
                <a:alpha val="86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550" name="Rounded Rectangle 40">
              <a:extLst>
                <a:ext uri="{FF2B5EF4-FFF2-40B4-BE49-F238E27FC236}">
                  <a16:creationId xmlns:a16="http://schemas.microsoft.com/office/drawing/2014/main" id="{CAED6417-F9E9-C5F8-B6E5-160F48C4AE93}"/>
                </a:ext>
              </a:extLst>
            </p:cNvPr>
            <p:cNvSpPr/>
            <p:nvPr/>
          </p:nvSpPr>
          <p:spPr>
            <a:xfrm>
              <a:off x="3314923" y="3640015"/>
              <a:ext cx="422030" cy="426268"/>
            </a:xfrm>
            <a:custGeom>
              <a:avLst/>
              <a:gdLst/>
              <a:ahLst/>
              <a:cxnLst/>
              <a:rect l="0" t="0" r="0" b="0"/>
              <a:pathLst>
                <a:path w="422030" h="426268">
                  <a:moveTo>
                    <a:pt x="351692" y="131884"/>
                  </a:moveTo>
                  <a:cubicBezTo>
                    <a:pt x="351692" y="141600"/>
                    <a:pt x="343823" y="149469"/>
                    <a:pt x="334107" y="149469"/>
                  </a:cubicBezTo>
                  <a:lnTo>
                    <a:pt x="211015" y="149469"/>
                  </a:lnTo>
                  <a:cubicBezTo>
                    <a:pt x="201299" y="149469"/>
                    <a:pt x="193430" y="141600"/>
                    <a:pt x="193430" y="131884"/>
                  </a:cubicBezTo>
                  <a:cubicBezTo>
                    <a:pt x="193430" y="122169"/>
                    <a:pt x="201299" y="114300"/>
                    <a:pt x="211015" y="114300"/>
                  </a:cubicBezTo>
                  <a:lnTo>
                    <a:pt x="334107" y="114300"/>
                  </a:lnTo>
                  <a:cubicBezTo>
                    <a:pt x="343823" y="114300"/>
                    <a:pt x="351692" y="122169"/>
                    <a:pt x="351692" y="131884"/>
                  </a:cubicBezTo>
                  <a:moveTo>
                    <a:pt x="422030" y="77548"/>
                  </a:moveTo>
                  <a:cubicBezTo>
                    <a:pt x="421995" y="68237"/>
                    <a:pt x="418258" y="59321"/>
                    <a:pt x="411655" y="52753"/>
                  </a:cubicBezTo>
                  <a:lnTo>
                    <a:pt x="369276" y="10374"/>
                  </a:lnTo>
                  <a:cubicBezTo>
                    <a:pt x="362709" y="3771"/>
                    <a:pt x="353793" y="35"/>
                    <a:pt x="344482" y="0"/>
                  </a:cubicBezTo>
                  <a:lnTo>
                    <a:pt x="140676" y="0"/>
                  </a:lnTo>
                  <a:cubicBezTo>
                    <a:pt x="121254" y="0"/>
                    <a:pt x="105507" y="15747"/>
                    <a:pt x="105507" y="35169"/>
                  </a:cubicBezTo>
                  <a:lnTo>
                    <a:pt x="105507" y="163185"/>
                  </a:lnTo>
                  <a:cubicBezTo>
                    <a:pt x="105586" y="165515"/>
                    <a:pt x="107406" y="167405"/>
                    <a:pt x="109728" y="167581"/>
                  </a:cubicBezTo>
                  <a:cubicBezTo>
                    <a:pt x="116234" y="167581"/>
                    <a:pt x="127312" y="167581"/>
                    <a:pt x="135929" y="169164"/>
                  </a:cubicBezTo>
                  <a:cubicBezTo>
                    <a:pt x="137151" y="169260"/>
                    <a:pt x="138364" y="168838"/>
                    <a:pt x="139270" y="168003"/>
                  </a:cubicBezTo>
                  <a:cubicBezTo>
                    <a:pt x="140166" y="167168"/>
                    <a:pt x="140676" y="165998"/>
                    <a:pt x="140676" y="164767"/>
                  </a:cubicBezTo>
                  <a:lnTo>
                    <a:pt x="140676" y="43961"/>
                  </a:lnTo>
                  <a:cubicBezTo>
                    <a:pt x="140676" y="39108"/>
                    <a:pt x="144615" y="35169"/>
                    <a:pt x="149469" y="35169"/>
                  </a:cubicBezTo>
                  <a:lnTo>
                    <a:pt x="340789" y="35169"/>
                  </a:lnTo>
                  <a:cubicBezTo>
                    <a:pt x="343119" y="35142"/>
                    <a:pt x="345353" y="36101"/>
                    <a:pt x="346944" y="37806"/>
                  </a:cubicBezTo>
                  <a:lnTo>
                    <a:pt x="384223" y="75086"/>
                  </a:lnTo>
                  <a:cubicBezTo>
                    <a:pt x="385929" y="76677"/>
                    <a:pt x="386887" y="78910"/>
                    <a:pt x="386861" y="81240"/>
                  </a:cubicBezTo>
                  <a:lnTo>
                    <a:pt x="386861" y="316523"/>
                  </a:lnTo>
                  <a:cubicBezTo>
                    <a:pt x="386861" y="321376"/>
                    <a:pt x="382922" y="325315"/>
                    <a:pt x="378069" y="325315"/>
                  </a:cubicBezTo>
                  <a:lnTo>
                    <a:pt x="257438" y="325315"/>
                  </a:lnTo>
                  <a:cubicBezTo>
                    <a:pt x="255328" y="325376"/>
                    <a:pt x="253552" y="326924"/>
                    <a:pt x="253218" y="329008"/>
                  </a:cubicBezTo>
                  <a:cubicBezTo>
                    <a:pt x="251609" y="337747"/>
                    <a:pt x="249253" y="346337"/>
                    <a:pt x="246184" y="354681"/>
                  </a:cubicBezTo>
                  <a:cubicBezTo>
                    <a:pt x="245648" y="356000"/>
                    <a:pt x="245815" y="357512"/>
                    <a:pt x="246633" y="358682"/>
                  </a:cubicBezTo>
                  <a:cubicBezTo>
                    <a:pt x="247450" y="359851"/>
                    <a:pt x="248804" y="360528"/>
                    <a:pt x="250229" y="360484"/>
                  </a:cubicBezTo>
                  <a:lnTo>
                    <a:pt x="386861" y="360484"/>
                  </a:lnTo>
                  <a:cubicBezTo>
                    <a:pt x="406283" y="360484"/>
                    <a:pt x="422030" y="344737"/>
                    <a:pt x="422030" y="325315"/>
                  </a:cubicBezTo>
                  <a:lnTo>
                    <a:pt x="422030" y="77548"/>
                  </a:lnTo>
                  <a:moveTo>
                    <a:pt x="259548" y="228600"/>
                  </a:moveTo>
                  <a:cubicBezTo>
                    <a:pt x="257702" y="228600"/>
                    <a:pt x="256207" y="227105"/>
                    <a:pt x="256207" y="225258"/>
                  </a:cubicBezTo>
                  <a:lnTo>
                    <a:pt x="256207" y="215059"/>
                  </a:lnTo>
                  <a:cubicBezTo>
                    <a:pt x="256119" y="208439"/>
                    <a:pt x="254176" y="201976"/>
                    <a:pt x="250580" y="196420"/>
                  </a:cubicBezTo>
                  <a:cubicBezTo>
                    <a:pt x="250176" y="195804"/>
                    <a:pt x="250158" y="195013"/>
                    <a:pt x="250528" y="194380"/>
                  </a:cubicBezTo>
                  <a:cubicBezTo>
                    <a:pt x="250906" y="193747"/>
                    <a:pt x="251609" y="193378"/>
                    <a:pt x="252339" y="193430"/>
                  </a:cubicBezTo>
                  <a:lnTo>
                    <a:pt x="290146" y="193430"/>
                  </a:lnTo>
                  <a:cubicBezTo>
                    <a:pt x="299861" y="193430"/>
                    <a:pt x="307730" y="201299"/>
                    <a:pt x="307730" y="211015"/>
                  </a:cubicBezTo>
                  <a:cubicBezTo>
                    <a:pt x="307730" y="220730"/>
                    <a:pt x="299861" y="228600"/>
                    <a:pt x="290146" y="228600"/>
                  </a:cubicBezTo>
                  <a:lnTo>
                    <a:pt x="259548" y="228600"/>
                  </a:lnTo>
                  <a:moveTo>
                    <a:pt x="206970" y="327073"/>
                  </a:moveTo>
                  <a:cubicBezTo>
                    <a:pt x="198046" y="323970"/>
                    <a:pt x="188260" y="328471"/>
                    <a:pt x="184814" y="337272"/>
                  </a:cubicBezTo>
                  <a:cubicBezTo>
                    <a:pt x="180866" y="350531"/>
                    <a:pt x="173102" y="362339"/>
                    <a:pt x="162481" y="371211"/>
                  </a:cubicBezTo>
                  <a:cubicBezTo>
                    <a:pt x="132262" y="394968"/>
                    <a:pt x="88837" y="391363"/>
                    <a:pt x="62952" y="362946"/>
                  </a:cubicBezTo>
                  <a:cubicBezTo>
                    <a:pt x="61361" y="361205"/>
                    <a:pt x="61361" y="358532"/>
                    <a:pt x="62952" y="356791"/>
                  </a:cubicBezTo>
                  <a:lnTo>
                    <a:pt x="93198" y="326722"/>
                  </a:lnTo>
                  <a:cubicBezTo>
                    <a:pt x="96003" y="324119"/>
                    <a:pt x="96856" y="320022"/>
                    <a:pt x="95308" y="316523"/>
                  </a:cubicBezTo>
                  <a:cubicBezTo>
                    <a:pt x="93919" y="313665"/>
                    <a:pt x="91097" y="311784"/>
                    <a:pt x="87923" y="311599"/>
                  </a:cubicBezTo>
                  <a:lnTo>
                    <a:pt x="8792" y="311599"/>
                  </a:lnTo>
                  <a:cubicBezTo>
                    <a:pt x="3938" y="311599"/>
                    <a:pt x="0" y="315538"/>
                    <a:pt x="0" y="320391"/>
                  </a:cubicBezTo>
                  <a:lnTo>
                    <a:pt x="0" y="398819"/>
                  </a:lnTo>
                  <a:cubicBezTo>
                    <a:pt x="17" y="402371"/>
                    <a:pt x="2171" y="405562"/>
                    <a:pt x="5451" y="406907"/>
                  </a:cubicBezTo>
                  <a:cubicBezTo>
                    <a:pt x="8809" y="408262"/>
                    <a:pt x="12660" y="407259"/>
                    <a:pt x="14946" y="404446"/>
                  </a:cubicBezTo>
                  <a:lnTo>
                    <a:pt x="32531" y="386861"/>
                  </a:lnTo>
                  <a:cubicBezTo>
                    <a:pt x="33331" y="386008"/>
                    <a:pt x="34439" y="385525"/>
                    <a:pt x="35608" y="385525"/>
                  </a:cubicBezTo>
                  <a:cubicBezTo>
                    <a:pt x="36778" y="385525"/>
                    <a:pt x="37886" y="386008"/>
                    <a:pt x="38686" y="386861"/>
                  </a:cubicBezTo>
                  <a:cubicBezTo>
                    <a:pt x="64403" y="414319"/>
                    <a:pt x="102632" y="426268"/>
                    <a:pt x="139410" y="418346"/>
                  </a:cubicBezTo>
                  <a:cubicBezTo>
                    <a:pt x="176180" y="410424"/>
                    <a:pt x="206100" y="383784"/>
                    <a:pt x="218225" y="348175"/>
                  </a:cubicBezTo>
                  <a:cubicBezTo>
                    <a:pt x="220572" y="339277"/>
                    <a:pt x="215666" y="330080"/>
                    <a:pt x="206970" y="327073"/>
                  </a:cubicBezTo>
                  <a:moveTo>
                    <a:pt x="223148" y="206970"/>
                  </a:moveTo>
                  <a:cubicBezTo>
                    <a:pt x="219878" y="205704"/>
                    <a:pt x="216167" y="206460"/>
                    <a:pt x="213653" y="208905"/>
                  </a:cubicBezTo>
                  <a:lnTo>
                    <a:pt x="196068" y="226489"/>
                  </a:lnTo>
                  <a:cubicBezTo>
                    <a:pt x="195241" y="227351"/>
                    <a:pt x="194098" y="227835"/>
                    <a:pt x="192903" y="227835"/>
                  </a:cubicBezTo>
                  <a:cubicBezTo>
                    <a:pt x="191707" y="227835"/>
                    <a:pt x="190564" y="227351"/>
                    <a:pt x="189737" y="226489"/>
                  </a:cubicBezTo>
                  <a:cubicBezTo>
                    <a:pt x="163906" y="198969"/>
                    <a:pt x="125492" y="187082"/>
                    <a:pt x="88635" y="195198"/>
                  </a:cubicBezTo>
                  <a:cubicBezTo>
                    <a:pt x="51777" y="203313"/>
                    <a:pt x="21910" y="230235"/>
                    <a:pt x="10023" y="266055"/>
                  </a:cubicBezTo>
                  <a:cubicBezTo>
                    <a:pt x="6875" y="275234"/>
                    <a:pt x="11755" y="285222"/>
                    <a:pt x="20925" y="288387"/>
                  </a:cubicBezTo>
                  <a:cubicBezTo>
                    <a:pt x="29849" y="291491"/>
                    <a:pt x="39635" y="286989"/>
                    <a:pt x="43082" y="278188"/>
                  </a:cubicBezTo>
                  <a:cubicBezTo>
                    <a:pt x="47056" y="264991"/>
                    <a:pt x="54820" y="253244"/>
                    <a:pt x="65414" y="244426"/>
                  </a:cubicBezTo>
                  <a:cubicBezTo>
                    <a:pt x="95361" y="220625"/>
                    <a:pt x="138593" y="223922"/>
                    <a:pt x="164592" y="251987"/>
                  </a:cubicBezTo>
                  <a:cubicBezTo>
                    <a:pt x="166271" y="253693"/>
                    <a:pt x="166271" y="256436"/>
                    <a:pt x="164592" y="258142"/>
                  </a:cubicBezTo>
                  <a:lnTo>
                    <a:pt x="135225" y="287332"/>
                  </a:lnTo>
                  <a:cubicBezTo>
                    <a:pt x="132763" y="289847"/>
                    <a:pt x="132034" y="293583"/>
                    <a:pt x="133370" y="296837"/>
                  </a:cubicBezTo>
                  <a:cubicBezTo>
                    <a:pt x="134715" y="300090"/>
                    <a:pt x="137863" y="302226"/>
                    <a:pt x="141380" y="302279"/>
                  </a:cubicBezTo>
                  <a:lnTo>
                    <a:pt x="219807" y="302279"/>
                  </a:lnTo>
                  <a:cubicBezTo>
                    <a:pt x="224661" y="302279"/>
                    <a:pt x="228600" y="298340"/>
                    <a:pt x="228600" y="293487"/>
                  </a:cubicBezTo>
                  <a:lnTo>
                    <a:pt x="228600" y="215059"/>
                  </a:lnTo>
                  <a:cubicBezTo>
                    <a:pt x="228582" y="211507"/>
                    <a:pt x="226428" y="208316"/>
                    <a:pt x="223148" y="206970"/>
                  </a:cubicBezTo>
                </a:path>
              </a:pathLst>
            </a:custGeom>
            <a:solidFill>
              <a:srgbClr val="61ACA2">
                <a:alpha val="86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551" name="Rounded Rectangle 41">
              <a:extLst>
                <a:ext uri="{FF2B5EF4-FFF2-40B4-BE49-F238E27FC236}">
                  <a16:creationId xmlns:a16="http://schemas.microsoft.com/office/drawing/2014/main" id="{81BE3700-2138-B97F-86BC-ECD8BA7D8E09}"/>
                </a:ext>
              </a:extLst>
            </p:cNvPr>
            <p:cNvSpPr/>
            <p:nvPr/>
          </p:nvSpPr>
          <p:spPr>
            <a:xfrm>
              <a:off x="5372094" y="3648262"/>
              <a:ext cx="352149" cy="406195"/>
            </a:xfrm>
            <a:custGeom>
              <a:avLst/>
              <a:gdLst/>
              <a:ahLst/>
              <a:cxnLst/>
              <a:rect l="0" t="0" r="0" b="0"/>
              <a:pathLst>
                <a:path w="352149" h="406195">
                  <a:moveTo>
                    <a:pt x="351920" y="58046"/>
                  </a:moveTo>
                  <a:cubicBezTo>
                    <a:pt x="351991" y="47478"/>
                    <a:pt x="345871" y="37850"/>
                    <a:pt x="336270" y="33428"/>
                  </a:cubicBezTo>
                  <a:cubicBezTo>
                    <a:pt x="285811" y="11210"/>
                    <a:pt x="231202" y="0"/>
                    <a:pt x="176074" y="545"/>
                  </a:cubicBezTo>
                  <a:cubicBezTo>
                    <a:pt x="120946" y="0"/>
                    <a:pt x="66337" y="11210"/>
                    <a:pt x="15878" y="33428"/>
                  </a:cubicBezTo>
                  <a:cubicBezTo>
                    <a:pt x="6277" y="37850"/>
                    <a:pt x="158" y="47478"/>
                    <a:pt x="228" y="58046"/>
                  </a:cubicBezTo>
                  <a:lnTo>
                    <a:pt x="228" y="192393"/>
                  </a:lnTo>
                  <a:cubicBezTo>
                    <a:pt x="0" y="281626"/>
                    <a:pt x="54723" y="361794"/>
                    <a:pt x="137916" y="394088"/>
                  </a:cubicBezTo>
                  <a:lnTo>
                    <a:pt x="156731" y="401298"/>
                  </a:lnTo>
                  <a:cubicBezTo>
                    <a:pt x="169163" y="406195"/>
                    <a:pt x="182985" y="406195"/>
                    <a:pt x="195417" y="401298"/>
                  </a:cubicBezTo>
                  <a:lnTo>
                    <a:pt x="214233" y="394088"/>
                  </a:lnTo>
                  <a:cubicBezTo>
                    <a:pt x="297426" y="361794"/>
                    <a:pt x="352149" y="281626"/>
                    <a:pt x="351920" y="192393"/>
                  </a:cubicBezTo>
                  <a:lnTo>
                    <a:pt x="351920" y="58046"/>
                  </a:lnTo>
                  <a:moveTo>
                    <a:pt x="290550" y="136650"/>
                  </a:moveTo>
                  <a:lnTo>
                    <a:pt x="185042" y="281371"/>
                  </a:lnTo>
                  <a:cubicBezTo>
                    <a:pt x="180928" y="286972"/>
                    <a:pt x="174404" y="290295"/>
                    <a:pt x="167458" y="290339"/>
                  </a:cubicBezTo>
                  <a:cubicBezTo>
                    <a:pt x="161672" y="290313"/>
                    <a:pt x="156125" y="288044"/>
                    <a:pt x="151983" y="284009"/>
                  </a:cubicBezTo>
                  <a:lnTo>
                    <a:pt x="70567" y="202768"/>
                  </a:lnTo>
                  <a:cubicBezTo>
                    <a:pt x="61968" y="194169"/>
                    <a:pt x="61968" y="180242"/>
                    <a:pt x="70567" y="171643"/>
                  </a:cubicBezTo>
                  <a:cubicBezTo>
                    <a:pt x="79165" y="163044"/>
                    <a:pt x="93092" y="163044"/>
                    <a:pt x="101691" y="171643"/>
                  </a:cubicBezTo>
                  <a:lnTo>
                    <a:pt x="160424" y="230376"/>
                  </a:lnTo>
                  <a:cubicBezTo>
                    <a:pt x="161356" y="231290"/>
                    <a:pt x="162648" y="231738"/>
                    <a:pt x="163941" y="231606"/>
                  </a:cubicBezTo>
                  <a:cubicBezTo>
                    <a:pt x="165225" y="231580"/>
                    <a:pt x="166412" y="230921"/>
                    <a:pt x="167106" y="229848"/>
                  </a:cubicBezTo>
                  <a:lnTo>
                    <a:pt x="255029" y="109921"/>
                  </a:lnTo>
                  <a:cubicBezTo>
                    <a:pt x="262608" y="101533"/>
                    <a:pt x="275322" y="100267"/>
                    <a:pt x="284413" y="106993"/>
                  </a:cubicBezTo>
                  <a:cubicBezTo>
                    <a:pt x="293504" y="113719"/>
                    <a:pt x="296001" y="126239"/>
                    <a:pt x="290198" y="135946"/>
                  </a:cubicBezTo>
                  <a:lnTo>
                    <a:pt x="290198" y="136650"/>
                  </a:lnTo>
                </a:path>
              </a:pathLst>
            </a:custGeom>
            <a:solidFill>
              <a:srgbClr val="61ACA2">
                <a:alpha val="86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552" name="Rounded Rectangle 42">
              <a:extLst>
                <a:ext uri="{FF2B5EF4-FFF2-40B4-BE49-F238E27FC236}">
                  <a16:creationId xmlns:a16="http://schemas.microsoft.com/office/drawing/2014/main" id="{F1219B0D-C757-A353-9828-8D67B4635BD4}"/>
                </a:ext>
              </a:extLst>
            </p:cNvPr>
            <p:cNvSpPr/>
            <p:nvPr/>
          </p:nvSpPr>
          <p:spPr>
            <a:xfrm>
              <a:off x="4825767" y="4554846"/>
              <a:ext cx="423798" cy="359570"/>
            </a:xfrm>
            <a:custGeom>
              <a:avLst/>
              <a:gdLst/>
              <a:ahLst/>
              <a:cxnLst/>
              <a:rect l="0" t="0" r="0" b="0"/>
              <a:pathLst>
                <a:path w="423798" h="359570">
                  <a:moveTo>
                    <a:pt x="423463" y="219025"/>
                  </a:moveTo>
                  <a:cubicBezTo>
                    <a:pt x="423270" y="146321"/>
                    <a:pt x="364282" y="87492"/>
                    <a:pt x="291579" y="87492"/>
                  </a:cubicBezTo>
                  <a:cubicBezTo>
                    <a:pt x="268420" y="87333"/>
                    <a:pt x="245639" y="93400"/>
                    <a:pt x="225636" y="105076"/>
                  </a:cubicBezTo>
                  <a:cubicBezTo>
                    <a:pt x="224608" y="105639"/>
                    <a:pt x="223403" y="105771"/>
                    <a:pt x="222278" y="105437"/>
                  </a:cubicBezTo>
                  <a:cubicBezTo>
                    <a:pt x="221161" y="105112"/>
                    <a:pt x="220212" y="104347"/>
                    <a:pt x="219658" y="103318"/>
                  </a:cubicBezTo>
                  <a:lnTo>
                    <a:pt x="168135" y="14340"/>
                  </a:lnTo>
                  <a:cubicBezTo>
                    <a:pt x="163378" y="5503"/>
                    <a:pt x="154164" y="0"/>
                    <a:pt x="144132" y="0"/>
                  </a:cubicBezTo>
                  <a:cubicBezTo>
                    <a:pt x="134100" y="0"/>
                    <a:pt x="124885" y="5503"/>
                    <a:pt x="120129" y="14340"/>
                  </a:cubicBezTo>
                  <a:lnTo>
                    <a:pt x="5829" y="212518"/>
                  </a:lnTo>
                  <a:cubicBezTo>
                    <a:pt x="404" y="221073"/>
                    <a:pt x="0" y="231888"/>
                    <a:pt x="4774" y="240830"/>
                  </a:cubicBezTo>
                  <a:cubicBezTo>
                    <a:pt x="10137" y="249472"/>
                    <a:pt x="19765" y="254519"/>
                    <a:pt x="29920" y="254018"/>
                  </a:cubicBezTo>
                  <a:lnTo>
                    <a:pt x="161277" y="254018"/>
                  </a:lnTo>
                  <a:cubicBezTo>
                    <a:pt x="163229" y="254018"/>
                    <a:pt x="164952" y="255311"/>
                    <a:pt x="165497" y="257183"/>
                  </a:cubicBezTo>
                  <a:cubicBezTo>
                    <a:pt x="184154" y="320022"/>
                    <a:pt x="246184" y="359570"/>
                    <a:pt x="311027" y="349977"/>
                  </a:cubicBezTo>
                  <a:cubicBezTo>
                    <a:pt x="375871" y="340385"/>
                    <a:pt x="423798" y="284571"/>
                    <a:pt x="423463" y="219025"/>
                  </a:cubicBezTo>
                  <a:moveTo>
                    <a:pt x="241814" y="212343"/>
                  </a:moveTo>
                  <a:cubicBezTo>
                    <a:pt x="242676" y="213679"/>
                    <a:pt x="242676" y="215402"/>
                    <a:pt x="241814" y="216739"/>
                  </a:cubicBezTo>
                  <a:cubicBezTo>
                    <a:pt x="240970" y="218058"/>
                    <a:pt x="239511" y="218858"/>
                    <a:pt x="237946" y="218849"/>
                  </a:cubicBezTo>
                  <a:lnTo>
                    <a:pt x="199435" y="218849"/>
                  </a:lnTo>
                  <a:cubicBezTo>
                    <a:pt x="198222" y="218875"/>
                    <a:pt x="197061" y="218365"/>
                    <a:pt x="196270" y="217442"/>
                  </a:cubicBezTo>
                  <a:cubicBezTo>
                    <a:pt x="195373" y="216651"/>
                    <a:pt x="194907" y="215473"/>
                    <a:pt x="195039" y="214277"/>
                  </a:cubicBezTo>
                  <a:cubicBezTo>
                    <a:pt x="195751" y="198090"/>
                    <a:pt x="200596" y="182343"/>
                    <a:pt x="209107" y="168557"/>
                  </a:cubicBezTo>
                  <a:cubicBezTo>
                    <a:pt x="209846" y="167414"/>
                    <a:pt x="211085" y="166693"/>
                    <a:pt x="212448" y="166623"/>
                  </a:cubicBezTo>
                  <a:cubicBezTo>
                    <a:pt x="213987" y="166526"/>
                    <a:pt x="215437" y="167352"/>
                    <a:pt x="216141" y="168733"/>
                  </a:cubicBezTo>
                  <a:lnTo>
                    <a:pt x="241814" y="212343"/>
                  </a:lnTo>
                  <a:moveTo>
                    <a:pt x="140351" y="49685"/>
                  </a:moveTo>
                  <a:cubicBezTo>
                    <a:pt x="141116" y="48260"/>
                    <a:pt x="142602" y="47372"/>
                    <a:pt x="144220" y="47372"/>
                  </a:cubicBezTo>
                  <a:cubicBezTo>
                    <a:pt x="145838" y="47372"/>
                    <a:pt x="147323" y="48260"/>
                    <a:pt x="148088" y="49685"/>
                  </a:cubicBezTo>
                  <a:lnTo>
                    <a:pt x="192929" y="127409"/>
                  </a:lnTo>
                  <a:cubicBezTo>
                    <a:pt x="193967" y="128947"/>
                    <a:pt x="193967" y="130970"/>
                    <a:pt x="192929" y="132508"/>
                  </a:cubicBezTo>
                  <a:cubicBezTo>
                    <a:pt x="172584" y="155149"/>
                    <a:pt x="160828" y="184207"/>
                    <a:pt x="159694" y="214629"/>
                  </a:cubicBezTo>
                  <a:cubicBezTo>
                    <a:pt x="159518" y="216950"/>
                    <a:pt x="157628" y="218770"/>
                    <a:pt x="155298" y="218849"/>
                  </a:cubicBezTo>
                  <a:lnTo>
                    <a:pt x="49790" y="218849"/>
                  </a:lnTo>
                  <a:cubicBezTo>
                    <a:pt x="48269" y="218866"/>
                    <a:pt x="46862" y="218058"/>
                    <a:pt x="46098" y="216739"/>
                  </a:cubicBezTo>
                  <a:cubicBezTo>
                    <a:pt x="45236" y="215402"/>
                    <a:pt x="45236" y="213679"/>
                    <a:pt x="46098" y="212343"/>
                  </a:cubicBezTo>
                  <a:lnTo>
                    <a:pt x="140351" y="49685"/>
                  </a:lnTo>
                  <a:moveTo>
                    <a:pt x="291579" y="316092"/>
                  </a:moveTo>
                  <a:cubicBezTo>
                    <a:pt x="254027" y="316188"/>
                    <a:pt x="219781" y="294621"/>
                    <a:pt x="203656" y="260700"/>
                  </a:cubicBezTo>
                  <a:cubicBezTo>
                    <a:pt x="202970" y="259381"/>
                    <a:pt x="202970" y="257799"/>
                    <a:pt x="203656" y="256480"/>
                  </a:cubicBezTo>
                  <a:cubicBezTo>
                    <a:pt x="204359" y="255100"/>
                    <a:pt x="205810" y="254273"/>
                    <a:pt x="207348" y="254370"/>
                  </a:cubicBezTo>
                  <a:lnTo>
                    <a:pt x="257640" y="254370"/>
                  </a:lnTo>
                  <a:cubicBezTo>
                    <a:pt x="267892" y="254924"/>
                    <a:pt x="277599" y="249692"/>
                    <a:pt x="282786" y="240830"/>
                  </a:cubicBezTo>
                  <a:cubicBezTo>
                    <a:pt x="288027" y="232055"/>
                    <a:pt x="288027" y="221117"/>
                    <a:pt x="282786" y="212343"/>
                  </a:cubicBezTo>
                  <a:lnTo>
                    <a:pt x="241990" y="142004"/>
                  </a:lnTo>
                  <a:cubicBezTo>
                    <a:pt x="240786" y="139911"/>
                    <a:pt x="241498" y="137247"/>
                    <a:pt x="243573" y="136025"/>
                  </a:cubicBezTo>
                  <a:cubicBezTo>
                    <a:pt x="258089" y="127356"/>
                    <a:pt x="274671" y="122740"/>
                    <a:pt x="291579" y="122661"/>
                  </a:cubicBezTo>
                  <a:cubicBezTo>
                    <a:pt x="344992" y="122661"/>
                    <a:pt x="388294" y="165963"/>
                    <a:pt x="388294" y="219376"/>
                  </a:cubicBezTo>
                  <a:cubicBezTo>
                    <a:pt x="388294" y="272790"/>
                    <a:pt x="344992" y="316092"/>
                    <a:pt x="291579" y="316092"/>
                  </a:cubicBezTo>
                </a:path>
              </a:pathLst>
            </a:custGeom>
            <a:solidFill>
              <a:srgbClr val="61ACA2">
                <a:alpha val="86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553" name="Rounded Rectangle 43">
              <a:extLst>
                <a:ext uri="{FF2B5EF4-FFF2-40B4-BE49-F238E27FC236}">
                  <a16:creationId xmlns:a16="http://schemas.microsoft.com/office/drawing/2014/main" id="{BC107E81-B435-3E7C-ED6C-AD6EA0C88F99}"/>
                </a:ext>
              </a:extLst>
            </p:cNvPr>
            <p:cNvSpPr/>
            <p:nvPr/>
          </p:nvSpPr>
          <p:spPr>
            <a:xfrm>
              <a:off x="3824833" y="4519730"/>
              <a:ext cx="421230" cy="420623"/>
            </a:xfrm>
            <a:custGeom>
              <a:avLst/>
              <a:gdLst/>
              <a:ahLst/>
              <a:cxnLst/>
              <a:rect l="0" t="0" r="0" b="0"/>
              <a:pathLst>
                <a:path w="421230" h="420623">
                  <a:moveTo>
                    <a:pt x="266099" y="43653"/>
                  </a:moveTo>
                  <a:cubicBezTo>
                    <a:pt x="286936" y="50511"/>
                    <a:pt x="306315" y="61185"/>
                    <a:pt x="323249" y="75130"/>
                  </a:cubicBezTo>
                  <a:cubicBezTo>
                    <a:pt x="326414" y="77750"/>
                    <a:pt x="330397" y="79183"/>
                    <a:pt x="334503" y="79174"/>
                  </a:cubicBezTo>
                  <a:cubicBezTo>
                    <a:pt x="341924" y="79192"/>
                    <a:pt x="348553" y="74549"/>
                    <a:pt x="351076" y="67568"/>
                  </a:cubicBezTo>
                  <a:cubicBezTo>
                    <a:pt x="353600" y="60596"/>
                    <a:pt x="351472" y="52780"/>
                    <a:pt x="345757" y="48049"/>
                  </a:cubicBezTo>
                  <a:cubicBezTo>
                    <a:pt x="325394" y="31230"/>
                    <a:pt x="302077" y="18349"/>
                    <a:pt x="277001" y="10067"/>
                  </a:cubicBezTo>
                  <a:cubicBezTo>
                    <a:pt x="272543" y="8634"/>
                    <a:pt x="267708" y="9029"/>
                    <a:pt x="263549" y="11175"/>
                  </a:cubicBezTo>
                  <a:cubicBezTo>
                    <a:pt x="259390" y="13320"/>
                    <a:pt x="256260" y="17039"/>
                    <a:pt x="254845" y="21497"/>
                  </a:cubicBezTo>
                  <a:cubicBezTo>
                    <a:pt x="251838" y="30720"/>
                    <a:pt x="256876" y="40638"/>
                    <a:pt x="266099" y="43653"/>
                  </a:cubicBezTo>
                  <a:moveTo>
                    <a:pt x="399214" y="115399"/>
                  </a:moveTo>
                  <a:cubicBezTo>
                    <a:pt x="396471" y="109613"/>
                    <a:pt x="390791" y="105771"/>
                    <a:pt x="384399" y="105384"/>
                  </a:cubicBezTo>
                  <a:cubicBezTo>
                    <a:pt x="377998" y="104997"/>
                    <a:pt x="371905" y="108110"/>
                    <a:pt x="368476" y="113526"/>
                  </a:cubicBezTo>
                  <a:cubicBezTo>
                    <a:pt x="365047" y="118933"/>
                    <a:pt x="364828" y="125782"/>
                    <a:pt x="367914" y="131401"/>
                  </a:cubicBezTo>
                  <a:cubicBezTo>
                    <a:pt x="377691" y="151025"/>
                    <a:pt x="383661" y="172329"/>
                    <a:pt x="385498" y="194178"/>
                  </a:cubicBezTo>
                  <a:cubicBezTo>
                    <a:pt x="386404" y="203199"/>
                    <a:pt x="394018" y="210048"/>
                    <a:pt x="403083" y="210004"/>
                  </a:cubicBezTo>
                  <a:lnTo>
                    <a:pt x="404490" y="210004"/>
                  </a:lnTo>
                  <a:cubicBezTo>
                    <a:pt x="414152" y="209081"/>
                    <a:pt x="421230" y="200499"/>
                    <a:pt x="420316" y="190837"/>
                  </a:cubicBezTo>
                  <a:cubicBezTo>
                    <a:pt x="418091" y="164591"/>
                    <a:pt x="410934" y="138997"/>
                    <a:pt x="399214" y="115399"/>
                  </a:cubicBezTo>
                  <a:moveTo>
                    <a:pt x="400093" y="254317"/>
                  </a:moveTo>
                  <a:cubicBezTo>
                    <a:pt x="390870" y="251310"/>
                    <a:pt x="380953" y="256348"/>
                    <a:pt x="377937" y="265571"/>
                  </a:cubicBezTo>
                  <a:cubicBezTo>
                    <a:pt x="371079" y="286409"/>
                    <a:pt x="360405" y="305787"/>
                    <a:pt x="346460" y="322721"/>
                  </a:cubicBezTo>
                  <a:cubicBezTo>
                    <a:pt x="343471" y="326308"/>
                    <a:pt x="342029" y="330942"/>
                    <a:pt x="342460" y="335593"/>
                  </a:cubicBezTo>
                  <a:cubicBezTo>
                    <a:pt x="342891" y="340244"/>
                    <a:pt x="345150" y="344535"/>
                    <a:pt x="348746" y="347515"/>
                  </a:cubicBezTo>
                  <a:cubicBezTo>
                    <a:pt x="351912" y="350136"/>
                    <a:pt x="355895" y="351569"/>
                    <a:pt x="360001" y="351560"/>
                  </a:cubicBezTo>
                  <a:cubicBezTo>
                    <a:pt x="365258" y="351525"/>
                    <a:pt x="370226" y="349142"/>
                    <a:pt x="373541" y="345054"/>
                  </a:cubicBezTo>
                  <a:cubicBezTo>
                    <a:pt x="390378" y="324770"/>
                    <a:pt x="403259" y="301505"/>
                    <a:pt x="411523" y="276474"/>
                  </a:cubicBezTo>
                  <a:cubicBezTo>
                    <a:pt x="412957" y="272016"/>
                    <a:pt x="412561" y="267180"/>
                    <a:pt x="410416" y="263021"/>
                  </a:cubicBezTo>
                  <a:cubicBezTo>
                    <a:pt x="408270" y="258863"/>
                    <a:pt x="404551" y="255733"/>
                    <a:pt x="400093" y="254317"/>
                  </a:cubicBezTo>
                  <a:moveTo>
                    <a:pt x="290190" y="367386"/>
                  </a:moveTo>
                  <a:cubicBezTo>
                    <a:pt x="270565" y="377163"/>
                    <a:pt x="249261" y="383133"/>
                    <a:pt x="227413" y="384971"/>
                  </a:cubicBezTo>
                  <a:cubicBezTo>
                    <a:pt x="217697" y="385454"/>
                    <a:pt x="210224" y="393719"/>
                    <a:pt x="210707" y="403435"/>
                  </a:cubicBezTo>
                  <a:cubicBezTo>
                    <a:pt x="211191" y="413150"/>
                    <a:pt x="219455" y="420623"/>
                    <a:pt x="229171" y="420140"/>
                  </a:cubicBezTo>
                  <a:lnTo>
                    <a:pt x="230754" y="420140"/>
                  </a:lnTo>
                  <a:cubicBezTo>
                    <a:pt x="257051" y="417696"/>
                    <a:pt x="282646" y="410293"/>
                    <a:pt x="306192" y="398335"/>
                  </a:cubicBezTo>
                  <a:cubicBezTo>
                    <a:pt x="311977" y="395592"/>
                    <a:pt x="315819" y="389912"/>
                    <a:pt x="316206" y="383520"/>
                  </a:cubicBezTo>
                  <a:cubicBezTo>
                    <a:pt x="316593" y="377119"/>
                    <a:pt x="313480" y="371026"/>
                    <a:pt x="308064" y="367597"/>
                  </a:cubicBezTo>
                  <a:cubicBezTo>
                    <a:pt x="302657" y="364168"/>
                    <a:pt x="295808" y="363948"/>
                    <a:pt x="290190" y="367034"/>
                  </a:cubicBezTo>
                  <a:moveTo>
                    <a:pt x="156019" y="377409"/>
                  </a:moveTo>
                  <a:cubicBezTo>
                    <a:pt x="135181" y="370551"/>
                    <a:pt x="115803" y="359877"/>
                    <a:pt x="98869" y="345933"/>
                  </a:cubicBezTo>
                  <a:cubicBezTo>
                    <a:pt x="91387" y="339717"/>
                    <a:pt x="80291" y="340737"/>
                    <a:pt x="74075" y="348219"/>
                  </a:cubicBezTo>
                  <a:cubicBezTo>
                    <a:pt x="67859" y="355701"/>
                    <a:pt x="68878" y="366797"/>
                    <a:pt x="76361" y="373013"/>
                  </a:cubicBezTo>
                  <a:cubicBezTo>
                    <a:pt x="96724" y="389833"/>
                    <a:pt x="120041" y="402714"/>
                    <a:pt x="145117" y="410996"/>
                  </a:cubicBezTo>
                  <a:cubicBezTo>
                    <a:pt x="146884" y="411532"/>
                    <a:pt x="148721" y="411822"/>
                    <a:pt x="150568" y="411875"/>
                  </a:cubicBezTo>
                  <a:cubicBezTo>
                    <a:pt x="160283" y="413379"/>
                    <a:pt x="169375" y="406732"/>
                    <a:pt x="170878" y="397016"/>
                  </a:cubicBezTo>
                  <a:cubicBezTo>
                    <a:pt x="172381" y="387301"/>
                    <a:pt x="165735" y="378209"/>
                    <a:pt x="156019" y="376706"/>
                  </a:cubicBezTo>
                  <a:lnTo>
                    <a:pt x="156019" y="377409"/>
                  </a:lnTo>
                  <a:moveTo>
                    <a:pt x="36092" y="226885"/>
                  </a:moveTo>
                  <a:cubicBezTo>
                    <a:pt x="35169" y="217169"/>
                    <a:pt x="26552" y="210048"/>
                    <a:pt x="16837" y="210971"/>
                  </a:cubicBezTo>
                  <a:cubicBezTo>
                    <a:pt x="7121" y="211885"/>
                    <a:pt x="0" y="220511"/>
                    <a:pt x="923" y="230226"/>
                  </a:cubicBezTo>
                  <a:cubicBezTo>
                    <a:pt x="3428" y="256533"/>
                    <a:pt x="10884" y="282127"/>
                    <a:pt x="22903" y="305664"/>
                  </a:cubicBezTo>
                  <a:cubicBezTo>
                    <a:pt x="25928" y="311511"/>
                    <a:pt x="31968" y="315177"/>
                    <a:pt x="38554" y="315160"/>
                  </a:cubicBezTo>
                  <a:cubicBezTo>
                    <a:pt x="41288" y="315195"/>
                    <a:pt x="44005" y="314597"/>
                    <a:pt x="46467" y="313401"/>
                  </a:cubicBezTo>
                  <a:cubicBezTo>
                    <a:pt x="50652" y="311291"/>
                    <a:pt x="53826" y="307598"/>
                    <a:pt x="55277" y="303141"/>
                  </a:cubicBezTo>
                  <a:cubicBezTo>
                    <a:pt x="56736" y="298683"/>
                    <a:pt x="56349" y="293830"/>
                    <a:pt x="54204" y="289662"/>
                  </a:cubicBezTo>
                  <a:cubicBezTo>
                    <a:pt x="44322" y="270046"/>
                    <a:pt x="38176" y="248751"/>
                    <a:pt x="36092" y="226885"/>
                  </a:cubicBezTo>
                  <a:moveTo>
                    <a:pt x="22024" y="166746"/>
                  </a:moveTo>
                  <a:cubicBezTo>
                    <a:pt x="23765" y="167387"/>
                    <a:pt x="25620" y="167686"/>
                    <a:pt x="27475" y="167625"/>
                  </a:cubicBezTo>
                  <a:cubicBezTo>
                    <a:pt x="35081" y="167616"/>
                    <a:pt x="41825" y="162728"/>
                    <a:pt x="44181" y="155491"/>
                  </a:cubicBezTo>
                  <a:cubicBezTo>
                    <a:pt x="51039" y="134654"/>
                    <a:pt x="61713" y="115275"/>
                    <a:pt x="75657" y="98341"/>
                  </a:cubicBezTo>
                  <a:cubicBezTo>
                    <a:pt x="81873" y="90859"/>
                    <a:pt x="80854" y="79763"/>
                    <a:pt x="73371" y="73547"/>
                  </a:cubicBezTo>
                  <a:cubicBezTo>
                    <a:pt x="65889" y="67331"/>
                    <a:pt x="54793" y="68351"/>
                    <a:pt x="48577" y="75833"/>
                  </a:cubicBezTo>
                  <a:cubicBezTo>
                    <a:pt x="31757" y="96196"/>
                    <a:pt x="18877" y="119513"/>
                    <a:pt x="10594" y="144589"/>
                  </a:cubicBezTo>
                  <a:cubicBezTo>
                    <a:pt x="9161" y="149047"/>
                    <a:pt x="9557" y="153882"/>
                    <a:pt x="11702" y="158041"/>
                  </a:cubicBezTo>
                  <a:cubicBezTo>
                    <a:pt x="13847" y="162200"/>
                    <a:pt x="17567" y="165330"/>
                    <a:pt x="22024" y="166746"/>
                  </a:cubicBezTo>
                  <a:moveTo>
                    <a:pt x="124015" y="55611"/>
                  </a:moveTo>
                  <a:cubicBezTo>
                    <a:pt x="126767" y="55558"/>
                    <a:pt x="129466" y="54899"/>
                    <a:pt x="131928" y="53677"/>
                  </a:cubicBezTo>
                  <a:cubicBezTo>
                    <a:pt x="151553" y="43899"/>
                    <a:pt x="172856" y="37930"/>
                    <a:pt x="194705" y="36092"/>
                  </a:cubicBezTo>
                  <a:cubicBezTo>
                    <a:pt x="204421" y="35169"/>
                    <a:pt x="211542" y="26552"/>
                    <a:pt x="210619" y="16837"/>
                  </a:cubicBezTo>
                  <a:cubicBezTo>
                    <a:pt x="209705" y="7121"/>
                    <a:pt x="201080" y="0"/>
                    <a:pt x="191364" y="923"/>
                  </a:cubicBezTo>
                  <a:cubicBezTo>
                    <a:pt x="165093" y="3261"/>
                    <a:pt x="139498" y="10541"/>
                    <a:pt x="115926" y="22376"/>
                  </a:cubicBezTo>
                  <a:cubicBezTo>
                    <a:pt x="107371" y="26825"/>
                    <a:pt x="103995" y="37340"/>
                    <a:pt x="108365" y="45939"/>
                  </a:cubicBezTo>
                  <a:cubicBezTo>
                    <a:pt x="111345" y="51857"/>
                    <a:pt x="117394" y="55593"/>
                    <a:pt x="124015" y="55611"/>
                  </a:cubicBezTo>
                  <a:moveTo>
                    <a:pt x="351736" y="210531"/>
                  </a:moveTo>
                  <a:cubicBezTo>
                    <a:pt x="351736" y="132834"/>
                    <a:pt x="288756" y="69854"/>
                    <a:pt x="211059" y="69854"/>
                  </a:cubicBezTo>
                  <a:cubicBezTo>
                    <a:pt x="133361" y="69854"/>
                    <a:pt x="70382" y="132834"/>
                    <a:pt x="70382" y="210531"/>
                  </a:cubicBezTo>
                  <a:cubicBezTo>
                    <a:pt x="70382" y="288229"/>
                    <a:pt x="133361" y="351208"/>
                    <a:pt x="211059" y="351208"/>
                  </a:cubicBezTo>
                  <a:cubicBezTo>
                    <a:pt x="288756" y="351208"/>
                    <a:pt x="351736" y="288229"/>
                    <a:pt x="351736" y="210531"/>
                  </a:cubicBezTo>
                  <a:moveTo>
                    <a:pt x="273484" y="267857"/>
                  </a:moveTo>
                  <a:cubicBezTo>
                    <a:pt x="268332" y="273001"/>
                    <a:pt x="259997" y="273001"/>
                    <a:pt x="254845" y="267857"/>
                  </a:cubicBezTo>
                  <a:lnTo>
                    <a:pt x="202091" y="219499"/>
                  </a:lnTo>
                  <a:cubicBezTo>
                    <a:pt x="199418" y="216994"/>
                    <a:pt x="197888" y="213494"/>
                    <a:pt x="197870" y="209828"/>
                  </a:cubicBezTo>
                  <a:lnTo>
                    <a:pt x="197870" y="140193"/>
                  </a:lnTo>
                  <a:cubicBezTo>
                    <a:pt x="197870" y="132913"/>
                    <a:pt x="203779" y="127004"/>
                    <a:pt x="211059" y="127004"/>
                  </a:cubicBezTo>
                  <a:cubicBezTo>
                    <a:pt x="218339" y="127004"/>
                    <a:pt x="224247" y="132913"/>
                    <a:pt x="224247" y="140193"/>
                  </a:cubicBezTo>
                  <a:lnTo>
                    <a:pt x="224247" y="204728"/>
                  </a:lnTo>
                  <a:lnTo>
                    <a:pt x="272781" y="249217"/>
                  </a:lnTo>
                  <a:cubicBezTo>
                    <a:pt x="278127" y="254168"/>
                    <a:pt x="278434" y="262520"/>
                    <a:pt x="273484" y="267857"/>
                  </a:cubicBezTo>
                </a:path>
              </a:pathLst>
            </a:custGeom>
            <a:solidFill>
              <a:srgbClr val="61ACA2">
                <a:alpha val="86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7554" name="Group 17553">
              <a:extLst>
                <a:ext uri="{FF2B5EF4-FFF2-40B4-BE49-F238E27FC236}">
                  <a16:creationId xmlns:a16="http://schemas.microsoft.com/office/drawing/2014/main" id="{DA934044-550C-5F48-779A-2FAEA5BB5392}"/>
                </a:ext>
              </a:extLst>
            </p:cNvPr>
            <p:cNvGrpSpPr/>
            <p:nvPr/>
          </p:nvGrpSpPr>
          <p:grpSpPr>
            <a:xfrm>
              <a:off x="5640972" y="1995017"/>
              <a:ext cx="2391385" cy="649749"/>
              <a:chOff x="5183772" y="1177332"/>
              <a:chExt cx="2391385" cy="649749"/>
            </a:xfrm>
          </p:grpSpPr>
          <p:sp>
            <p:nvSpPr>
              <p:cNvPr id="17581" name="TextBox 17580">
                <a:extLst>
                  <a:ext uri="{FF2B5EF4-FFF2-40B4-BE49-F238E27FC236}">
                    <a16:creationId xmlns:a16="http://schemas.microsoft.com/office/drawing/2014/main" id="{2BD59BA5-1867-12FA-3EDF-5F5733C6DE6B}"/>
                  </a:ext>
                </a:extLst>
              </p:cNvPr>
              <p:cNvSpPr txBox="1"/>
              <p:nvPr/>
            </p:nvSpPr>
            <p:spPr>
              <a:xfrm>
                <a:off x="5199335" y="1177332"/>
                <a:ext cx="2375822" cy="3309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50" b="0" dirty="0">
                    <a:solidFill>
                      <a:srgbClr val="58405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Find sites without knowing</a:t>
                </a:r>
              </a:p>
            </p:txBody>
          </p:sp>
          <p:sp>
            <p:nvSpPr>
              <p:cNvPr id="17582" name="TextBox 17581">
                <a:extLst>
                  <a:ext uri="{FF2B5EF4-FFF2-40B4-BE49-F238E27FC236}">
                    <a16:creationId xmlns:a16="http://schemas.microsoft.com/office/drawing/2014/main" id="{D1273318-06AD-9371-0662-0031A1B291A4}"/>
                  </a:ext>
                </a:extLst>
              </p:cNvPr>
              <p:cNvSpPr txBox="1"/>
              <p:nvPr/>
            </p:nvSpPr>
            <p:spPr>
              <a:xfrm>
                <a:off x="5183772" y="1496183"/>
                <a:ext cx="2375823" cy="3308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50" b="0" dirty="0">
                    <a:solidFill>
                      <a:srgbClr val="58405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where to look first.</a:t>
                </a:r>
              </a:p>
            </p:txBody>
          </p:sp>
        </p:grpSp>
        <p:sp>
          <p:nvSpPr>
            <p:cNvPr id="17555" name="TextBox 17554">
              <a:extLst>
                <a:ext uri="{FF2B5EF4-FFF2-40B4-BE49-F238E27FC236}">
                  <a16:creationId xmlns:a16="http://schemas.microsoft.com/office/drawing/2014/main" id="{1B2E484F-3187-6CFB-6EFF-99EB8116B3F3}"/>
                </a:ext>
              </a:extLst>
            </p:cNvPr>
            <p:cNvSpPr txBox="1"/>
            <p:nvPr/>
          </p:nvSpPr>
          <p:spPr>
            <a:xfrm>
              <a:off x="1291218" y="3255917"/>
              <a:ext cx="1456510" cy="1899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200" b="1" dirty="0">
                  <a:solidFill>
                    <a:srgbClr val="584053"/>
                  </a:solidFill>
                  <a:latin typeface="Montserrat"/>
                </a:rPr>
                <a:t>Full Provenance</a:t>
              </a:r>
            </a:p>
          </p:txBody>
        </p:sp>
        <p:sp>
          <p:nvSpPr>
            <p:cNvPr id="17578" name="TextBox 17577">
              <a:extLst>
                <a:ext uri="{FF2B5EF4-FFF2-40B4-BE49-F238E27FC236}">
                  <a16:creationId xmlns:a16="http://schemas.microsoft.com/office/drawing/2014/main" id="{6C048EAF-9F5D-BC02-D875-A2A6C62961EE}"/>
                </a:ext>
              </a:extLst>
            </p:cNvPr>
            <p:cNvSpPr txBox="1"/>
            <p:nvPr/>
          </p:nvSpPr>
          <p:spPr>
            <a:xfrm>
              <a:off x="1119844" y="1957671"/>
              <a:ext cx="2195079" cy="7658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lang="en-US" sz="1050" b="0" dirty="0">
                  <a:solidFill>
                    <a:srgbClr val="58405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Confounds filtered out</a:t>
              </a:r>
            </a:p>
            <a:p>
              <a:pPr algn="r"/>
              <a:r>
                <a:rPr lang="en-US" sz="1050" b="0" dirty="0">
                  <a:solidFill>
                    <a:srgbClr val="58405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before inference</a:t>
              </a:r>
              <a:endParaRPr sz="1050" b="0" dirty="0">
                <a:solidFill>
                  <a:srgbClr val="58405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57" name="TextBox 17556">
              <a:extLst>
                <a:ext uri="{FF2B5EF4-FFF2-40B4-BE49-F238E27FC236}">
                  <a16:creationId xmlns:a16="http://schemas.microsoft.com/office/drawing/2014/main" id="{69EE63AF-48A7-66A4-4D0A-A2A357252003}"/>
                </a:ext>
              </a:extLst>
            </p:cNvPr>
            <p:cNvSpPr txBox="1"/>
            <p:nvPr/>
          </p:nvSpPr>
          <p:spPr>
            <a:xfrm>
              <a:off x="5668265" y="1633968"/>
              <a:ext cx="1969278" cy="1899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200" b="1" dirty="0">
                  <a:solidFill>
                    <a:srgbClr val="584053"/>
                  </a:solidFill>
                  <a:latin typeface="Montserrat"/>
                </a:rPr>
                <a:t>Search by Meaning</a:t>
              </a:r>
            </a:p>
          </p:txBody>
        </p:sp>
        <p:sp>
          <p:nvSpPr>
            <p:cNvPr id="17558" name="TextBox 17557">
              <a:extLst>
                <a:ext uri="{FF2B5EF4-FFF2-40B4-BE49-F238E27FC236}">
                  <a16:creationId xmlns:a16="http://schemas.microsoft.com/office/drawing/2014/main" id="{1A944A80-BDA6-F100-513F-E838F4D2E38E}"/>
                </a:ext>
              </a:extLst>
            </p:cNvPr>
            <p:cNvSpPr txBox="1"/>
            <p:nvPr/>
          </p:nvSpPr>
          <p:spPr>
            <a:xfrm>
              <a:off x="6294618" y="3276031"/>
              <a:ext cx="1473698" cy="1899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200" b="1" dirty="0">
                  <a:solidFill>
                    <a:srgbClr val="584053"/>
                  </a:solidFill>
                  <a:latin typeface="Montserrat"/>
                </a:rPr>
                <a:t>Analyst Trust</a:t>
              </a:r>
            </a:p>
          </p:txBody>
        </p:sp>
        <p:sp>
          <p:nvSpPr>
            <p:cNvPr id="17575" name="TextBox 17574">
              <a:extLst>
                <a:ext uri="{FF2B5EF4-FFF2-40B4-BE49-F238E27FC236}">
                  <a16:creationId xmlns:a16="http://schemas.microsoft.com/office/drawing/2014/main" id="{D1FBFD7D-9C3A-CC78-C584-A52A84F90043}"/>
                </a:ext>
              </a:extLst>
            </p:cNvPr>
            <p:cNvSpPr txBox="1"/>
            <p:nvPr/>
          </p:nvSpPr>
          <p:spPr>
            <a:xfrm>
              <a:off x="542516" y="3680889"/>
              <a:ext cx="2142012" cy="8144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lang="en-US" sz="1050" dirty="0">
                  <a:solidFill>
                    <a:srgbClr val="58405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Scene, model and</a:t>
              </a:r>
            </a:p>
            <a:p>
              <a:pPr algn="r"/>
              <a:r>
                <a:rPr lang="en-US" sz="1050" dirty="0">
                  <a:solidFill>
                    <a:srgbClr val="58405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processing path recorded</a:t>
              </a:r>
              <a:endParaRPr sz="1050" b="0" dirty="0">
                <a:solidFill>
                  <a:srgbClr val="58405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7560" name="Group 17559">
              <a:extLst>
                <a:ext uri="{FF2B5EF4-FFF2-40B4-BE49-F238E27FC236}">
                  <a16:creationId xmlns:a16="http://schemas.microsoft.com/office/drawing/2014/main" id="{0192798A-6AE6-41A6-F6F7-6D55CBAC699F}"/>
                </a:ext>
              </a:extLst>
            </p:cNvPr>
            <p:cNvGrpSpPr/>
            <p:nvPr/>
          </p:nvGrpSpPr>
          <p:grpSpPr>
            <a:xfrm>
              <a:off x="6330721" y="3628314"/>
              <a:ext cx="2190396" cy="699720"/>
              <a:chOff x="5873521" y="2810629"/>
              <a:chExt cx="2190396" cy="699720"/>
            </a:xfrm>
          </p:grpSpPr>
          <p:sp>
            <p:nvSpPr>
              <p:cNvPr id="17572" name="TextBox 17571">
                <a:extLst>
                  <a:ext uri="{FF2B5EF4-FFF2-40B4-BE49-F238E27FC236}">
                    <a16:creationId xmlns:a16="http://schemas.microsoft.com/office/drawing/2014/main" id="{1F2D3233-304D-ED36-D57C-A8B3CE81ACD7}"/>
                  </a:ext>
                </a:extLst>
              </p:cNvPr>
              <p:cNvSpPr txBox="1"/>
              <p:nvPr/>
            </p:nvSpPr>
            <p:spPr>
              <a:xfrm>
                <a:off x="5873521" y="2810629"/>
                <a:ext cx="2174777" cy="1582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lang="en-US" sz="1050" b="0" dirty="0">
                    <a:solidFill>
                      <a:srgbClr val="58405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Before/after comparison,</a:t>
                </a:r>
                <a:endParaRPr sz="1050" b="0" dirty="0">
                  <a:solidFill>
                    <a:srgbClr val="584053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573" name="TextBox 17572">
                <a:extLst>
                  <a:ext uri="{FF2B5EF4-FFF2-40B4-BE49-F238E27FC236}">
                    <a16:creationId xmlns:a16="http://schemas.microsoft.com/office/drawing/2014/main" id="{4AAD4C59-6852-3C40-CE10-2BE25CBFB9A4}"/>
                  </a:ext>
                </a:extLst>
              </p:cNvPr>
              <p:cNvSpPr txBox="1"/>
              <p:nvPr/>
            </p:nvSpPr>
            <p:spPr>
              <a:xfrm>
                <a:off x="5889141" y="3094633"/>
                <a:ext cx="2174776" cy="1582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50" b="0" dirty="0">
                    <a:solidFill>
                      <a:srgbClr val="58405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calibrated confidence,</a:t>
                </a:r>
              </a:p>
            </p:txBody>
          </p:sp>
          <p:sp>
            <p:nvSpPr>
              <p:cNvPr id="17574" name="TextBox 17573">
                <a:extLst>
                  <a:ext uri="{FF2B5EF4-FFF2-40B4-BE49-F238E27FC236}">
                    <a16:creationId xmlns:a16="http://schemas.microsoft.com/office/drawing/2014/main" id="{C2F8A205-94C9-ED05-17E5-70AE7172FAD4}"/>
                  </a:ext>
                </a:extLst>
              </p:cNvPr>
              <p:cNvSpPr txBox="1"/>
              <p:nvPr/>
            </p:nvSpPr>
            <p:spPr>
              <a:xfrm>
                <a:off x="5889141" y="3352131"/>
                <a:ext cx="2174776" cy="158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50" b="0" dirty="0">
                    <a:solidFill>
                      <a:srgbClr val="58405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audit-trail of decisions.</a:t>
                </a:r>
              </a:p>
            </p:txBody>
          </p:sp>
        </p:grpSp>
        <p:sp>
          <p:nvSpPr>
            <p:cNvPr id="17561" name="TextBox 17560">
              <a:extLst>
                <a:ext uri="{FF2B5EF4-FFF2-40B4-BE49-F238E27FC236}">
                  <a16:creationId xmlns:a16="http://schemas.microsoft.com/office/drawing/2014/main" id="{D6B79207-5836-5D5E-5F9A-B33F839E65EC}"/>
                </a:ext>
              </a:extLst>
            </p:cNvPr>
            <p:cNvSpPr txBox="1"/>
            <p:nvPr/>
          </p:nvSpPr>
          <p:spPr>
            <a:xfrm>
              <a:off x="1976074" y="1586870"/>
              <a:ext cx="1372842" cy="1899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200" b="1" dirty="0">
                  <a:solidFill>
                    <a:srgbClr val="584053"/>
                  </a:solidFill>
                  <a:latin typeface="Montserrat"/>
                </a:rPr>
                <a:t>Fewer False Alarms</a:t>
              </a:r>
            </a:p>
          </p:txBody>
        </p:sp>
        <p:grpSp>
          <p:nvGrpSpPr>
            <p:cNvPr id="17563" name="Group 17562">
              <a:extLst>
                <a:ext uri="{FF2B5EF4-FFF2-40B4-BE49-F238E27FC236}">
                  <a16:creationId xmlns:a16="http://schemas.microsoft.com/office/drawing/2014/main" id="{5AE8B9A8-166D-E942-55E3-9DD0A2B0760F}"/>
                </a:ext>
              </a:extLst>
            </p:cNvPr>
            <p:cNvGrpSpPr/>
            <p:nvPr/>
          </p:nvGrpSpPr>
          <p:grpSpPr>
            <a:xfrm>
              <a:off x="5730646" y="5442751"/>
              <a:ext cx="2316221" cy="597580"/>
              <a:chOff x="5273446" y="4625066"/>
              <a:chExt cx="2316221" cy="597580"/>
            </a:xfrm>
          </p:grpSpPr>
          <p:sp>
            <p:nvSpPr>
              <p:cNvPr id="17569" name="TextBox 17568">
                <a:extLst>
                  <a:ext uri="{FF2B5EF4-FFF2-40B4-BE49-F238E27FC236}">
                    <a16:creationId xmlns:a16="http://schemas.microsoft.com/office/drawing/2014/main" id="{451E16EC-57FA-56F3-F7DA-7E8604702A57}"/>
                  </a:ext>
                </a:extLst>
              </p:cNvPr>
              <p:cNvSpPr txBox="1"/>
              <p:nvPr/>
            </p:nvSpPr>
            <p:spPr>
              <a:xfrm>
                <a:off x="5280992" y="4625066"/>
                <a:ext cx="2029559" cy="1582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50" b="0" dirty="0">
                    <a:solidFill>
                      <a:srgbClr val="58405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Air-gapped; no data</a:t>
                </a:r>
              </a:p>
            </p:txBody>
          </p:sp>
          <p:sp>
            <p:nvSpPr>
              <p:cNvPr id="17570" name="TextBox 17569">
                <a:extLst>
                  <a:ext uri="{FF2B5EF4-FFF2-40B4-BE49-F238E27FC236}">
                    <a16:creationId xmlns:a16="http://schemas.microsoft.com/office/drawing/2014/main" id="{DDE47917-4F56-A6AB-52EF-072147029147}"/>
                  </a:ext>
                </a:extLst>
              </p:cNvPr>
              <p:cNvSpPr txBox="1"/>
              <p:nvPr/>
            </p:nvSpPr>
            <p:spPr>
              <a:xfrm>
                <a:off x="5273446" y="4941348"/>
                <a:ext cx="2316221" cy="281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r>
                  <a:rPr sz="1050" b="0" dirty="0">
                    <a:solidFill>
                      <a:srgbClr val="58405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leaves the building</a:t>
                </a:r>
              </a:p>
            </p:txBody>
          </p:sp>
        </p:grpSp>
        <p:sp>
          <p:nvSpPr>
            <p:cNvPr id="17564" name="TextBox 17563">
              <a:extLst>
                <a:ext uri="{FF2B5EF4-FFF2-40B4-BE49-F238E27FC236}">
                  <a16:creationId xmlns:a16="http://schemas.microsoft.com/office/drawing/2014/main" id="{C922583F-0AF2-50B9-6A23-39825C38EF39}"/>
                </a:ext>
              </a:extLst>
            </p:cNvPr>
            <p:cNvSpPr txBox="1"/>
            <p:nvPr/>
          </p:nvSpPr>
          <p:spPr>
            <a:xfrm>
              <a:off x="1351229" y="5108821"/>
              <a:ext cx="2073676" cy="1899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200" b="1" dirty="0">
                  <a:solidFill>
                    <a:srgbClr val="584053"/>
                  </a:solidFill>
                  <a:latin typeface="Montserrat"/>
                </a:rPr>
                <a:t>Temporal Intelligence</a:t>
              </a:r>
            </a:p>
          </p:txBody>
        </p:sp>
        <p:sp>
          <p:nvSpPr>
            <p:cNvPr id="17565" name="TextBox 17564">
              <a:extLst>
                <a:ext uri="{FF2B5EF4-FFF2-40B4-BE49-F238E27FC236}">
                  <a16:creationId xmlns:a16="http://schemas.microsoft.com/office/drawing/2014/main" id="{3120A8DF-2FED-18A1-5C58-689DFB4D3F5C}"/>
                </a:ext>
              </a:extLst>
            </p:cNvPr>
            <p:cNvSpPr txBox="1"/>
            <p:nvPr/>
          </p:nvSpPr>
          <p:spPr>
            <a:xfrm>
              <a:off x="5731364" y="5115379"/>
              <a:ext cx="1329858" cy="1899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200" b="1" dirty="0">
                  <a:solidFill>
                    <a:srgbClr val="584053"/>
                  </a:solidFill>
                  <a:latin typeface="Montserrat"/>
                </a:rPr>
                <a:t>Sovereign &amp; Offline</a:t>
              </a:r>
            </a:p>
          </p:txBody>
        </p:sp>
        <p:grpSp>
          <p:nvGrpSpPr>
            <p:cNvPr id="17566" name="Group 17565">
              <a:extLst>
                <a:ext uri="{FF2B5EF4-FFF2-40B4-BE49-F238E27FC236}">
                  <a16:creationId xmlns:a16="http://schemas.microsoft.com/office/drawing/2014/main" id="{299AAF2D-85E5-ADED-E63E-B87F1F858A95}"/>
                </a:ext>
              </a:extLst>
            </p:cNvPr>
            <p:cNvGrpSpPr/>
            <p:nvPr/>
          </p:nvGrpSpPr>
          <p:grpSpPr>
            <a:xfrm>
              <a:off x="1411454" y="5458791"/>
              <a:ext cx="2064865" cy="1009875"/>
              <a:chOff x="954254" y="4641106"/>
              <a:chExt cx="2064865" cy="1009875"/>
            </a:xfrm>
          </p:grpSpPr>
          <p:sp>
            <p:nvSpPr>
              <p:cNvPr id="17567" name="TextBox 17566">
                <a:extLst>
                  <a:ext uri="{FF2B5EF4-FFF2-40B4-BE49-F238E27FC236}">
                    <a16:creationId xmlns:a16="http://schemas.microsoft.com/office/drawing/2014/main" id="{C05950FD-4528-9EF5-1D72-9C97625D05C6}"/>
                  </a:ext>
                </a:extLst>
              </p:cNvPr>
              <p:cNvSpPr txBox="1"/>
              <p:nvPr/>
            </p:nvSpPr>
            <p:spPr>
              <a:xfrm>
                <a:off x="1222993" y="4641106"/>
                <a:ext cx="1796126" cy="1582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r"/>
                <a:r>
                  <a:rPr sz="1050" b="0" dirty="0">
                    <a:solidFill>
                      <a:srgbClr val="58405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Dates changes to the</a:t>
                </a:r>
              </a:p>
            </p:txBody>
          </p:sp>
          <p:sp>
            <p:nvSpPr>
              <p:cNvPr id="17568" name="TextBox 17567">
                <a:extLst>
                  <a:ext uri="{FF2B5EF4-FFF2-40B4-BE49-F238E27FC236}">
                    <a16:creationId xmlns:a16="http://schemas.microsoft.com/office/drawing/2014/main" id="{43D64A62-9724-B1D2-B2C1-08A07F55A5F2}"/>
                  </a:ext>
                </a:extLst>
              </p:cNvPr>
              <p:cNvSpPr txBox="1"/>
              <p:nvPr/>
            </p:nvSpPr>
            <p:spPr>
              <a:xfrm>
                <a:off x="954254" y="4908567"/>
                <a:ext cx="2064865" cy="7424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r"/>
                <a:r>
                  <a:rPr sz="1050" b="0" dirty="0">
                    <a:solidFill>
                      <a:srgbClr val="58405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earliest available image</a:t>
                </a:r>
              </a:p>
            </p:txBody>
          </p:sp>
        </p:grpSp>
      </p:grpSp>
      <p:grpSp>
        <p:nvGrpSpPr>
          <p:cNvPr id="17658" name="Group 17657">
            <a:extLst>
              <a:ext uri="{FF2B5EF4-FFF2-40B4-BE49-F238E27FC236}">
                <a16:creationId xmlns:a16="http://schemas.microsoft.com/office/drawing/2014/main" id="{FC533604-5D9A-63BF-2C76-CB182948D1CB}"/>
              </a:ext>
            </a:extLst>
          </p:cNvPr>
          <p:cNvGrpSpPr/>
          <p:nvPr/>
        </p:nvGrpSpPr>
        <p:grpSpPr>
          <a:xfrm>
            <a:off x="6196035" y="1476396"/>
            <a:ext cx="5858493" cy="4485126"/>
            <a:chOff x="1179429" y="1216058"/>
            <a:chExt cx="6948767" cy="4769963"/>
          </a:xfrm>
        </p:grpSpPr>
        <p:sp>
          <p:nvSpPr>
            <p:cNvPr id="17659" name="Rectangle 17658">
              <a:extLst>
                <a:ext uri="{FF2B5EF4-FFF2-40B4-BE49-F238E27FC236}">
                  <a16:creationId xmlns:a16="http://schemas.microsoft.com/office/drawing/2014/main" id="{B565A780-B385-9AED-0549-1A34C737BB99}"/>
                </a:ext>
              </a:extLst>
            </p:cNvPr>
            <p:cNvSpPr/>
            <p:nvPr/>
          </p:nvSpPr>
          <p:spPr>
            <a:xfrm>
              <a:off x="1179429" y="1216058"/>
              <a:ext cx="6948767" cy="4769963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  <a:endParaRPr sz="1100" dirty="0"/>
            </a:p>
          </p:txBody>
        </p:sp>
        <p:sp>
          <p:nvSpPr>
            <p:cNvPr id="17660" name="Rounded Rectangle 2">
              <a:extLst>
                <a:ext uri="{FF2B5EF4-FFF2-40B4-BE49-F238E27FC236}">
                  <a16:creationId xmlns:a16="http://schemas.microsoft.com/office/drawing/2014/main" id="{166CCC53-4A9D-AF47-63AD-D0BF97ECDADA}"/>
                </a:ext>
              </a:extLst>
            </p:cNvPr>
            <p:cNvSpPr/>
            <p:nvPr/>
          </p:nvSpPr>
          <p:spPr>
            <a:xfrm>
              <a:off x="3007448" y="1937712"/>
              <a:ext cx="4966970" cy="3453474"/>
            </a:xfrm>
            <a:custGeom>
              <a:avLst/>
              <a:gdLst/>
              <a:ahLst/>
              <a:cxnLst/>
              <a:rect l="0" t="0" r="0" b="0"/>
              <a:pathLst>
                <a:path w="4770032" h="3339023">
                  <a:moveTo>
                    <a:pt x="0" y="0"/>
                  </a:moveTo>
                  <a:lnTo>
                    <a:pt x="4770032" y="0"/>
                  </a:lnTo>
                  <a:lnTo>
                    <a:pt x="4770032" y="3339023"/>
                  </a:lnTo>
                  <a:lnTo>
                    <a:pt x="0" y="3339023"/>
                  </a:lnTo>
                  <a:lnTo>
                    <a:pt x="0" y="0"/>
                  </a:lnTo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7661" name="Rounded Rectangle 3">
              <a:extLst>
                <a:ext uri="{FF2B5EF4-FFF2-40B4-BE49-F238E27FC236}">
                  <a16:creationId xmlns:a16="http://schemas.microsoft.com/office/drawing/2014/main" id="{B421DA84-711A-5CB6-2646-DE9E7C7C3823}"/>
                </a:ext>
              </a:extLst>
            </p:cNvPr>
            <p:cNvSpPr/>
            <p:nvPr/>
          </p:nvSpPr>
          <p:spPr>
            <a:xfrm>
              <a:off x="3007448" y="2180582"/>
              <a:ext cx="4770031" cy="171234"/>
            </a:xfrm>
            <a:custGeom>
              <a:avLst/>
              <a:gdLst/>
              <a:ahLst/>
              <a:cxnLst/>
              <a:rect l="0" t="0" r="0" b="0"/>
              <a:pathLst>
                <a:path w="4054527" h="171234">
                  <a:moveTo>
                    <a:pt x="0" y="0"/>
                  </a:moveTo>
                  <a:lnTo>
                    <a:pt x="3975025" y="0"/>
                  </a:lnTo>
                  <a:cubicBezTo>
                    <a:pt x="4028025" y="0"/>
                    <a:pt x="4054527" y="26502"/>
                    <a:pt x="4054527" y="79501"/>
                  </a:cubicBezTo>
                  <a:lnTo>
                    <a:pt x="4054527" y="91732"/>
                  </a:lnTo>
                  <a:cubicBezTo>
                    <a:pt x="4054527" y="144731"/>
                    <a:pt x="4028025" y="171234"/>
                    <a:pt x="3975025" y="171234"/>
                  </a:cubicBezTo>
                  <a:lnTo>
                    <a:pt x="0" y="171234"/>
                  </a:lnTo>
                  <a:lnTo>
                    <a:pt x="0" y="0"/>
                  </a:lnTo>
                </a:path>
              </a:pathLst>
            </a:custGeom>
            <a:solidFill>
              <a:srgbClr val="9BB6AE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662" name="Rounded Rectangle 4">
              <a:extLst>
                <a:ext uri="{FF2B5EF4-FFF2-40B4-BE49-F238E27FC236}">
                  <a16:creationId xmlns:a16="http://schemas.microsoft.com/office/drawing/2014/main" id="{BA313A3D-7C9A-273C-39F1-42202A822947}"/>
                </a:ext>
              </a:extLst>
            </p:cNvPr>
            <p:cNvSpPr/>
            <p:nvPr/>
          </p:nvSpPr>
          <p:spPr>
            <a:xfrm>
              <a:off x="3007448" y="2180581"/>
              <a:ext cx="4770031" cy="171231"/>
            </a:xfrm>
            <a:custGeom>
              <a:avLst/>
              <a:gdLst/>
              <a:ahLst/>
              <a:cxnLst/>
              <a:rect l="0" t="0" r="0" b="0"/>
              <a:pathLst>
                <a:path w="4054526" h="171231">
                  <a:moveTo>
                    <a:pt x="0" y="0"/>
                  </a:moveTo>
                  <a:lnTo>
                    <a:pt x="3975025" y="0"/>
                  </a:lnTo>
                  <a:cubicBezTo>
                    <a:pt x="4028026" y="0"/>
                    <a:pt x="4054526" y="26500"/>
                    <a:pt x="4054526" y="79500"/>
                  </a:cubicBezTo>
                  <a:lnTo>
                    <a:pt x="4054526" y="91731"/>
                  </a:lnTo>
                  <a:cubicBezTo>
                    <a:pt x="4054526" y="144731"/>
                    <a:pt x="4028026" y="171231"/>
                    <a:pt x="3975025" y="171231"/>
                  </a:cubicBezTo>
                  <a:lnTo>
                    <a:pt x="0" y="17123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904">
              <a:solidFill>
                <a:srgbClr val="EEEAD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663" name="Rounded Rectangle 5">
              <a:extLst>
                <a:ext uri="{FF2B5EF4-FFF2-40B4-BE49-F238E27FC236}">
                  <a16:creationId xmlns:a16="http://schemas.microsoft.com/office/drawing/2014/main" id="{66AFB802-D15A-E12E-BA1B-60486D676E8E}"/>
                </a:ext>
              </a:extLst>
            </p:cNvPr>
            <p:cNvSpPr/>
            <p:nvPr/>
          </p:nvSpPr>
          <p:spPr>
            <a:xfrm>
              <a:off x="3007448" y="2822700"/>
              <a:ext cx="4770031" cy="171234"/>
            </a:xfrm>
            <a:custGeom>
              <a:avLst/>
              <a:gdLst/>
              <a:ahLst/>
              <a:cxnLst/>
              <a:rect l="0" t="0" r="0" b="0"/>
              <a:pathLst>
                <a:path w="3816022" h="171234">
                  <a:moveTo>
                    <a:pt x="0" y="0"/>
                  </a:moveTo>
                  <a:lnTo>
                    <a:pt x="3736526" y="0"/>
                  </a:lnTo>
                  <a:cubicBezTo>
                    <a:pt x="3789525" y="0"/>
                    <a:pt x="3816022" y="26502"/>
                    <a:pt x="3816022" y="79501"/>
                  </a:cubicBezTo>
                  <a:lnTo>
                    <a:pt x="3816022" y="91732"/>
                  </a:lnTo>
                  <a:cubicBezTo>
                    <a:pt x="3816022" y="144731"/>
                    <a:pt x="3789525" y="171234"/>
                    <a:pt x="3736526" y="171234"/>
                  </a:cubicBezTo>
                  <a:lnTo>
                    <a:pt x="0" y="171234"/>
                  </a:lnTo>
                  <a:lnTo>
                    <a:pt x="0" y="0"/>
                  </a:lnTo>
                </a:path>
              </a:pathLst>
            </a:custGeom>
            <a:solidFill>
              <a:srgbClr val="9BB6AE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08" name="Rounded Rectangle 6">
              <a:extLst>
                <a:ext uri="{FF2B5EF4-FFF2-40B4-BE49-F238E27FC236}">
                  <a16:creationId xmlns:a16="http://schemas.microsoft.com/office/drawing/2014/main" id="{3DB1A8F2-4961-B591-CB88-DC93FBDDAE5A}"/>
                </a:ext>
              </a:extLst>
            </p:cNvPr>
            <p:cNvSpPr/>
            <p:nvPr/>
          </p:nvSpPr>
          <p:spPr>
            <a:xfrm>
              <a:off x="3007448" y="2822700"/>
              <a:ext cx="4770031" cy="171231"/>
            </a:xfrm>
            <a:custGeom>
              <a:avLst/>
              <a:gdLst/>
              <a:ahLst/>
              <a:cxnLst/>
              <a:rect l="0" t="0" r="0" b="0"/>
              <a:pathLst>
                <a:path w="3816025" h="171231">
                  <a:moveTo>
                    <a:pt x="0" y="0"/>
                  </a:moveTo>
                  <a:lnTo>
                    <a:pt x="3736524" y="0"/>
                  </a:lnTo>
                  <a:cubicBezTo>
                    <a:pt x="3789524" y="0"/>
                    <a:pt x="3816025" y="26500"/>
                    <a:pt x="3816025" y="79500"/>
                  </a:cubicBezTo>
                  <a:lnTo>
                    <a:pt x="3816025" y="91731"/>
                  </a:lnTo>
                  <a:cubicBezTo>
                    <a:pt x="3816025" y="144731"/>
                    <a:pt x="3789524" y="171231"/>
                    <a:pt x="3736524" y="171231"/>
                  </a:cubicBezTo>
                  <a:lnTo>
                    <a:pt x="0" y="17123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904">
              <a:solidFill>
                <a:srgbClr val="EEEAD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10" name="Rounded Rectangle 7">
              <a:extLst>
                <a:ext uri="{FF2B5EF4-FFF2-40B4-BE49-F238E27FC236}">
                  <a16:creationId xmlns:a16="http://schemas.microsoft.com/office/drawing/2014/main" id="{E2BF1A1E-F319-7083-7C6B-5895977FC6C4}"/>
                </a:ext>
              </a:extLst>
            </p:cNvPr>
            <p:cNvSpPr/>
            <p:nvPr/>
          </p:nvSpPr>
          <p:spPr>
            <a:xfrm>
              <a:off x="3007448" y="3464825"/>
              <a:ext cx="4388429" cy="171234"/>
            </a:xfrm>
            <a:custGeom>
              <a:avLst/>
              <a:gdLst/>
              <a:ahLst/>
              <a:cxnLst/>
              <a:rect l="0" t="0" r="0" b="0"/>
              <a:pathLst>
                <a:path w="4197630" h="171234">
                  <a:moveTo>
                    <a:pt x="0" y="0"/>
                  </a:moveTo>
                  <a:lnTo>
                    <a:pt x="4118128" y="0"/>
                  </a:lnTo>
                  <a:cubicBezTo>
                    <a:pt x="4171127" y="0"/>
                    <a:pt x="4197630" y="26502"/>
                    <a:pt x="4197630" y="79501"/>
                  </a:cubicBezTo>
                  <a:lnTo>
                    <a:pt x="4197630" y="91732"/>
                  </a:lnTo>
                  <a:cubicBezTo>
                    <a:pt x="4197630" y="144731"/>
                    <a:pt x="4171127" y="171234"/>
                    <a:pt x="4118128" y="171234"/>
                  </a:cubicBezTo>
                  <a:lnTo>
                    <a:pt x="0" y="171234"/>
                  </a:lnTo>
                  <a:lnTo>
                    <a:pt x="0" y="0"/>
                  </a:lnTo>
                </a:path>
              </a:pathLst>
            </a:custGeom>
            <a:solidFill>
              <a:srgbClr val="9BB6AE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11" name="Rounded Rectangle 8">
              <a:extLst>
                <a:ext uri="{FF2B5EF4-FFF2-40B4-BE49-F238E27FC236}">
                  <a16:creationId xmlns:a16="http://schemas.microsoft.com/office/drawing/2014/main" id="{629236F1-1911-D333-64CE-CAFACAE37541}"/>
                </a:ext>
              </a:extLst>
            </p:cNvPr>
            <p:cNvSpPr/>
            <p:nvPr/>
          </p:nvSpPr>
          <p:spPr>
            <a:xfrm>
              <a:off x="3007448" y="3464825"/>
              <a:ext cx="4388429" cy="171231"/>
            </a:xfrm>
            <a:custGeom>
              <a:avLst/>
              <a:gdLst/>
              <a:ahLst/>
              <a:cxnLst/>
              <a:rect l="0" t="0" r="0" b="0"/>
              <a:pathLst>
                <a:path w="4197627" h="171231">
                  <a:moveTo>
                    <a:pt x="0" y="0"/>
                  </a:moveTo>
                  <a:lnTo>
                    <a:pt x="4118126" y="0"/>
                  </a:lnTo>
                  <a:cubicBezTo>
                    <a:pt x="4171127" y="0"/>
                    <a:pt x="4197627" y="26500"/>
                    <a:pt x="4197627" y="79500"/>
                  </a:cubicBezTo>
                  <a:lnTo>
                    <a:pt x="4197627" y="91731"/>
                  </a:lnTo>
                  <a:cubicBezTo>
                    <a:pt x="4197627" y="144731"/>
                    <a:pt x="4171127" y="171231"/>
                    <a:pt x="4118126" y="171231"/>
                  </a:cubicBezTo>
                  <a:lnTo>
                    <a:pt x="0" y="17123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904">
              <a:solidFill>
                <a:srgbClr val="EEEAD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12" name="Rounded Rectangle 9">
              <a:extLst>
                <a:ext uri="{FF2B5EF4-FFF2-40B4-BE49-F238E27FC236}">
                  <a16:creationId xmlns:a16="http://schemas.microsoft.com/office/drawing/2014/main" id="{BDB79B84-A8BD-5B2A-B0F5-C71161A6F6BB}"/>
                </a:ext>
              </a:extLst>
            </p:cNvPr>
            <p:cNvSpPr/>
            <p:nvPr/>
          </p:nvSpPr>
          <p:spPr>
            <a:xfrm>
              <a:off x="3007448" y="4106938"/>
              <a:ext cx="4770031" cy="171234"/>
            </a:xfrm>
            <a:custGeom>
              <a:avLst/>
              <a:gdLst/>
              <a:ahLst/>
              <a:cxnLst/>
              <a:rect l="0" t="0" r="0" b="0"/>
              <a:pathLst>
                <a:path w="4388430" h="171234">
                  <a:moveTo>
                    <a:pt x="0" y="0"/>
                  </a:moveTo>
                  <a:lnTo>
                    <a:pt x="4308928" y="0"/>
                  </a:lnTo>
                  <a:cubicBezTo>
                    <a:pt x="4361928" y="0"/>
                    <a:pt x="4388430" y="26502"/>
                    <a:pt x="4388430" y="79501"/>
                  </a:cubicBezTo>
                  <a:lnTo>
                    <a:pt x="4388430" y="91732"/>
                  </a:lnTo>
                  <a:cubicBezTo>
                    <a:pt x="4388430" y="144731"/>
                    <a:pt x="4361928" y="171234"/>
                    <a:pt x="4308928" y="171234"/>
                  </a:cubicBezTo>
                  <a:lnTo>
                    <a:pt x="0" y="171234"/>
                  </a:lnTo>
                  <a:lnTo>
                    <a:pt x="0" y="0"/>
                  </a:lnTo>
                </a:path>
              </a:pathLst>
            </a:custGeom>
            <a:solidFill>
              <a:srgbClr val="9BB6AE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13" name="Rounded Rectangle 10">
              <a:extLst>
                <a:ext uri="{FF2B5EF4-FFF2-40B4-BE49-F238E27FC236}">
                  <a16:creationId xmlns:a16="http://schemas.microsoft.com/office/drawing/2014/main" id="{A6E648AF-4446-238E-CE14-16E37FD7BE4C}"/>
                </a:ext>
              </a:extLst>
            </p:cNvPr>
            <p:cNvSpPr/>
            <p:nvPr/>
          </p:nvSpPr>
          <p:spPr>
            <a:xfrm>
              <a:off x="3007448" y="4106937"/>
              <a:ext cx="4770031" cy="171231"/>
            </a:xfrm>
            <a:custGeom>
              <a:avLst/>
              <a:gdLst/>
              <a:ahLst/>
              <a:cxnLst/>
              <a:rect l="0" t="0" r="0" b="0"/>
              <a:pathLst>
                <a:path w="4388429" h="171231">
                  <a:moveTo>
                    <a:pt x="0" y="0"/>
                  </a:moveTo>
                  <a:lnTo>
                    <a:pt x="4308928" y="0"/>
                  </a:lnTo>
                  <a:cubicBezTo>
                    <a:pt x="4361928" y="0"/>
                    <a:pt x="4388429" y="26500"/>
                    <a:pt x="4388429" y="79500"/>
                  </a:cubicBezTo>
                  <a:lnTo>
                    <a:pt x="4388429" y="91731"/>
                  </a:lnTo>
                  <a:cubicBezTo>
                    <a:pt x="4388429" y="144731"/>
                    <a:pt x="4361928" y="171231"/>
                    <a:pt x="4308928" y="171231"/>
                  </a:cubicBezTo>
                  <a:lnTo>
                    <a:pt x="0" y="17123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904">
              <a:solidFill>
                <a:srgbClr val="EEEAD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14" name="Rounded Rectangle 11">
              <a:extLst>
                <a:ext uri="{FF2B5EF4-FFF2-40B4-BE49-F238E27FC236}">
                  <a16:creationId xmlns:a16="http://schemas.microsoft.com/office/drawing/2014/main" id="{AAFF50E4-B47D-7914-3EAD-70CF9C53A204}"/>
                </a:ext>
              </a:extLst>
            </p:cNvPr>
            <p:cNvSpPr/>
            <p:nvPr/>
          </p:nvSpPr>
          <p:spPr>
            <a:xfrm>
              <a:off x="3007448" y="4749069"/>
              <a:ext cx="4770031" cy="171234"/>
            </a:xfrm>
            <a:custGeom>
              <a:avLst/>
              <a:gdLst/>
              <a:ahLst/>
              <a:cxnLst/>
              <a:rect l="0" t="0" r="0" b="0"/>
              <a:pathLst>
                <a:path w="3911425" h="171234">
                  <a:moveTo>
                    <a:pt x="0" y="0"/>
                  </a:moveTo>
                  <a:lnTo>
                    <a:pt x="3831923" y="0"/>
                  </a:lnTo>
                  <a:cubicBezTo>
                    <a:pt x="3884923" y="0"/>
                    <a:pt x="3911425" y="26502"/>
                    <a:pt x="3911425" y="79501"/>
                  </a:cubicBezTo>
                  <a:lnTo>
                    <a:pt x="3911425" y="91732"/>
                  </a:lnTo>
                  <a:cubicBezTo>
                    <a:pt x="3911425" y="144731"/>
                    <a:pt x="3884923" y="171234"/>
                    <a:pt x="3831923" y="171234"/>
                  </a:cubicBezTo>
                  <a:lnTo>
                    <a:pt x="0" y="171234"/>
                  </a:lnTo>
                  <a:lnTo>
                    <a:pt x="0" y="0"/>
                  </a:lnTo>
                </a:path>
              </a:pathLst>
            </a:custGeom>
            <a:solidFill>
              <a:srgbClr val="9BB6AE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15" name="Rounded Rectangle 12">
              <a:extLst>
                <a:ext uri="{FF2B5EF4-FFF2-40B4-BE49-F238E27FC236}">
                  <a16:creationId xmlns:a16="http://schemas.microsoft.com/office/drawing/2014/main" id="{D7F837B5-30FC-DF4B-4DBC-6B83118A0028}"/>
                </a:ext>
              </a:extLst>
            </p:cNvPr>
            <p:cNvSpPr/>
            <p:nvPr/>
          </p:nvSpPr>
          <p:spPr>
            <a:xfrm>
              <a:off x="3007448" y="4749068"/>
              <a:ext cx="4770031" cy="171231"/>
            </a:xfrm>
            <a:custGeom>
              <a:avLst/>
              <a:gdLst/>
              <a:ahLst/>
              <a:cxnLst/>
              <a:rect l="0" t="0" r="0" b="0"/>
              <a:pathLst>
                <a:path w="3911425" h="171231">
                  <a:moveTo>
                    <a:pt x="0" y="0"/>
                  </a:moveTo>
                  <a:lnTo>
                    <a:pt x="3831925" y="0"/>
                  </a:lnTo>
                  <a:cubicBezTo>
                    <a:pt x="3884925" y="0"/>
                    <a:pt x="3911425" y="26500"/>
                    <a:pt x="3911425" y="79500"/>
                  </a:cubicBezTo>
                  <a:lnTo>
                    <a:pt x="3911425" y="91731"/>
                  </a:lnTo>
                  <a:cubicBezTo>
                    <a:pt x="3911425" y="144731"/>
                    <a:pt x="3884925" y="171231"/>
                    <a:pt x="3831925" y="171231"/>
                  </a:cubicBezTo>
                  <a:lnTo>
                    <a:pt x="0" y="17123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904">
              <a:solidFill>
                <a:srgbClr val="EEEAD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16" name="Rounded Rectangle 13">
              <a:extLst>
                <a:ext uri="{FF2B5EF4-FFF2-40B4-BE49-F238E27FC236}">
                  <a16:creationId xmlns:a16="http://schemas.microsoft.com/office/drawing/2014/main" id="{783E938F-4F4C-A3F0-5118-48C720DFAF0C}"/>
                </a:ext>
              </a:extLst>
            </p:cNvPr>
            <p:cNvSpPr/>
            <p:nvPr/>
          </p:nvSpPr>
          <p:spPr>
            <a:xfrm>
              <a:off x="3007448" y="2351815"/>
              <a:ext cx="3339022" cy="171234"/>
            </a:xfrm>
            <a:custGeom>
              <a:avLst/>
              <a:gdLst/>
              <a:ahLst/>
              <a:cxnLst/>
              <a:rect l="0" t="0" r="0" b="0"/>
              <a:pathLst>
                <a:path w="1669508" h="171234">
                  <a:moveTo>
                    <a:pt x="0" y="0"/>
                  </a:moveTo>
                  <a:lnTo>
                    <a:pt x="1590012" y="0"/>
                  </a:lnTo>
                  <a:cubicBezTo>
                    <a:pt x="1643012" y="0"/>
                    <a:pt x="1669508" y="26502"/>
                    <a:pt x="1669508" y="79501"/>
                  </a:cubicBezTo>
                  <a:lnTo>
                    <a:pt x="1669508" y="91732"/>
                  </a:lnTo>
                  <a:cubicBezTo>
                    <a:pt x="1669508" y="144731"/>
                    <a:pt x="1643012" y="171234"/>
                    <a:pt x="1590012" y="171234"/>
                  </a:cubicBezTo>
                  <a:lnTo>
                    <a:pt x="0" y="171234"/>
                  </a:lnTo>
                  <a:lnTo>
                    <a:pt x="0" y="0"/>
                  </a:lnTo>
                </a:path>
              </a:pathLst>
            </a:custGeom>
            <a:solidFill>
              <a:srgbClr val="E3C47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17" name="Rounded Rectangle 14">
              <a:extLst>
                <a:ext uri="{FF2B5EF4-FFF2-40B4-BE49-F238E27FC236}">
                  <a16:creationId xmlns:a16="http://schemas.microsoft.com/office/drawing/2014/main" id="{1BFEE33A-BA64-F7C2-4661-514C554E817A}"/>
                </a:ext>
              </a:extLst>
            </p:cNvPr>
            <p:cNvSpPr/>
            <p:nvPr/>
          </p:nvSpPr>
          <p:spPr>
            <a:xfrm>
              <a:off x="3007448" y="2351814"/>
              <a:ext cx="3339022" cy="171231"/>
            </a:xfrm>
            <a:custGeom>
              <a:avLst/>
              <a:gdLst/>
              <a:ahLst/>
              <a:cxnLst/>
              <a:rect l="0" t="0" r="0" b="0"/>
              <a:pathLst>
                <a:path w="1669511" h="171231">
                  <a:moveTo>
                    <a:pt x="0" y="0"/>
                  </a:moveTo>
                  <a:lnTo>
                    <a:pt x="1590010" y="0"/>
                  </a:lnTo>
                  <a:cubicBezTo>
                    <a:pt x="1643010" y="0"/>
                    <a:pt x="1669511" y="26500"/>
                    <a:pt x="1669511" y="79500"/>
                  </a:cubicBezTo>
                  <a:lnTo>
                    <a:pt x="1669511" y="91731"/>
                  </a:lnTo>
                  <a:cubicBezTo>
                    <a:pt x="1669511" y="144731"/>
                    <a:pt x="1643010" y="171231"/>
                    <a:pt x="1590010" y="171231"/>
                  </a:cubicBezTo>
                  <a:lnTo>
                    <a:pt x="0" y="17123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904">
              <a:solidFill>
                <a:srgbClr val="EEEAD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18" name="Rounded Rectangle 15">
              <a:extLst>
                <a:ext uri="{FF2B5EF4-FFF2-40B4-BE49-F238E27FC236}">
                  <a16:creationId xmlns:a16="http://schemas.microsoft.com/office/drawing/2014/main" id="{9C043D21-7F9E-AA6D-11F3-A2A3595F9EC2}"/>
                </a:ext>
              </a:extLst>
            </p:cNvPr>
            <p:cNvSpPr/>
            <p:nvPr/>
          </p:nvSpPr>
          <p:spPr>
            <a:xfrm>
              <a:off x="3007448" y="2993933"/>
              <a:ext cx="1574110" cy="171234"/>
            </a:xfrm>
            <a:custGeom>
              <a:avLst/>
              <a:gdLst/>
              <a:ahLst/>
              <a:cxnLst/>
              <a:rect l="0" t="0" r="0" b="0"/>
              <a:pathLst>
                <a:path w="1431009" h="171234">
                  <a:moveTo>
                    <a:pt x="0" y="0"/>
                  </a:moveTo>
                  <a:lnTo>
                    <a:pt x="1351507" y="0"/>
                  </a:lnTo>
                  <a:cubicBezTo>
                    <a:pt x="1404506" y="0"/>
                    <a:pt x="1431009" y="26502"/>
                    <a:pt x="1431009" y="79501"/>
                  </a:cubicBezTo>
                  <a:lnTo>
                    <a:pt x="1431009" y="91732"/>
                  </a:lnTo>
                  <a:cubicBezTo>
                    <a:pt x="1431009" y="144731"/>
                    <a:pt x="1404506" y="171234"/>
                    <a:pt x="1351507" y="171234"/>
                  </a:cubicBezTo>
                  <a:lnTo>
                    <a:pt x="0" y="171234"/>
                  </a:lnTo>
                  <a:lnTo>
                    <a:pt x="0" y="0"/>
                  </a:lnTo>
                </a:path>
              </a:pathLst>
            </a:custGeom>
            <a:solidFill>
              <a:srgbClr val="E3C47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19" name="Rounded Rectangle 16">
              <a:extLst>
                <a:ext uri="{FF2B5EF4-FFF2-40B4-BE49-F238E27FC236}">
                  <a16:creationId xmlns:a16="http://schemas.microsoft.com/office/drawing/2014/main" id="{8B0A04BC-AAF4-3E6F-F9E2-389FCB8498B3}"/>
                </a:ext>
              </a:extLst>
            </p:cNvPr>
            <p:cNvSpPr/>
            <p:nvPr/>
          </p:nvSpPr>
          <p:spPr>
            <a:xfrm>
              <a:off x="3007448" y="2993933"/>
              <a:ext cx="1574110" cy="171231"/>
            </a:xfrm>
            <a:custGeom>
              <a:avLst/>
              <a:gdLst/>
              <a:ahLst/>
              <a:cxnLst/>
              <a:rect l="0" t="0" r="0" b="0"/>
              <a:pathLst>
                <a:path w="1431009" h="171231">
                  <a:moveTo>
                    <a:pt x="0" y="0"/>
                  </a:moveTo>
                  <a:lnTo>
                    <a:pt x="1351508" y="0"/>
                  </a:lnTo>
                  <a:cubicBezTo>
                    <a:pt x="1404509" y="0"/>
                    <a:pt x="1431009" y="26500"/>
                    <a:pt x="1431009" y="79500"/>
                  </a:cubicBezTo>
                  <a:lnTo>
                    <a:pt x="1431009" y="91731"/>
                  </a:lnTo>
                  <a:cubicBezTo>
                    <a:pt x="1431009" y="144731"/>
                    <a:pt x="1404509" y="171231"/>
                    <a:pt x="1351508" y="171231"/>
                  </a:cubicBezTo>
                  <a:lnTo>
                    <a:pt x="0" y="17123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904">
              <a:solidFill>
                <a:srgbClr val="EEEAD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0" name="Rounded Rectangle 17">
              <a:extLst>
                <a:ext uri="{FF2B5EF4-FFF2-40B4-BE49-F238E27FC236}">
                  <a16:creationId xmlns:a16="http://schemas.microsoft.com/office/drawing/2014/main" id="{10992BC3-F5F0-78D9-6358-C44DC1A624B9}"/>
                </a:ext>
              </a:extLst>
            </p:cNvPr>
            <p:cNvSpPr/>
            <p:nvPr/>
          </p:nvSpPr>
          <p:spPr>
            <a:xfrm>
              <a:off x="3007449" y="3636058"/>
              <a:ext cx="381602" cy="171234"/>
            </a:xfrm>
            <a:custGeom>
              <a:avLst/>
              <a:gdLst/>
              <a:ahLst/>
              <a:cxnLst/>
              <a:rect l="0" t="0" r="0" b="0"/>
              <a:pathLst>
                <a:path w="2385013" h="171234">
                  <a:moveTo>
                    <a:pt x="0" y="0"/>
                  </a:moveTo>
                  <a:lnTo>
                    <a:pt x="2305517" y="0"/>
                  </a:lnTo>
                  <a:cubicBezTo>
                    <a:pt x="2358516" y="0"/>
                    <a:pt x="2385013" y="26502"/>
                    <a:pt x="2385013" y="79501"/>
                  </a:cubicBezTo>
                  <a:lnTo>
                    <a:pt x="2385013" y="91732"/>
                  </a:lnTo>
                  <a:cubicBezTo>
                    <a:pt x="2385013" y="144731"/>
                    <a:pt x="2358516" y="171234"/>
                    <a:pt x="2305517" y="171234"/>
                  </a:cubicBezTo>
                  <a:lnTo>
                    <a:pt x="0" y="171234"/>
                  </a:lnTo>
                  <a:lnTo>
                    <a:pt x="0" y="0"/>
                  </a:lnTo>
                </a:path>
              </a:pathLst>
            </a:custGeom>
            <a:solidFill>
              <a:srgbClr val="E3C47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1" name="Rounded Rectangle 18">
              <a:extLst>
                <a:ext uri="{FF2B5EF4-FFF2-40B4-BE49-F238E27FC236}">
                  <a16:creationId xmlns:a16="http://schemas.microsoft.com/office/drawing/2014/main" id="{D28F4A83-DC96-8E78-48A4-81F318AB7008}"/>
                </a:ext>
              </a:extLst>
            </p:cNvPr>
            <p:cNvSpPr/>
            <p:nvPr/>
          </p:nvSpPr>
          <p:spPr>
            <a:xfrm>
              <a:off x="3007449" y="3636058"/>
              <a:ext cx="381602" cy="171231"/>
            </a:xfrm>
            <a:custGeom>
              <a:avLst/>
              <a:gdLst/>
              <a:ahLst/>
              <a:cxnLst/>
              <a:rect l="0" t="0" r="0" b="0"/>
              <a:pathLst>
                <a:path w="2385015" h="171231">
                  <a:moveTo>
                    <a:pt x="0" y="0"/>
                  </a:moveTo>
                  <a:lnTo>
                    <a:pt x="2305515" y="0"/>
                  </a:lnTo>
                  <a:cubicBezTo>
                    <a:pt x="2358515" y="0"/>
                    <a:pt x="2385015" y="26500"/>
                    <a:pt x="2385015" y="79500"/>
                  </a:cubicBezTo>
                  <a:lnTo>
                    <a:pt x="2385015" y="91731"/>
                  </a:lnTo>
                  <a:cubicBezTo>
                    <a:pt x="2385015" y="144731"/>
                    <a:pt x="2358515" y="171231"/>
                    <a:pt x="2305515" y="171231"/>
                  </a:cubicBezTo>
                  <a:lnTo>
                    <a:pt x="0" y="17123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904">
              <a:solidFill>
                <a:srgbClr val="EEEAD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2" name="Rounded Rectangle 19">
              <a:extLst>
                <a:ext uri="{FF2B5EF4-FFF2-40B4-BE49-F238E27FC236}">
                  <a16:creationId xmlns:a16="http://schemas.microsoft.com/office/drawing/2014/main" id="{4F6593E0-5CDB-F228-085A-2BCDE35C372A}"/>
                </a:ext>
              </a:extLst>
            </p:cNvPr>
            <p:cNvSpPr/>
            <p:nvPr/>
          </p:nvSpPr>
          <p:spPr>
            <a:xfrm>
              <a:off x="3007448" y="4278177"/>
              <a:ext cx="0" cy="171234"/>
            </a:xfrm>
            <a:custGeom>
              <a:avLst/>
              <a:gdLst/>
              <a:ahLst/>
              <a:cxnLst/>
              <a:rect l="0" t="0" r="0" b="0"/>
              <a:pathLst>
                <a:path w="1192509" h="171234">
                  <a:moveTo>
                    <a:pt x="0" y="0"/>
                  </a:moveTo>
                  <a:lnTo>
                    <a:pt x="1113007" y="0"/>
                  </a:lnTo>
                  <a:cubicBezTo>
                    <a:pt x="1166006" y="0"/>
                    <a:pt x="1192509" y="26502"/>
                    <a:pt x="1192509" y="79501"/>
                  </a:cubicBezTo>
                  <a:lnTo>
                    <a:pt x="1192509" y="91732"/>
                  </a:lnTo>
                  <a:cubicBezTo>
                    <a:pt x="1192509" y="144731"/>
                    <a:pt x="1166006" y="171234"/>
                    <a:pt x="1113007" y="171234"/>
                  </a:cubicBezTo>
                  <a:lnTo>
                    <a:pt x="0" y="171234"/>
                  </a:lnTo>
                  <a:lnTo>
                    <a:pt x="0" y="0"/>
                  </a:lnTo>
                </a:path>
              </a:pathLst>
            </a:custGeom>
            <a:solidFill>
              <a:srgbClr val="E3C47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3" name="Rounded Rectangle 20">
              <a:extLst>
                <a:ext uri="{FF2B5EF4-FFF2-40B4-BE49-F238E27FC236}">
                  <a16:creationId xmlns:a16="http://schemas.microsoft.com/office/drawing/2014/main" id="{B9C9F89D-DE0B-C97F-3DFC-01F5079F5712}"/>
                </a:ext>
              </a:extLst>
            </p:cNvPr>
            <p:cNvSpPr/>
            <p:nvPr/>
          </p:nvSpPr>
          <p:spPr>
            <a:xfrm>
              <a:off x="3007448" y="4278176"/>
              <a:ext cx="0" cy="171231"/>
            </a:xfrm>
            <a:custGeom>
              <a:avLst/>
              <a:gdLst/>
              <a:ahLst/>
              <a:cxnLst/>
              <a:rect l="0" t="0" r="0" b="0"/>
              <a:pathLst>
                <a:path w="1192507" h="171231">
                  <a:moveTo>
                    <a:pt x="0" y="0"/>
                  </a:moveTo>
                  <a:lnTo>
                    <a:pt x="1113007" y="0"/>
                  </a:lnTo>
                  <a:cubicBezTo>
                    <a:pt x="1166007" y="0"/>
                    <a:pt x="1192507" y="26500"/>
                    <a:pt x="1192507" y="79500"/>
                  </a:cubicBezTo>
                  <a:lnTo>
                    <a:pt x="1192507" y="91731"/>
                  </a:lnTo>
                  <a:cubicBezTo>
                    <a:pt x="1192507" y="144731"/>
                    <a:pt x="1166007" y="171231"/>
                    <a:pt x="1113007" y="171231"/>
                  </a:cubicBezTo>
                  <a:lnTo>
                    <a:pt x="0" y="17123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904">
              <a:solidFill>
                <a:srgbClr val="EEEAD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4" name="Rounded Rectangle 21">
              <a:extLst>
                <a:ext uri="{FF2B5EF4-FFF2-40B4-BE49-F238E27FC236}">
                  <a16:creationId xmlns:a16="http://schemas.microsoft.com/office/drawing/2014/main" id="{EBCEAF89-2D42-FD49-CDD0-276595E94F51}"/>
                </a:ext>
              </a:extLst>
            </p:cNvPr>
            <p:cNvSpPr/>
            <p:nvPr/>
          </p:nvSpPr>
          <p:spPr>
            <a:xfrm>
              <a:off x="3007448" y="4920289"/>
              <a:ext cx="1431009" cy="171234"/>
            </a:xfrm>
            <a:custGeom>
              <a:avLst/>
              <a:gdLst/>
              <a:ahLst/>
              <a:cxnLst/>
              <a:rect l="0" t="0" r="0" b="0"/>
              <a:pathLst>
                <a:path w="1669508" h="171234">
                  <a:moveTo>
                    <a:pt x="0" y="0"/>
                  </a:moveTo>
                  <a:lnTo>
                    <a:pt x="1590012" y="0"/>
                  </a:lnTo>
                  <a:cubicBezTo>
                    <a:pt x="1643012" y="0"/>
                    <a:pt x="1669508" y="26502"/>
                    <a:pt x="1669508" y="79501"/>
                  </a:cubicBezTo>
                  <a:lnTo>
                    <a:pt x="1669508" y="91732"/>
                  </a:lnTo>
                  <a:cubicBezTo>
                    <a:pt x="1669508" y="144731"/>
                    <a:pt x="1643012" y="171234"/>
                    <a:pt x="1590012" y="171234"/>
                  </a:cubicBezTo>
                  <a:lnTo>
                    <a:pt x="0" y="171234"/>
                  </a:lnTo>
                  <a:lnTo>
                    <a:pt x="0" y="0"/>
                  </a:lnTo>
                </a:path>
              </a:pathLst>
            </a:custGeom>
            <a:solidFill>
              <a:srgbClr val="E3C47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5" name="Rounded Rectangle 22">
              <a:extLst>
                <a:ext uri="{FF2B5EF4-FFF2-40B4-BE49-F238E27FC236}">
                  <a16:creationId xmlns:a16="http://schemas.microsoft.com/office/drawing/2014/main" id="{8E2C5671-1E6D-4866-6C7B-1513CB8AB7A7}"/>
                </a:ext>
              </a:extLst>
            </p:cNvPr>
            <p:cNvSpPr/>
            <p:nvPr/>
          </p:nvSpPr>
          <p:spPr>
            <a:xfrm>
              <a:off x="3007448" y="4920289"/>
              <a:ext cx="1431009" cy="171231"/>
            </a:xfrm>
            <a:custGeom>
              <a:avLst/>
              <a:gdLst/>
              <a:ahLst/>
              <a:cxnLst/>
              <a:rect l="0" t="0" r="0" b="0"/>
              <a:pathLst>
                <a:path w="1669511" h="171231">
                  <a:moveTo>
                    <a:pt x="0" y="0"/>
                  </a:moveTo>
                  <a:lnTo>
                    <a:pt x="1590010" y="0"/>
                  </a:lnTo>
                  <a:cubicBezTo>
                    <a:pt x="1643010" y="0"/>
                    <a:pt x="1669511" y="26500"/>
                    <a:pt x="1669511" y="79500"/>
                  </a:cubicBezTo>
                  <a:lnTo>
                    <a:pt x="1669511" y="91731"/>
                  </a:lnTo>
                  <a:cubicBezTo>
                    <a:pt x="1669511" y="144731"/>
                    <a:pt x="1643010" y="171231"/>
                    <a:pt x="1590010" y="171231"/>
                  </a:cubicBezTo>
                  <a:lnTo>
                    <a:pt x="0" y="17123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904">
              <a:solidFill>
                <a:srgbClr val="EEEAD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6" name="Rounded Rectangle 23">
              <a:extLst>
                <a:ext uri="{FF2B5EF4-FFF2-40B4-BE49-F238E27FC236}">
                  <a16:creationId xmlns:a16="http://schemas.microsoft.com/office/drawing/2014/main" id="{C5AC437C-B26C-90EE-22B3-93FDB021655B}"/>
                </a:ext>
              </a:extLst>
            </p:cNvPr>
            <p:cNvSpPr/>
            <p:nvPr/>
          </p:nvSpPr>
          <p:spPr>
            <a:xfrm>
              <a:off x="3007448" y="2523054"/>
              <a:ext cx="1431009" cy="171234"/>
            </a:xfrm>
            <a:custGeom>
              <a:avLst/>
              <a:gdLst/>
              <a:ahLst/>
              <a:cxnLst/>
              <a:rect l="0" t="0" r="0" b="0"/>
              <a:pathLst>
                <a:path w="2623518" h="171234">
                  <a:moveTo>
                    <a:pt x="0" y="0"/>
                  </a:moveTo>
                  <a:lnTo>
                    <a:pt x="2544016" y="0"/>
                  </a:lnTo>
                  <a:cubicBezTo>
                    <a:pt x="2597016" y="0"/>
                    <a:pt x="2623518" y="26502"/>
                    <a:pt x="2623518" y="79501"/>
                  </a:cubicBezTo>
                  <a:lnTo>
                    <a:pt x="2623518" y="91732"/>
                  </a:lnTo>
                  <a:cubicBezTo>
                    <a:pt x="2623518" y="144731"/>
                    <a:pt x="2597016" y="171234"/>
                    <a:pt x="2544016" y="171234"/>
                  </a:cubicBezTo>
                  <a:lnTo>
                    <a:pt x="0" y="171234"/>
                  </a:lnTo>
                  <a:lnTo>
                    <a:pt x="0" y="0"/>
                  </a:lnTo>
                </a:path>
              </a:pathLst>
            </a:custGeom>
            <a:solidFill>
              <a:srgbClr val="FCBC6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7" name="Rounded Rectangle 24">
              <a:extLst>
                <a:ext uri="{FF2B5EF4-FFF2-40B4-BE49-F238E27FC236}">
                  <a16:creationId xmlns:a16="http://schemas.microsoft.com/office/drawing/2014/main" id="{7545EC43-78E2-922C-F468-FDB463B84156}"/>
                </a:ext>
              </a:extLst>
            </p:cNvPr>
            <p:cNvSpPr/>
            <p:nvPr/>
          </p:nvSpPr>
          <p:spPr>
            <a:xfrm>
              <a:off x="3007448" y="2523053"/>
              <a:ext cx="1431009" cy="171231"/>
            </a:xfrm>
            <a:custGeom>
              <a:avLst/>
              <a:gdLst/>
              <a:ahLst/>
              <a:cxnLst/>
              <a:rect l="0" t="0" r="0" b="0"/>
              <a:pathLst>
                <a:path w="2623517" h="171231">
                  <a:moveTo>
                    <a:pt x="0" y="0"/>
                  </a:moveTo>
                  <a:lnTo>
                    <a:pt x="2544016" y="0"/>
                  </a:lnTo>
                  <a:cubicBezTo>
                    <a:pt x="2597017" y="0"/>
                    <a:pt x="2623517" y="26500"/>
                    <a:pt x="2623517" y="79500"/>
                  </a:cubicBezTo>
                  <a:lnTo>
                    <a:pt x="2623517" y="91731"/>
                  </a:lnTo>
                  <a:cubicBezTo>
                    <a:pt x="2623517" y="144731"/>
                    <a:pt x="2597017" y="171231"/>
                    <a:pt x="2544016" y="171231"/>
                  </a:cubicBezTo>
                  <a:lnTo>
                    <a:pt x="0" y="17123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904">
              <a:solidFill>
                <a:srgbClr val="EEEAD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8" name="Rounded Rectangle 25">
              <a:extLst>
                <a:ext uri="{FF2B5EF4-FFF2-40B4-BE49-F238E27FC236}">
                  <a16:creationId xmlns:a16="http://schemas.microsoft.com/office/drawing/2014/main" id="{AE55307B-EBCC-A984-3EAC-941BF0912FDA}"/>
                </a:ext>
              </a:extLst>
            </p:cNvPr>
            <p:cNvSpPr/>
            <p:nvPr/>
          </p:nvSpPr>
          <p:spPr>
            <a:xfrm>
              <a:off x="3007448" y="3165166"/>
              <a:ext cx="2385016" cy="171234"/>
            </a:xfrm>
            <a:custGeom>
              <a:avLst/>
              <a:gdLst/>
              <a:ahLst/>
              <a:cxnLst/>
              <a:rect l="0" t="0" r="0" b="0"/>
              <a:pathLst>
                <a:path w="2146513" h="171234">
                  <a:moveTo>
                    <a:pt x="0" y="0"/>
                  </a:moveTo>
                  <a:lnTo>
                    <a:pt x="2067011" y="0"/>
                  </a:lnTo>
                  <a:cubicBezTo>
                    <a:pt x="2120010" y="0"/>
                    <a:pt x="2146513" y="26502"/>
                    <a:pt x="2146513" y="79501"/>
                  </a:cubicBezTo>
                  <a:lnTo>
                    <a:pt x="2146513" y="91732"/>
                  </a:lnTo>
                  <a:cubicBezTo>
                    <a:pt x="2146513" y="144731"/>
                    <a:pt x="2120010" y="171234"/>
                    <a:pt x="2067011" y="171234"/>
                  </a:cubicBezTo>
                  <a:lnTo>
                    <a:pt x="0" y="171234"/>
                  </a:lnTo>
                  <a:lnTo>
                    <a:pt x="0" y="0"/>
                  </a:lnTo>
                </a:path>
              </a:pathLst>
            </a:custGeom>
            <a:solidFill>
              <a:srgbClr val="FCBC6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9" name="Rounded Rectangle 26">
              <a:extLst>
                <a:ext uri="{FF2B5EF4-FFF2-40B4-BE49-F238E27FC236}">
                  <a16:creationId xmlns:a16="http://schemas.microsoft.com/office/drawing/2014/main" id="{21E4F3B0-9246-7582-3618-24006343E1C6}"/>
                </a:ext>
              </a:extLst>
            </p:cNvPr>
            <p:cNvSpPr/>
            <p:nvPr/>
          </p:nvSpPr>
          <p:spPr>
            <a:xfrm>
              <a:off x="3007448" y="3165166"/>
              <a:ext cx="2385016" cy="171231"/>
            </a:xfrm>
            <a:custGeom>
              <a:avLst/>
              <a:gdLst/>
              <a:ahLst/>
              <a:cxnLst/>
              <a:rect l="0" t="0" r="0" b="0"/>
              <a:pathLst>
                <a:path w="2146514" h="171231">
                  <a:moveTo>
                    <a:pt x="0" y="0"/>
                  </a:moveTo>
                  <a:lnTo>
                    <a:pt x="2067013" y="0"/>
                  </a:lnTo>
                  <a:cubicBezTo>
                    <a:pt x="2120013" y="0"/>
                    <a:pt x="2146514" y="26500"/>
                    <a:pt x="2146514" y="79500"/>
                  </a:cubicBezTo>
                  <a:lnTo>
                    <a:pt x="2146514" y="91731"/>
                  </a:lnTo>
                  <a:cubicBezTo>
                    <a:pt x="2146514" y="144731"/>
                    <a:pt x="2120013" y="171231"/>
                    <a:pt x="2067013" y="171231"/>
                  </a:cubicBezTo>
                  <a:lnTo>
                    <a:pt x="0" y="17123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904">
              <a:solidFill>
                <a:srgbClr val="EEEAD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0" name="Rounded Rectangle 27">
              <a:extLst>
                <a:ext uri="{FF2B5EF4-FFF2-40B4-BE49-F238E27FC236}">
                  <a16:creationId xmlns:a16="http://schemas.microsoft.com/office/drawing/2014/main" id="{683D7D67-5638-FE42-73F1-956F310CB6AD}"/>
                </a:ext>
              </a:extLst>
            </p:cNvPr>
            <p:cNvSpPr/>
            <p:nvPr/>
          </p:nvSpPr>
          <p:spPr>
            <a:xfrm>
              <a:off x="3007448" y="3807285"/>
              <a:ext cx="2003413" cy="171234"/>
            </a:xfrm>
            <a:custGeom>
              <a:avLst/>
              <a:gdLst/>
              <a:ahLst/>
              <a:cxnLst/>
              <a:rect l="0" t="0" r="0" b="0"/>
              <a:pathLst>
                <a:path w="3100517" h="171234">
                  <a:moveTo>
                    <a:pt x="0" y="0"/>
                  </a:moveTo>
                  <a:lnTo>
                    <a:pt x="3021021" y="0"/>
                  </a:lnTo>
                  <a:cubicBezTo>
                    <a:pt x="3074021" y="0"/>
                    <a:pt x="3100517" y="26502"/>
                    <a:pt x="3100517" y="79501"/>
                  </a:cubicBezTo>
                  <a:lnTo>
                    <a:pt x="3100517" y="91732"/>
                  </a:lnTo>
                  <a:cubicBezTo>
                    <a:pt x="3100517" y="144731"/>
                    <a:pt x="3074021" y="171234"/>
                    <a:pt x="3021021" y="171234"/>
                  </a:cubicBezTo>
                  <a:lnTo>
                    <a:pt x="0" y="171234"/>
                  </a:lnTo>
                  <a:lnTo>
                    <a:pt x="0" y="0"/>
                  </a:lnTo>
                </a:path>
              </a:pathLst>
            </a:custGeom>
            <a:solidFill>
              <a:srgbClr val="FCBC6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1" name="Rounded Rectangle 28">
              <a:extLst>
                <a:ext uri="{FF2B5EF4-FFF2-40B4-BE49-F238E27FC236}">
                  <a16:creationId xmlns:a16="http://schemas.microsoft.com/office/drawing/2014/main" id="{FA317F9A-EF0D-E286-550B-A764BCE9578C}"/>
                </a:ext>
              </a:extLst>
            </p:cNvPr>
            <p:cNvSpPr/>
            <p:nvPr/>
          </p:nvSpPr>
          <p:spPr>
            <a:xfrm>
              <a:off x="3007448" y="3807284"/>
              <a:ext cx="2003413" cy="171231"/>
            </a:xfrm>
            <a:custGeom>
              <a:avLst/>
              <a:gdLst/>
              <a:ahLst/>
              <a:cxnLst/>
              <a:rect l="0" t="0" r="0" b="0"/>
              <a:pathLst>
                <a:path w="3100520" h="171231">
                  <a:moveTo>
                    <a:pt x="0" y="0"/>
                  </a:moveTo>
                  <a:lnTo>
                    <a:pt x="3021019" y="0"/>
                  </a:lnTo>
                  <a:cubicBezTo>
                    <a:pt x="3074020" y="0"/>
                    <a:pt x="3100520" y="26500"/>
                    <a:pt x="3100520" y="79500"/>
                  </a:cubicBezTo>
                  <a:lnTo>
                    <a:pt x="3100520" y="91731"/>
                  </a:lnTo>
                  <a:cubicBezTo>
                    <a:pt x="3100520" y="144731"/>
                    <a:pt x="3074020" y="171231"/>
                    <a:pt x="3021019" y="171231"/>
                  </a:cubicBezTo>
                  <a:lnTo>
                    <a:pt x="0" y="17123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904">
              <a:solidFill>
                <a:srgbClr val="EEEAD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2" name="Rounded Rectangle 29">
              <a:extLst>
                <a:ext uri="{FF2B5EF4-FFF2-40B4-BE49-F238E27FC236}">
                  <a16:creationId xmlns:a16="http://schemas.microsoft.com/office/drawing/2014/main" id="{29B133E8-CA46-EBF2-DC0B-271BAD814F77}"/>
                </a:ext>
              </a:extLst>
            </p:cNvPr>
            <p:cNvSpPr/>
            <p:nvPr/>
          </p:nvSpPr>
          <p:spPr>
            <a:xfrm>
              <a:off x="3007448" y="4449410"/>
              <a:ext cx="620104" cy="171234"/>
            </a:xfrm>
            <a:custGeom>
              <a:avLst/>
              <a:gdLst/>
              <a:ahLst/>
              <a:cxnLst/>
              <a:rect l="0" t="0" r="0" b="0"/>
              <a:pathLst>
                <a:path w="1908014" h="171234">
                  <a:moveTo>
                    <a:pt x="0" y="0"/>
                  </a:moveTo>
                  <a:lnTo>
                    <a:pt x="1828512" y="0"/>
                  </a:lnTo>
                  <a:cubicBezTo>
                    <a:pt x="1881511" y="0"/>
                    <a:pt x="1908014" y="26502"/>
                    <a:pt x="1908014" y="79501"/>
                  </a:cubicBezTo>
                  <a:lnTo>
                    <a:pt x="1908014" y="91732"/>
                  </a:lnTo>
                  <a:cubicBezTo>
                    <a:pt x="1908014" y="144731"/>
                    <a:pt x="1881511" y="171234"/>
                    <a:pt x="1828512" y="171234"/>
                  </a:cubicBezTo>
                  <a:lnTo>
                    <a:pt x="0" y="171234"/>
                  </a:lnTo>
                  <a:lnTo>
                    <a:pt x="0" y="0"/>
                  </a:lnTo>
                </a:path>
              </a:pathLst>
            </a:custGeom>
            <a:solidFill>
              <a:srgbClr val="FCBC6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3" name="Rounded Rectangle 30">
              <a:extLst>
                <a:ext uri="{FF2B5EF4-FFF2-40B4-BE49-F238E27FC236}">
                  <a16:creationId xmlns:a16="http://schemas.microsoft.com/office/drawing/2014/main" id="{961C72AD-EA99-EA9C-A7B7-BE47DE1893FE}"/>
                </a:ext>
              </a:extLst>
            </p:cNvPr>
            <p:cNvSpPr/>
            <p:nvPr/>
          </p:nvSpPr>
          <p:spPr>
            <a:xfrm>
              <a:off x="3007448" y="4449409"/>
              <a:ext cx="620104" cy="171231"/>
            </a:xfrm>
            <a:custGeom>
              <a:avLst/>
              <a:gdLst/>
              <a:ahLst/>
              <a:cxnLst/>
              <a:rect l="0" t="0" r="0" b="0"/>
              <a:pathLst>
                <a:path w="1908012" h="171231">
                  <a:moveTo>
                    <a:pt x="0" y="0"/>
                  </a:moveTo>
                  <a:lnTo>
                    <a:pt x="1828511" y="0"/>
                  </a:lnTo>
                  <a:cubicBezTo>
                    <a:pt x="1881512" y="0"/>
                    <a:pt x="1908012" y="26500"/>
                    <a:pt x="1908012" y="79500"/>
                  </a:cubicBezTo>
                  <a:lnTo>
                    <a:pt x="1908012" y="91731"/>
                  </a:lnTo>
                  <a:cubicBezTo>
                    <a:pt x="1908012" y="144731"/>
                    <a:pt x="1881512" y="171231"/>
                    <a:pt x="1828511" y="171231"/>
                  </a:cubicBezTo>
                  <a:lnTo>
                    <a:pt x="0" y="17123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904">
              <a:solidFill>
                <a:srgbClr val="EEEAD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4" name="Rounded Rectangle 31">
              <a:extLst>
                <a:ext uri="{FF2B5EF4-FFF2-40B4-BE49-F238E27FC236}">
                  <a16:creationId xmlns:a16="http://schemas.microsoft.com/office/drawing/2014/main" id="{C8CE9BCD-0972-B0B0-1382-408F5A06476E}"/>
                </a:ext>
              </a:extLst>
            </p:cNvPr>
            <p:cNvSpPr/>
            <p:nvPr/>
          </p:nvSpPr>
          <p:spPr>
            <a:xfrm>
              <a:off x="3007449" y="5091522"/>
              <a:ext cx="2385016" cy="171234"/>
            </a:xfrm>
            <a:custGeom>
              <a:avLst/>
              <a:gdLst/>
              <a:ahLst/>
              <a:cxnLst/>
              <a:rect l="0" t="0" r="0" b="0"/>
              <a:pathLst>
                <a:path w="2385013" h="171234">
                  <a:moveTo>
                    <a:pt x="0" y="0"/>
                  </a:moveTo>
                  <a:lnTo>
                    <a:pt x="2305517" y="0"/>
                  </a:lnTo>
                  <a:cubicBezTo>
                    <a:pt x="2358516" y="0"/>
                    <a:pt x="2385013" y="26502"/>
                    <a:pt x="2385013" y="79501"/>
                  </a:cubicBezTo>
                  <a:lnTo>
                    <a:pt x="2385013" y="91732"/>
                  </a:lnTo>
                  <a:cubicBezTo>
                    <a:pt x="2385013" y="144731"/>
                    <a:pt x="2358516" y="171234"/>
                    <a:pt x="2305517" y="171234"/>
                  </a:cubicBezTo>
                  <a:lnTo>
                    <a:pt x="0" y="171234"/>
                  </a:lnTo>
                  <a:lnTo>
                    <a:pt x="0" y="0"/>
                  </a:lnTo>
                </a:path>
              </a:pathLst>
            </a:custGeom>
            <a:solidFill>
              <a:srgbClr val="FCBC6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5" name="Rounded Rectangle 32">
              <a:extLst>
                <a:ext uri="{FF2B5EF4-FFF2-40B4-BE49-F238E27FC236}">
                  <a16:creationId xmlns:a16="http://schemas.microsoft.com/office/drawing/2014/main" id="{58CF4175-3DE8-8376-68A3-E40540F13091}"/>
                </a:ext>
              </a:extLst>
            </p:cNvPr>
            <p:cNvSpPr/>
            <p:nvPr/>
          </p:nvSpPr>
          <p:spPr>
            <a:xfrm>
              <a:off x="3007449" y="5091522"/>
              <a:ext cx="2385016" cy="171231"/>
            </a:xfrm>
            <a:custGeom>
              <a:avLst/>
              <a:gdLst/>
              <a:ahLst/>
              <a:cxnLst/>
              <a:rect l="0" t="0" r="0" b="0"/>
              <a:pathLst>
                <a:path w="2385015" h="171231">
                  <a:moveTo>
                    <a:pt x="0" y="0"/>
                  </a:moveTo>
                  <a:lnTo>
                    <a:pt x="2305515" y="0"/>
                  </a:lnTo>
                  <a:cubicBezTo>
                    <a:pt x="2358515" y="0"/>
                    <a:pt x="2385015" y="26500"/>
                    <a:pt x="2385015" y="79500"/>
                  </a:cubicBezTo>
                  <a:lnTo>
                    <a:pt x="2385015" y="91731"/>
                  </a:lnTo>
                  <a:cubicBezTo>
                    <a:pt x="2385015" y="144731"/>
                    <a:pt x="2358515" y="171231"/>
                    <a:pt x="2305515" y="171231"/>
                  </a:cubicBezTo>
                  <a:lnTo>
                    <a:pt x="0" y="17123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904">
              <a:solidFill>
                <a:srgbClr val="EEEAD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6" name="Rounded Rectangle 33">
              <a:extLst>
                <a:ext uri="{FF2B5EF4-FFF2-40B4-BE49-F238E27FC236}">
                  <a16:creationId xmlns:a16="http://schemas.microsoft.com/office/drawing/2014/main" id="{100597BD-C557-60B4-9AB5-23BB00D00904}"/>
                </a:ext>
              </a:extLst>
            </p:cNvPr>
            <p:cNvSpPr/>
            <p:nvPr/>
          </p:nvSpPr>
          <p:spPr>
            <a:xfrm>
              <a:off x="3560958" y="1536488"/>
              <a:ext cx="158579" cy="158585"/>
            </a:xfrm>
            <a:custGeom>
              <a:avLst/>
              <a:gdLst/>
              <a:ahLst/>
              <a:cxnLst/>
              <a:rect l="0" t="0" r="0" b="0"/>
              <a:pathLst>
                <a:path w="158579" h="158585">
                  <a:moveTo>
                    <a:pt x="0" y="79289"/>
                  </a:moveTo>
                  <a:cubicBezTo>
                    <a:pt x="0" y="123079"/>
                    <a:pt x="35499" y="158585"/>
                    <a:pt x="79289" y="158585"/>
                  </a:cubicBezTo>
                  <a:cubicBezTo>
                    <a:pt x="123079" y="158585"/>
                    <a:pt x="158579" y="123079"/>
                    <a:pt x="158579" y="79289"/>
                  </a:cubicBezTo>
                  <a:cubicBezTo>
                    <a:pt x="158579" y="35499"/>
                    <a:pt x="123079" y="0"/>
                    <a:pt x="79289" y="0"/>
                  </a:cubicBezTo>
                  <a:cubicBezTo>
                    <a:pt x="35499" y="0"/>
                    <a:pt x="0" y="35499"/>
                    <a:pt x="0" y="79289"/>
                  </a:cubicBezTo>
                </a:path>
              </a:pathLst>
            </a:custGeom>
            <a:solidFill>
              <a:srgbClr val="9BB6AE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7" name="Rounded Rectangle 34">
              <a:extLst>
                <a:ext uri="{FF2B5EF4-FFF2-40B4-BE49-F238E27FC236}">
                  <a16:creationId xmlns:a16="http://schemas.microsoft.com/office/drawing/2014/main" id="{86411B05-AF52-E8F3-D77A-8E8E51932AB7}"/>
                </a:ext>
              </a:extLst>
            </p:cNvPr>
            <p:cNvSpPr/>
            <p:nvPr/>
          </p:nvSpPr>
          <p:spPr>
            <a:xfrm>
              <a:off x="3555930" y="1528754"/>
              <a:ext cx="158581" cy="158580"/>
            </a:xfrm>
            <a:custGeom>
              <a:avLst/>
              <a:gdLst/>
              <a:ahLst/>
              <a:cxnLst/>
              <a:rect l="0" t="0" r="0" b="0"/>
              <a:pathLst>
                <a:path w="158580" h="158580">
                  <a:moveTo>
                    <a:pt x="0" y="79290"/>
                  </a:moveTo>
                  <a:cubicBezTo>
                    <a:pt x="0" y="123081"/>
                    <a:pt x="35499" y="158580"/>
                    <a:pt x="79290" y="158580"/>
                  </a:cubicBezTo>
                  <a:cubicBezTo>
                    <a:pt x="123081" y="158580"/>
                    <a:pt x="158580" y="123081"/>
                    <a:pt x="158580" y="79290"/>
                  </a:cubicBezTo>
                  <a:cubicBezTo>
                    <a:pt x="158580" y="35499"/>
                    <a:pt x="123081" y="0"/>
                    <a:pt x="79290" y="0"/>
                  </a:cubicBezTo>
                  <a:cubicBezTo>
                    <a:pt x="35499" y="0"/>
                    <a:pt x="0" y="35499"/>
                    <a:pt x="0" y="79290"/>
                  </a:cubicBezTo>
                </a:path>
              </a:pathLst>
            </a:custGeom>
            <a:noFill/>
            <a:ln w="14904">
              <a:solidFill>
                <a:srgbClr val="9BB6AE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8" name="Rounded Rectangle 35">
              <a:extLst>
                <a:ext uri="{FF2B5EF4-FFF2-40B4-BE49-F238E27FC236}">
                  <a16:creationId xmlns:a16="http://schemas.microsoft.com/office/drawing/2014/main" id="{546F3D66-F176-6784-46DB-4249DB60438F}"/>
                </a:ext>
              </a:extLst>
            </p:cNvPr>
            <p:cNvSpPr/>
            <p:nvPr/>
          </p:nvSpPr>
          <p:spPr>
            <a:xfrm>
              <a:off x="4825986" y="1536488"/>
              <a:ext cx="158579" cy="158585"/>
            </a:xfrm>
            <a:custGeom>
              <a:avLst/>
              <a:gdLst/>
              <a:ahLst/>
              <a:cxnLst/>
              <a:rect l="0" t="0" r="0" b="0"/>
              <a:pathLst>
                <a:path w="158579" h="158585">
                  <a:moveTo>
                    <a:pt x="0" y="79289"/>
                  </a:moveTo>
                  <a:cubicBezTo>
                    <a:pt x="0" y="123079"/>
                    <a:pt x="35499" y="158585"/>
                    <a:pt x="79289" y="158585"/>
                  </a:cubicBezTo>
                  <a:cubicBezTo>
                    <a:pt x="123079" y="158585"/>
                    <a:pt x="158579" y="123079"/>
                    <a:pt x="158579" y="79289"/>
                  </a:cubicBezTo>
                  <a:cubicBezTo>
                    <a:pt x="158579" y="35499"/>
                    <a:pt x="123079" y="0"/>
                    <a:pt x="79289" y="0"/>
                  </a:cubicBezTo>
                  <a:cubicBezTo>
                    <a:pt x="35499" y="0"/>
                    <a:pt x="0" y="35499"/>
                    <a:pt x="0" y="79289"/>
                  </a:cubicBezTo>
                </a:path>
              </a:pathLst>
            </a:custGeom>
            <a:solidFill>
              <a:srgbClr val="E3C47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9" name="Rounded Rectangle 36">
              <a:extLst>
                <a:ext uri="{FF2B5EF4-FFF2-40B4-BE49-F238E27FC236}">
                  <a16:creationId xmlns:a16="http://schemas.microsoft.com/office/drawing/2014/main" id="{A0911274-D466-F6D6-C579-C7FB8DA132D9}"/>
                </a:ext>
              </a:extLst>
            </p:cNvPr>
            <p:cNvSpPr/>
            <p:nvPr/>
          </p:nvSpPr>
          <p:spPr>
            <a:xfrm>
              <a:off x="4825986" y="1536490"/>
              <a:ext cx="158580" cy="158580"/>
            </a:xfrm>
            <a:custGeom>
              <a:avLst/>
              <a:gdLst/>
              <a:ahLst/>
              <a:cxnLst/>
              <a:rect l="0" t="0" r="0" b="0"/>
              <a:pathLst>
                <a:path w="158580" h="158580">
                  <a:moveTo>
                    <a:pt x="0" y="79290"/>
                  </a:moveTo>
                  <a:cubicBezTo>
                    <a:pt x="0" y="123081"/>
                    <a:pt x="35499" y="158580"/>
                    <a:pt x="79290" y="158580"/>
                  </a:cubicBezTo>
                  <a:cubicBezTo>
                    <a:pt x="123081" y="158580"/>
                    <a:pt x="158580" y="123081"/>
                    <a:pt x="158580" y="79290"/>
                  </a:cubicBezTo>
                  <a:cubicBezTo>
                    <a:pt x="158580" y="35499"/>
                    <a:pt x="123081" y="0"/>
                    <a:pt x="79290" y="0"/>
                  </a:cubicBezTo>
                  <a:cubicBezTo>
                    <a:pt x="35499" y="0"/>
                    <a:pt x="0" y="35499"/>
                    <a:pt x="0" y="79290"/>
                  </a:cubicBezTo>
                </a:path>
              </a:pathLst>
            </a:custGeom>
            <a:noFill/>
            <a:ln w="14904">
              <a:solidFill>
                <a:srgbClr val="E3C47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0" name="Rounded Rectangle 37">
              <a:extLst>
                <a:ext uri="{FF2B5EF4-FFF2-40B4-BE49-F238E27FC236}">
                  <a16:creationId xmlns:a16="http://schemas.microsoft.com/office/drawing/2014/main" id="{0F4877BB-6E17-3781-5714-C5054030ECBF}"/>
                </a:ext>
              </a:extLst>
            </p:cNvPr>
            <p:cNvSpPr/>
            <p:nvPr/>
          </p:nvSpPr>
          <p:spPr>
            <a:xfrm>
              <a:off x="5848104" y="1536488"/>
              <a:ext cx="158579" cy="158585"/>
            </a:xfrm>
            <a:custGeom>
              <a:avLst/>
              <a:gdLst/>
              <a:ahLst/>
              <a:cxnLst/>
              <a:rect l="0" t="0" r="0" b="0"/>
              <a:pathLst>
                <a:path w="158579" h="158585">
                  <a:moveTo>
                    <a:pt x="0" y="79289"/>
                  </a:moveTo>
                  <a:cubicBezTo>
                    <a:pt x="0" y="123079"/>
                    <a:pt x="35499" y="158585"/>
                    <a:pt x="79289" y="158585"/>
                  </a:cubicBezTo>
                  <a:cubicBezTo>
                    <a:pt x="123079" y="158585"/>
                    <a:pt x="158579" y="123079"/>
                    <a:pt x="158579" y="79289"/>
                  </a:cubicBezTo>
                  <a:cubicBezTo>
                    <a:pt x="158579" y="35499"/>
                    <a:pt x="123079" y="0"/>
                    <a:pt x="79289" y="0"/>
                  </a:cubicBezTo>
                  <a:cubicBezTo>
                    <a:pt x="35499" y="0"/>
                    <a:pt x="0" y="35499"/>
                    <a:pt x="0" y="79289"/>
                  </a:cubicBezTo>
                </a:path>
              </a:pathLst>
            </a:custGeom>
            <a:solidFill>
              <a:srgbClr val="FCBC6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1" name="Rounded Rectangle 38">
              <a:extLst>
                <a:ext uri="{FF2B5EF4-FFF2-40B4-BE49-F238E27FC236}">
                  <a16:creationId xmlns:a16="http://schemas.microsoft.com/office/drawing/2014/main" id="{59630864-BC66-0EED-303D-3F4EBCFF829B}"/>
                </a:ext>
              </a:extLst>
            </p:cNvPr>
            <p:cNvSpPr/>
            <p:nvPr/>
          </p:nvSpPr>
          <p:spPr>
            <a:xfrm>
              <a:off x="5848104" y="1536490"/>
              <a:ext cx="158580" cy="158580"/>
            </a:xfrm>
            <a:custGeom>
              <a:avLst/>
              <a:gdLst/>
              <a:ahLst/>
              <a:cxnLst/>
              <a:rect l="0" t="0" r="0" b="0"/>
              <a:pathLst>
                <a:path w="158580" h="158580">
                  <a:moveTo>
                    <a:pt x="0" y="79290"/>
                  </a:moveTo>
                  <a:cubicBezTo>
                    <a:pt x="0" y="123081"/>
                    <a:pt x="35499" y="158580"/>
                    <a:pt x="79290" y="158580"/>
                  </a:cubicBezTo>
                  <a:cubicBezTo>
                    <a:pt x="123081" y="158580"/>
                    <a:pt x="158580" y="123081"/>
                    <a:pt x="158580" y="79290"/>
                  </a:cubicBezTo>
                  <a:cubicBezTo>
                    <a:pt x="158580" y="35499"/>
                    <a:pt x="123081" y="0"/>
                    <a:pt x="79290" y="0"/>
                  </a:cubicBezTo>
                  <a:cubicBezTo>
                    <a:pt x="35499" y="0"/>
                    <a:pt x="0" y="35499"/>
                    <a:pt x="0" y="79290"/>
                  </a:cubicBezTo>
                </a:path>
              </a:pathLst>
            </a:custGeom>
            <a:noFill/>
            <a:ln w="14904">
              <a:solidFill>
                <a:srgbClr val="FCBC66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2" name="Rounded Rectangle 39">
              <a:extLst>
                <a:ext uri="{FF2B5EF4-FFF2-40B4-BE49-F238E27FC236}">
                  <a16:creationId xmlns:a16="http://schemas.microsoft.com/office/drawing/2014/main" id="{6B5CA76F-7FEB-7AEB-89E2-5C07791D4CCB}"/>
                </a:ext>
              </a:extLst>
            </p:cNvPr>
            <p:cNvSpPr/>
            <p:nvPr/>
          </p:nvSpPr>
          <p:spPr>
            <a:xfrm>
              <a:off x="3012417" y="2057130"/>
              <a:ext cx="6243" cy="3339021"/>
            </a:xfrm>
            <a:custGeom>
              <a:avLst/>
              <a:gdLst/>
              <a:ahLst/>
              <a:cxnLst/>
              <a:rect l="0" t="0" r="0" b="0"/>
              <a:pathLst>
                <a:path w="6243" h="3339021">
                  <a:moveTo>
                    <a:pt x="0" y="3339021"/>
                  </a:moveTo>
                  <a:lnTo>
                    <a:pt x="0" y="0"/>
                  </a:lnTo>
                </a:path>
              </a:pathLst>
            </a:custGeom>
            <a:noFill/>
            <a:ln w="14904">
              <a:solidFill>
                <a:srgbClr val="FFFFFF">
                  <a:alpha val="40000"/>
                </a:srgbClr>
              </a:solidFill>
              <a:prstDash val="dash"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3" name="Rounded Rectangle 40">
              <a:extLst>
                <a:ext uri="{FF2B5EF4-FFF2-40B4-BE49-F238E27FC236}">
                  <a16:creationId xmlns:a16="http://schemas.microsoft.com/office/drawing/2014/main" id="{9308BDEB-991C-405E-3AA9-37047B96D105}"/>
                </a:ext>
              </a:extLst>
            </p:cNvPr>
            <p:cNvSpPr/>
            <p:nvPr/>
          </p:nvSpPr>
          <p:spPr>
            <a:xfrm>
              <a:off x="3489420" y="2057130"/>
              <a:ext cx="6243" cy="3339021"/>
            </a:xfrm>
            <a:custGeom>
              <a:avLst/>
              <a:gdLst/>
              <a:ahLst/>
              <a:cxnLst/>
              <a:rect l="0" t="0" r="0" b="0"/>
              <a:pathLst>
                <a:path w="6243" h="3339021">
                  <a:moveTo>
                    <a:pt x="0" y="3339021"/>
                  </a:moveTo>
                  <a:lnTo>
                    <a:pt x="0" y="0"/>
                  </a:lnTo>
                </a:path>
              </a:pathLst>
            </a:custGeom>
            <a:noFill/>
            <a:ln w="14904">
              <a:solidFill>
                <a:srgbClr val="FFFFFF">
                  <a:alpha val="40000"/>
                </a:srgbClr>
              </a:solidFill>
              <a:prstDash val="dash"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4" name="Rounded Rectangle 41">
              <a:extLst>
                <a:ext uri="{FF2B5EF4-FFF2-40B4-BE49-F238E27FC236}">
                  <a16:creationId xmlns:a16="http://schemas.microsoft.com/office/drawing/2014/main" id="{4F9B8A96-9A40-7B53-E002-34519BDA0505}"/>
                </a:ext>
              </a:extLst>
            </p:cNvPr>
            <p:cNvSpPr/>
            <p:nvPr/>
          </p:nvSpPr>
          <p:spPr>
            <a:xfrm>
              <a:off x="3966423" y="2057130"/>
              <a:ext cx="6243" cy="3339021"/>
            </a:xfrm>
            <a:custGeom>
              <a:avLst/>
              <a:gdLst/>
              <a:ahLst/>
              <a:cxnLst/>
              <a:rect l="0" t="0" r="0" b="0"/>
              <a:pathLst>
                <a:path w="6243" h="3339021">
                  <a:moveTo>
                    <a:pt x="0" y="3339021"/>
                  </a:moveTo>
                  <a:lnTo>
                    <a:pt x="0" y="0"/>
                  </a:lnTo>
                </a:path>
              </a:pathLst>
            </a:custGeom>
            <a:noFill/>
            <a:ln w="14904">
              <a:solidFill>
                <a:srgbClr val="FFFFFF">
                  <a:alpha val="40000"/>
                </a:srgbClr>
              </a:solidFill>
              <a:prstDash val="dash"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5" name="Rounded Rectangle 42">
              <a:extLst>
                <a:ext uri="{FF2B5EF4-FFF2-40B4-BE49-F238E27FC236}">
                  <a16:creationId xmlns:a16="http://schemas.microsoft.com/office/drawing/2014/main" id="{9D450A48-686A-054F-EF94-B61099315E55}"/>
                </a:ext>
              </a:extLst>
            </p:cNvPr>
            <p:cNvSpPr/>
            <p:nvPr/>
          </p:nvSpPr>
          <p:spPr>
            <a:xfrm>
              <a:off x="4443426" y="2057130"/>
              <a:ext cx="6243" cy="3339021"/>
            </a:xfrm>
            <a:custGeom>
              <a:avLst/>
              <a:gdLst/>
              <a:ahLst/>
              <a:cxnLst/>
              <a:rect l="0" t="0" r="0" b="0"/>
              <a:pathLst>
                <a:path w="6243" h="3339021">
                  <a:moveTo>
                    <a:pt x="0" y="3339021"/>
                  </a:moveTo>
                  <a:lnTo>
                    <a:pt x="0" y="0"/>
                  </a:lnTo>
                </a:path>
              </a:pathLst>
            </a:custGeom>
            <a:noFill/>
            <a:ln w="14904">
              <a:solidFill>
                <a:srgbClr val="FFFFFF">
                  <a:alpha val="40000"/>
                </a:srgbClr>
              </a:solidFill>
              <a:prstDash val="dash"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6" name="Rounded Rectangle 43">
              <a:extLst>
                <a:ext uri="{FF2B5EF4-FFF2-40B4-BE49-F238E27FC236}">
                  <a16:creationId xmlns:a16="http://schemas.microsoft.com/office/drawing/2014/main" id="{9829E766-9B9D-EDE2-9DCF-2BCD52F4270F}"/>
                </a:ext>
              </a:extLst>
            </p:cNvPr>
            <p:cNvSpPr/>
            <p:nvPr/>
          </p:nvSpPr>
          <p:spPr>
            <a:xfrm>
              <a:off x="4920429" y="2057130"/>
              <a:ext cx="6243" cy="3339021"/>
            </a:xfrm>
            <a:custGeom>
              <a:avLst/>
              <a:gdLst/>
              <a:ahLst/>
              <a:cxnLst/>
              <a:rect l="0" t="0" r="0" b="0"/>
              <a:pathLst>
                <a:path w="6243" h="3339021">
                  <a:moveTo>
                    <a:pt x="0" y="3339021"/>
                  </a:moveTo>
                  <a:lnTo>
                    <a:pt x="0" y="0"/>
                  </a:lnTo>
                </a:path>
              </a:pathLst>
            </a:custGeom>
            <a:noFill/>
            <a:ln w="14904">
              <a:solidFill>
                <a:srgbClr val="FFFFFF">
                  <a:alpha val="40000"/>
                </a:srgbClr>
              </a:solidFill>
              <a:prstDash val="dash"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7" name="Rounded Rectangle 44">
              <a:extLst>
                <a:ext uri="{FF2B5EF4-FFF2-40B4-BE49-F238E27FC236}">
                  <a16:creationId xmlns:a16="http://schemas.microsoft.com/office/drawing/2014/main" id="{27881A25-C31E-E445-BEA6-AE24839425CD}"/>
                </a:ext>
              </a:extLst>
            </p:cNvPr>
            <p:cNvSpPr/>
            <p:nvPr/>
          </p:nvSpPr>
          <p:spPr>
            <a:xfrm>
              <a:off x="5397433" y="2057130"/>
              <a:ext cx="6243" cy="3339021"/>
            </a:xfrm>
            <a:custGeom>
              <a:avLst/>
              <a:gdLst/>
              <a:ahLst/>
              <a:cxnLst/>
              <a:rect l="0" t="0" r="0" b="0"/>
              <a:pathLst>
                <a:path w="6243" h="3339021">
                  <a:moveTo>
                    <a:pt x="0" y="3339021"/>
                  </a:moveTo>
                  <a:lnTo>
                    <a:pt x="0" y="0"/>
                  </a:lnTo>
                </a:path>
              </a:pathLst>
            </a:custGeom>
            <a:noFill/>
            <a:ln w="14904">
              <a:solidFill>
                <a:srgbClr val="FFFFFF">
                  <a:alpha val="40000"/>
                </a:srgbClr>
              </a:solidFill>
              <a:prstDash val="dash"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8" name="Rounded Rectangle 45">
              <a:extLst>
                <a:ext uri="{FF2B5EF4-FFF2-40B4-BE49-F238E27FC236}">
                  <a16:creationId xmlns:a16="http://schemas.microsoft.com/office/drawing/2014/main" id="{E49B5309-502F-5FEC-A14D-2A0D95192CA4}"/>
                </a:ext>
              </a:extLst>
            </p:cNvPr>
            <p:cNvSpPr/>
            <p:nvPr/>
          </p:nvSpPr>
          <p:spPr>
            <a:xfrm>
              <a:off x="5874436" y="2057130"/>
              <a:ext cx="6243" cy="3339021"/>
            </a:xfrm>
            <a:custGeom>
              <a:avLst/>
              <a:gdLst/>
              <a:ahLst/>
              <a:cxnLst/>
              <a:rect l="0" t="0" r="0" b="0"/>
              <a:pathLst>
                <a:path w="6243" h="3339021">
                  <a:moveTo>
                    <a:pt x="0" y="3339021"/>
                  </a:moveTo>
                  <a:lnTo>
                    <a:pt x="0" y="0"/>
                  </a:lnTo>
                </a:path>
              </a:pathLst>
            </a:custGeom>
            <a:noFill/>
            <a:ln w="14904">
              <a:solidFill>
                <a:srgbClr val="FFFFFF">
                  <a:alpha val="40000"/>
                </a:srgbClr>
              </a:solidFill>
              <a:prstDash val="dash"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9" name="Rounded Rectangle 46">
              <a:extLst>
                <a:ext uri="{FF2B5EF4-FFF2-40B4-BE49-F238E27FC236}">
                  <a16:creationId xmlns:a16="http://schemas.microsoft.com/office/drawing/2014/main" id="{935E82BC-9CDF-70BA-7B07-EE5FE0A5B4B0}"/>
                </a:ext>
              </a:extLst>
            </p:cNvPr>
            <p:cNvSpPr/>
            <p:nvPr/>
          </p:nvSpPr>
          <p:spPr>
            <a:xfrm>
              <a:off x="6351439" y="2057130"/>
              <a:ext cx="6243" cy="3339021"/>
            </a:xfrm>
            <a:custGeom>
              <a:avLst/>
              <a:gdLst/>
              <a:ahLst/>
              <a:cxnLst/>
              <a:rect l="0" t="0" r="0" b="0"/>
              <a:pathLst>
                <a:path w="6243" h="3339021">
                  <a:moveTo>
                    <a:pt x="0" y="3339021"/>
                  </a:moveTo>
                  <a:lnTo>
                    <a:pt x="0" y="0"/>
                  </a:lnTo>
                </a:path>
              </a:pathLst>
            </a:custGeom>
            <a:noFill/>
            <a:ln w="14904">
              <a:solidFill>
                <a:srgbClr val="FFFFFF">
                  <a:alpha val="40000"/>
                </a:srgbClr>
              </a:solidFill>
              <a:prstDash val="dash"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50" name="Rounded Rectangle 47">
              <a:extLst>
                <a:ext uri="{FF2B5EF4-FFF2-40B4-BE49-F238E27FC236}">
                  <a16:creationId xmlns:a16="http://schemas.microsoft.com/office/drawing/2014/main" id="{E4577399-9EF2-368D-45AD-94E6E72AD180}"/>
                </a:ext>
              </a:extLst>
            </p:cNvPr>
            <p:cNvSpPr/>
            <p:nvPr/>
          </p:nvSpPr>
          <p:spPr>
            <a:xfrm>
              <a:off x="6828442" y="2057130"/>
              <a:ext cx="6243" cy="3339021"/>
            </a:xfrm>
            <a:custGeom>
              <a:avLst/>
              <a:gdLst/>
              <a:ahLst/>
              <a:cxnLst/>
              <a:rect l="0" t="0" r="0" b="0"/>
              <a:pathLst>
                <a:path w="6243" h="3339021">
                  <a:moveTo>
                    <a:pt x="0" y="3339021"/>
                  </a:moveTo>
                  <a:lnTo>
                    <a:pt x="0" y="0"/>
                  </a:lnTo>
                </a:path>
              </a:pathLst>
            </a:custGeom>
            <a:noFill/>
            <a:ln w="14904">
              <a:solidFill>
                <a:srgbClr val="FFFFFF">
                  <a:alpha val="40000"/>
                </a:srgbClr>
              </a:solidFill>
              <a:prstDash val="dash"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51" name="Rounded Rectangle 48">
              <a:extLst>
                <a:ext uri="{FF2B5EF4-FFF2-40B4-BE49-F238E27FC236}">
                  <a16:creationId xmlns:a16="http://schemas.microsoft.com/office/drawing/2014/main" id="{34436923-E7B4-13E2-1B80-C03B13D54C75}"/>
                </a:ext>
              </a:extLst>
            </p:cNvPr>
            <p:cNvSpPr/>
            <p:nvPr/>
          </p:nvSpPr>
          <p:spPr>
            <a:xfrm>
              <a:off x="7305445" y="2057130"/>
              <a:ext cx="6243" cy="3339021"/>
            </a:xfrm>
            <a:custGeom>
              <a:avLst/>
              <a:gdLst/>
              <a:ahLst/>
              <a:cxnLst/>
              <a:rect l="0" t="0" r="0" b="0"/>
              <a:pathLst>
                <a:path w="6243" h="3339021">
                  <a:moveTo>
                    <a:pt x="0" y="3339021"/>
                  </a:moveTo>
                  <a:lnTo>
                    <a:pt x="0" y="0"/>
                  </a:lnTo>
                </a:path>
              </a:pathLst>
            </a:custGeom>
            <a:noFill/>
            <a:ln w="14904">
              <a:solidFill>
                <a:srgbClr val="FFFFFF">
                  <a:alpha val="40000"/>
                </a:srgbClr>
              </a:solidFill>
              <a:prstDash val="dash"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52" name="Rounded Rectangle 49">
              <a:extLst>
                <a:ext uri="{FF2B5EF4-FFF2-40B4-BE49-F238E27FC236}">
                  <a16:creationId xmlns:a16="http://schemas.microsoft.com/office/drawing/2014/main" id="{0508DB6D-BF30-EA7F-5401-A1CC9194F4D6}"/>
                </a:ext>
              </a:extLst>
            </p:cNvPr>
            <p:cNvSpPr/>
            <p:nvPr/>
          </p:nvSpPr>
          <p:spPr>
            <a:xfrm>
              <a:off x="7782448" y="2057130"/>
              <a:ext cx="6243" cy="3339021"/>
            </a:xfrm>
            <a:custGeom>
              <a:avLst/>
              <a:gdLst/>
              <a:ahLst/>
              <a:cxnLst/>
              <a:rect l="0" t="0" r="0" b="0"/>
              <a:pathLst>
                <a:path w="6243" h="3339021">
                  <a:moveTo>
                    <a:pt x="0" y="3339021"/>
                  </a:moveTo>
                  <a:lnTo>
                    <a:pt x="0" y="0"/>
                  </a:lnTo>
                </a:path>
              </a:pathLst>
            </a:custGeom>
            <a:noFill/>
            <a:ln w="14904">
              <a:solidFill>
                <a:srgbClr val="FFFFFF">
                  <a:alpha val="40000"/>
                </a:srgbClr>
              </a:solidFill>
              <a:prstDash val="dash"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53" name="Rounded Rectangle 50">
              <a:extLst>
                <a:ext uri="{FF2B5EF4-FFF2-40B4-BE49-F238E27FC236}">
                  <a16:creationId xmlns:a16="http://schemas.microsoft.com/office/drawing/2014/main" id="{3D58D967-1E9B-82A2-BA87-5237AA491F4E}"/>
                </a:ext>
              </a:extLst>
            </p:cNvPr>
            <p:cNvSpPr/>
            <p:nvPr/>
          </p:nvSpPr>
          <p:spPr>
            <a:xfrm>
              <a:off x="3012417" y="5396150"/>
              <a:ext cx="6243" cy="49687"/>
            </a:xfrm>
            <a:custGeom>
              <a:avLst/>
              <a:gdLst/>
              <a:ahLst/>
              <a:cxnLst/>
              <a:rect l="0" t="0" r="0" b="0"/>
              <a:pathLst>
                <a:path w="6243" h="49687">
                  <a:moveTo>
                    <a:pt x="0" y="0"/>
                  </a:moveTo>
                  <a:lnTo>
                    <a:pt x="0" y="49687"/>
                  </a:lnTo>
                </a:path>
              </a:pathLst>
            </a:custGeom>
            <a:noFill/>
            <a:ln w="14904">
              <a:solidFill>
                <a:srgbClr val="584053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54" name="Rounded Rectangle 51">
              <a:extLst>
                <a:ext uri="{FF2B5EF4-FFF2-40B4-BE49-F238E27FC236}">
                  <a16:creationId xmlns:a16="http://schemas.microsoft.com/office/drawing/2014/main" id="{8ABDD627-7B3B-7ED0-66EB-072986C386E7}"/>
                </a:ext>
              </a:extLst>
            </p:cNvPr>
            <p:cNvSpPr/>
            <p:nvPr/>
          </p:nvSpPr>
          <p:spPr>
            <a:xfrm>
              <a:off x="3489420" y="5396150"/>
              <a:ext cx="6243" cy="49687"/>
            </a:xfrm>
            <a:custGeom>
              <a:avLst/>
              <a:gdLst/>
              <a:ahLst/>
              <a:cxnLst/>
              <a:rect l="0" t="0" r="0" b="0"/>
              <a:pathLst>
                <a:path w="6243" h="49687">
                  <a:moveTo>
                    <a:pt x="0" y="0"/>
                  </a:moveTo>
                  <a:lnTo>
                    <a:pt x="0" y="49687"/>
                  </a:lnTo>
                </a:path>
              </a:pathLst>
            </a:custGeom>
            <a:noFill/>
            <a:ln w="14904">
              <a:solidFill>
                <a:srgbClr val="584053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55" name="Rounded Rectangle 52">
              <a:extLst>
                <a:ext uri="{FF2B5EF4-FFF2-40B4-BE49-F238E27FC236}">
                  <a16:creationId xmlns:a16="http://schemas.microsoft.com/office/drawing/2014/main" id="{C77E2ECD-A1C4-D6CA-EDF0-D70D93F6DE98}"/>
                </a:ext>
              </a:extLst>
            </p:cNvPr>
            <p:cNvSpPr/>
            <p:nvPr/>
          </p:nvSpPr>
          <p:spPr>
            <a:xfrm>
              <a:off x="3966423" y="5396150"/>
              <a:ext cx="6243" cy="49687"/>
            </a:xfrm>
            <a:custGeom>
              <a:avLst/>
              <a:gdLst/>
              <a:ahLst/>
              <a:cxnLst/>
              <a:rect l="0" t="0" r="0" b="0"/>
              <a:pathLst>
                <a:path w="6243" h="49687">
                  <a:moveTo>
                    <a:pt x="0" y="0"/>
                  </a:moveTo>
                  <a:lnTo>
                    <a:pt x="0" y="49687"/>
                  </a:lnTo>
                </a:path>
              </a:pathLst>
            </a:custGeom>
            <a:noFill/>
            <a:ln w="14904">
              <a:solidFill>
                <a:srgbClr val="584053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56" name="Rounded Rectangle 53">
              <a:extLst>
                <a:ext uri="{FF2B5EF4-FFF2-40B4-BE49-F238E27FC236}">
                  <a16:creationId xmlns:a16="http://schemas.microsoft.com/office/drawing/2014/main" id="{7CBB0943-3EFE-E7ED-F1E0-83B56DAC477D}"/>
                </a:ext>
              </a:extLst>
            </p:cNvPr>
            <p:cNvSpPr/>
            <p:nvPr/>
          </p:nvSpPr>
          <p:spPr>
            <a:xfrm>
              <a:off x="4443426" y="5396150"/>
              <a:ext cx="6243" cy="49687"/>
            </a:xfrm>
            <a:custGeom>
              <a:avLst/>
              <a:gdLst/>
              <a:ahLst/>
              <a:cxnLst/>
              <a:rect l="0" t="0" r="0" b="0"/>
              <a:pathLst>
                <a:path w="6243" h="49687">
                  <a:moveTo>
                    <a:pt x="0" y="0"/>
                  </a:moveTo>
                  <a:lnTo>
                    <a:pt x="0" y="49687"/>
                  </a:lnTo>
                </a:path>
              </a:pathLst>
            </a:custGeom>
            <a:noFill/>
            <a:ln w="14904">
              <a:solidFill>
                <a:srgbClr val="584053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57" name="Rounded Rectangle 54">
              <a:extLst>
                <a:ext uri="{FF2B5EF4-FFF2-40B4-BE49-F238E27FC236}">
                  <a16:creationId xmlns:a16="http://schemas.microsoft.com/office/drawing/2014/main" id="{69EA1660-CAED-BBFD-66FD-732E4EC36E3B}"/>
                </a:ext>
              </a:extLst>
            </p:cNvPr>
            <p:cNvSpPr/>
            <p:nvPr/>
          </p:nvSpPr>
          <p:spPr>
            <a:xfrm>
              <a:off x="4920429" y="5396150"/>
              <a:ext cx="6243" cy="49687"/>
            </a:xfrm>
            <a:custGeom>
              <a:avLst/>
              <a:gdLst/>
              <a:ahLst/>
              <a:cxnLst/>
              <a:rect l="0" t="0" r="0" b="0"/>
              <a:pathLst>
                <a:path w="6243" h="49687">
                  <a:moveTo>
                    <a:pt x="0" y="0"/>
                  </a:moveTo>
                  <a:lnTo>
                    <a:pt x="0" y="49687"/>
                  </a:lnTo>
                </a:path>
              </a:pathLst>
            </a:custGeom>
            <a:noFill/>
            <a:ln w="14904">
              <a:solidFill>
                <a:srgbClr val="584053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58" name="Rounded Rectangle 55">
              <a:extLst>
                <a:ext uri="{FF2B5EF4-FFF2-40B4-BE49-F238E27FC236}">
                  <a16:creationId xmlns:a16="http://schemas.microsoft.com/office/drawing/2014/main" id="{DB9A2B9B-DF10-52A3-8870-227CB202320D}"/>
                </a:ext>
              </a:extLst>
            </p:cNvPr>
            <p:cNvSpPr/>
            <p:nvPr/>
          </p:nvSpPr>
          <p:spPr>
            <a:xfrm>
              <a:off x="5397433" y="5396150"/>
              <a:ext cx="6243" cy="49687"/>
            </a:xfrm>
            <a:custGeom>
              <a:avLst/>
              <a:gdLst/>
              <a:ahLst/>
              <a:cxnLst/>
              <a:rect l="0" t="0" r="0" b="0"/>
              <a:pathLst>
                <a:path w="6243" h="49687">
                  <a:moveTo>
                    <a:pt x="0" y="0"/>
                  </a:moveTo>
                  <a:lnTo>
                    <a:pt x="0" y="49687"/>
                  </a:lnTo>
                </a:path>
              </a:pathLst>
            </a:custGeom>
            <a:noFill/>
            <a:ln w="14904">
              <a:solidFill>
                <a:srgbClr val="584053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59" name="Rounded Rectangle 56">
              <a:extLst>
                <a:ext uri="{FF2B5EF4-FFF2-40B4-BE49-F238E27FC236}">
                  <a16:creationId xmlns:a16="http://schemas.microsoft.com/office/drawing/2014/main" id="{D56C81A4-D12C-9DC2-9489-684DC23F4B9F}"/>
                </a:ext>
              </a:extLst>
            </p:cNvPr>
            <p:cNvSpPr/>
            <p:nvPr/>
          </p:nvSpPr>
          <p:spPr>
            <a:xfrm>
              <a:off x="5874436" y="5396150"/>
              <a:ext cx="6243" cy="49687"/>
            </a:xfrm>
            <a:custGeom>
              <a:avLst/>
              <a:gdLst/>
              <a:ahLst/>
              <a:cxnLst/>
              <a:rect l="0" t="0" r="0" b="0"/>
              <a:pathLst>
                <a:path w="6243" h="49687">
                  <a:moveTo>
                    <a:pt x="0" y="0"/>
                  </a:moveTo>
                  <a:lnTo>
                    <a:pt x="0" y="49687"/>
                  </a:lnTo>
                </a:path>
              </a:pathLst>
            </a:custGeom>
            <a:noFill/>
            <a:ln w="14904">
              <a:solidFill>
                <a:srgbClr val="584053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60" name="Rounded Rectangle 57">
              <a:extLst>
                <a:ext uri="{FF2B5EF4-FFF2-40B4-BE49-F238E27FC236}">
                  <a16:creationId xmlns:a16="http://schemas.microsoft.com/office/drawing/2014/main" id="{7D8B303F-9186-CD5B-50AF-2E284BF03601}"/>
                </a:ext>
              </a:extLst>
            </p:cNvPr>
            <p:cNvSpPr/>
            <p:nvPr/>
          </p:nvSpPr>
          <p:spPr>
            <a:xfrm>
              <a:off x="6351439" y="5396150"/>
              <a:ext cx="6243" cy="49687"/>
            </a:xfrm>
            <a:custGeom>
              <a:avLst/>
              <a:gdLst/>
              <a:ahLst/>
              <a:cxnLst/>
              <a:rect l="0" t="0" r="0" b="0"/>
              <a:pathLst>
                <a:path w="6243" h="49687">
                  <a:moveTo>
                    <a:pt x="0" y="0"/>
                  </a:moveTo>
                  <a:lnTo>
                    <a:pt x="0" y="49687"/>
                  </a:lnTo>
                </a:path>
              </a:pathLst>
            </a:custGeom>
            <a:noFill/>
            <a:ln w="14904">
              <a:solidFill>
                <a:srgbClr val="584053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61" name="Rounded Rectangle 58">
              <a:extLst>
                <a:ext uri="{FF2B5EF4-FFF2-40B4-BE49-F238E27FC236}">
                  <a16:creationId xmlns:a16="http://schemas.microsoft.com/office/drawing/2014/main" id="{4422AF6C-E04C-28DF-1420-9D0C0E989599}"/>
                </a:ext>
              </a:extLst>
            </p:cNvPr>
            <p:cNvSpPr/>
            <p:nvPr/>
          </p:nvSpPr>
          <p:spPr>
            <a:xfrm>
              <a:off x="6828442" y="5396150"/>
              <a:ext cx="6243" cy="49687"/>
            </a:xfrm>
            <a:custGeom>
              <a:avLst/>
              <a:gdLst/>
              <a:ahLst/>
              <a:cxnLst/>
              <a:rect l="0" t="0" r="0" b="0"/>
              <a:pathLst>
                <a:path w="6243" h="49687">
                  <a:moveTo>
                    <a:pt x="0" y="0"/>
                  </a:moveTo>
                  <a:lnTo>
                    <a:pt x="0" y="49687"/>
                  </a:lnTo>
                </a:path>
              </a:pathLst>
            </a:custGeom>
            <a:noFill/>
            <a:ln w="14904">
              <a:solidFill>
                <a:srgbClr val="584053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62" name="Rounded Rectangle 59">
              <a:extLst>
                <a:ext uri="{FF2B5EF4-FFF2-40B4-BE49-F238E27FC236}">
                  <a16:creationId xmlns:a16="http://schemas.microsoft.com/office/drawing/2014/main" id="{413E0D34-4750-6A91-1F1F-97F09E17F452}"/>
                </a:ext>
              </a:extLst>
            </p:cNvPr>
            <p:cNvSpPr/>
            <p:nvPr/>
          </p:nvSpPr>
          <p:spPr>
            <a:xfrm>
              <a:off x="7305445" y="5396150"/>
              <a:ext cx="6243" cy="49687"/>
            </a:xfrm>
            <a:custGeom>
              <a:avLst/>
              <a:gdLst/>
              <a:ahLst/>
              <a:cxnLst/>
              <a:rect l="0" t="0" r="0" b="0"/>
              <a:pathLst>
                <a:path w="6243" h="49687">
                  <a:moveTo>
                    <a:pt x="0" y="0"/>
                  </a:moveTo>
                  <a:lnTo>
                    <a:pt x="0" y="49687"/>
                  </a:lnTo>
                </a:path>
              </a:pathLst>
            </a:custGeom>
            <a:noFill/>
            <a:ln w="14904">
              <a:solidFill>
                <a:srgbClr val="584053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63" name="Rounded Rectangle 60">
              <a:extLst>
                <a:ext uri="{FF2B5EF4-FFF2-40B4-BE49-F238E27FC236}">
                  <a16:creationId xmlns:a16="http://schemas.microsoft.com/office/drawing/2014/main" id="{5E1AF21E-89E7-5F22-6150-A5ABFC382A22}"/>
                </a:ext>
              </a:extLst>
            </p:cNvPr>
            <p:cNvSpPr/>
            <p:nvPr/>
          </p:nvSpPr>
          <p:spPr>
            <a:xfrm>
              <a:off x="7782448" y="5396150"/>
              <a:ext cx="6243" cy="49687"/>
            </a:xfrm>
            <a:custGeom>
              <a:avLst/>
              <a:gdLst/>
              <a:ahLst/>
              <a:cxnLst/>
              <a:rect l="0" t="0" r="0" b="0"/>
              <a:pathLst>
                <a:path w="6243" h="49687">
                  <a:moveTo>
                    <a:pt x="0" y="0"/>
                  </a:moveTo>
                  <a:lnTo>
                    <a:pt x="0" y="49687"/>
                  </a:lnTo>
                </a:path>
              </a:pathLst>
            </a:custGeom>
            <a:noFill/>
            <a:ln w="14904">
              <a:solidFill>
                <a:srgbClr val="584053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64" name="Rounded Rectangle 61">
              <a:extLst>
                <a:ext uri="{FF2B5EF4-FFF2-40B4-BE49-F238E27FC236}">
                  <a16:creationId xmlns:a16="http://schemas.microsoft.com/office/drawing/2014/main" id="{48565BFF-A699-F1E7-BAEB-3EDCF3A9C0C4}"/>
                </a:ext>
              </a:extLst>
            </p:cNvPr>
            <p:cNvSpPr/>
            <p:nvPr/>
          </p:nvSpPr>
          <p:spPr>
            <a:xfrm>
              <a:off x="2962729" y="2434757"/>
              <a:ext cx="49687" cy="6243"/>
            </a:xfrm>
            <a:custGeom>
              <a:avLst/>
              <a:gdLst/>
              <a:ahLst/>
              <a:cxnLst/>
              <a:rect l="0" t="0" r="0" b="0"/>
              <a:pathLst>
                <a:path w="49687" h="6243">
                  <a:moveTo>
                    <a:pt x="49687" y="0"/>
                  </a:moveTo>
                  <a:lnTo>
                    <a:pt x="0" y="0"/>
                  </a:lnTo>
                </a:path>
              </a:pathLst>
            </a:custGeom>
            <a:noFill/>
            <a:ln w="14904">
              <a:solidFill>
                <a:srgbClr val="584053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65" name="Rounded Rectangle 62">
              <a:extLst>
                <a:ext uri="{FF2B5EF4-FFF2-40B4-BE49-F238E27FC236}">
                  <a16:creationId xmlns:a16="http://schemas.microsoft.com/office/drawing/2014/main" id="{367054B1-696D-33F0-A117-60038343BAC2}"/>
                </a:ext>
              </a:extLst>
            </p:cNvPr>
            <p:cNvSpPr/>
            <p:nvPr/>
          </p:nvSpPr>
          <p:spPr>
            <a:xfrm>
              <a:off x="2962729" y="3080699"/>
              <a:ext cx="49687" cy="6243"/>
            </a:xfrm>
            <a:custGeom>
              <a:avLst/>
              <a:gdLst/>
              <a:ahLst/>
              <a:cxnLst/>
              <a:rect l="0" t="0" r="0" b="0"/>
              <a:pathLst>
                <a:path w="49687" h="6243">
                  <a:moveTo>
                    <a:pt x="49687" y="0"/>
                  </a:moveTo>
                  <a:lnTo>
                    <a:pt x="0" y="0"/>
                  </a:lnTo>
                </a:path>
              </a:pathLst>
            </a:custGeom>
            <a:noFill/>
            <a:ln w="14904">
              <a:solidFill>
                <a:srgbClr val="584053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66" name="Rounded Rectangle 63">
              <a:extLst>
                <a:ext uri="{FF2B5EF4-FFF2-40B4-BE49-F238E27FC236}">
                  <a16:creationId xmlns:a16="http://schemas.microsoft.com/office/drawing/2014/main" id="{43F88362-5698-93D5-BCD0-A48BDF394714}"/>
                </a:ext>
              </a:extLst>
            </p:cNvPr>
            <p:cNvSpPr/>
            <p:nvPr/>
          </p:nvSpPr>
          <p:spPr>
            <a:xfrm>
              <a:off x="2962729" y="3716702"/>
              <a:ext cx="49687" cy="6243"/>
            </a:xfrm>
            <a:custGeom>
              <a:avLst/>
              <a:gdLst/>
              <a:ahLst/>
              <a:cxnLst/>
              <a:rect l="0" t="0" r="0" b="0"/>
              <a:pathLst>
                <a:path w="49687" h="6243">
                  <a:moveTo>
                    <a:pt x="49687" y="0"/>
                  </a:moveTo>
                  <a:lnTo>
                    <a:pt x="0" y="0"/>
                  </a:lnTo>
                </a:path>
              </a:pathLst>
            </a:custGeom>
            <a:noFill/>
            <a:ln w="14904">
              <a:solidFill>
                <a:srgbClr val="584053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67" name="Rounded Rectangle 64">
              <a:extLst>
                <a:ext uri="{FF2B5EF4-FFF2-40B4-BE49-F238E27FC236}">
                  <a16:creationId xmlns:a16="http://schemas.microsoft.com/office/drawing/2014/main" id="{AFC03462-ACE5-383F-6DD6-A83EDD3AAD3B}"/>
                </a:ext>
              </a:extLst>
            </p:cNvPr>
            <p:cNvSpPr/>
            <p:nvPr/>
          </p:nvSpPr>
          <p:spPr>
            <a:xfrm>
              <a:off x="2962729" y="4362643"/>
              <a:ext cx="49687" cy="6243"/>
            </a:xfrm>
            <a:custGeom>
              <a:avLst/>
              <a:gdLst/>
              <a:ahLst/>
              <a:cxnLst/>
              <a:rect l="0" t="0" r="0" b="0"/>
              <a:pathLst>
                <a:path w="49687" h="6243">
                  <a:moveTo>
                    <a:pt x="49687" y="0"/>
                  </a:moveTo>
                  <a:lnTo>
                    <a:pt x="0" y="0"/>
                  </a:lnTo>
                </a:path>
              </a:pathLst>
            </a:custGeom>
            <a:noFill/>
            <a:ln w="14904">
              <a:solidFill>
                <a:srgbClr val="584053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68" name="Rounded Rectangle 65">
              <a:extLst>
                <a:ext uri="{FF2B5EF4-FFF2-40B4-BE49-F238E27FC236}">
                  <a16:creationId xmlns:a16="http://schemas.microsoft.com/office/drawing/2014/main" id="{630F2E1F-82B7-A17A-CD76-2E6E91359112}"/>
                </a:ext>
              </a:extLst>
            </p:cNvPr>
            <p:cNvSpPr/>
            <p:nvPr/>
          </p:nvSpPr>
          <p:spPr>
            <a:xfrm>
              <a:off x="2962729" y="5008585"/>
              <a:ext cx="49687" cy="6243"/>
            </a:xfrm>
            <a:custGeom>
              <a:avLst/>
              <a:gdLst/>
              <a:ahLst/>
              <a:cxnLst/>
              <a:rect l="0" t="0" r="0" b="0"/>
              <a:pathLst>
                <a:path w="49687" h="6243">
                  <a:moveTo>
                    <a:pt x="49687" y="0"/>
                  </a:moveTo>
                  <a:lnTo>
                    <a:pt x="0" y="0"/>
                  </a:lnTo>
                </a:path>
              </a:pathLst>
            </a:custGeom>
            <a:noFill/>
            <a:ln w="14904">
              <a:solidFill>
                <a:srgbClr val="584053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69" name="Rounded Rectangle 66">
              <a:extLst>
                <a:ext uri="{FF2B5EF4-FFF2-40B4-BE49-F238E27FC236}">
                  <a16:creationId xmlns:a16="http://schemas.microsoft.com/office/drawing/2014/main" id="{8717BE12-B617-B739-813B-446FDB9429C5}"/>
                </a:ext>
              </a:extLst>
            </p:cNvPr>
            <p:cNvSpPr/>
            <p:nvPr/>
          </p:nvSpPr>
          <p:spPr>
            <a:xfrm>
              <a:off x="3012417" y="2057130"/>
              <a:ext cx="6243" cy="3339021"/>
            </a:xfrm>
            <a:custGeom>
              <a:avLst/>
              <a:gdLst/>
              <a:ahLst/>
              <a:cxnLst/>
              <a:rect l="0" t="0" r="0" b="0"/>
              <a:pathLst>
                <a:path w="6243" h="3339021">
                  <a:moveTo>
                    <a:pt x="0" y="0"/>
                  </a:moveTo>
                  <a:lnTo>
                    <a:pt x="0" y="3339021"/>
                  </a:lnTo>
                </a:path>
              </a:pathLst>
            </a:custGeom>
            <a:noFill/>
            <a:ln w="14904">
              <a:solidFill>
                <a:srgbClr val="584053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70" name="TextBox 17469">
              <a:extLst>
                <a:ext uri="{FF2B5EF4-FFF2-40B4-BE49-F238E27FC236}">
                  <a16:creationId xmlns:a16="http://schemas.microsoft.com/office/drawing/2014/main" id="{55DBEC73-3B0D-1F0B-7E88-2A7624BA0357}"/>
                </a:ext>
              </a:extLst>
            </p:cNvPr>
            <p:cNvSpPr txBox="1"/>
            <p:nvPr/>
          </p:nvSpPr>
          <p:spPr>
            <a:xfrm>
              <a:off x="5102847" y="3821356"/>
              <a:ext cx="154185" cy="143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Roboto"/>
                </a:rPr>
                <a:t>42</a:t>
              </a:r>
            </a:p>
          </p:txBody>
        </p:sp>
        <p:sp>
          <p:nvSpPr>
            <p:cNvPr id="17471" name="TextBox 17470">
              <a:extLst>
                <a:ext uri="{FF2B5EF4-FFF2-40B4-BE49-F238E27FC236}">
                  <a16:creationId xmlns:a16="http://schemas.microsoft.com/office/drawing/2014/main" id="{B520C198-B3B0-271D-F34A-5FAEDD4076AC}"/>
                </a:ext>
              </a:extLst>
            </p:cNvPr>
            <p:cNvSpPr txBox="1"/>
            <p:nvPr/>
          </p:nvSpPr>
          <p:spPr>
            <a:xfrm>
              <a:off x="1910472" y="4292242"/>
              <a:ext cx="801268" cy="143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100" b="0" dirty="0">
                  <a:solidFill>
                    <a:srgbClr val="584053"/>
                  </a:solidFill>
                  <a:latin typeface="Roboto"/>
                </a:rPr>
                <a:t>Analyst Workflow</a:t>
              </a:r>
            </a:p>
          </p:txBody>
        </p:sp>
        <p:sp>
          <p:nvSpPr>
            <p:cNvPr id="17664" name="TextBox 17663">
              <a:extLst>
                <a:ext uri="{FF2B5EF4-FFF2-40B4-BE49-F238E27FC236}">
                  <a16:creationId xmlns:a16="http://schemas.microsoft.com/office/drawing/2014/main" id="{EE99360D-2F1E-CAAF-0B6C-94B8A485AEB2}"/>
                </a:ext>
              </a:extLst>
            </p:cNvPr>
            <p:cNvSpPr txBox="1"/>
            <p:nvPr/>
          </p:nvSpPr>
          <p:spPr>
            <a:xfrm>
              <a:off x="3481036" y="3650123"/>
              <a:ext cx="154185" cy="143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Roboto"/>
                </a:rPr>
                <a:t>8</a:t>
              </a:r>
            </a:p>
          </p:txBody>
        </p:sp>
        <p:sp>
          <p:nvSpPr>
            <p:cNvPr id="17665" name="TextBox 17664">
              <a:extLst>
                <a:ext uri="{FF2B5EF4-FFF2-40B4-BE49-F238E27FC236}">
                  <a16:creationId xmlns:a16="http://schemas.microsoft.com/office/drawing/2014/main" id="{40AD7089-1C54-2645-1BB8-9F1F67FE18E0}"/>
                </a:ext>
              </a:extLst>
            </p:cNvPr>
            <p:cNvSpPr txBox="1"/>
            <p:nvPr/>
          </p:nvSpPr>
          <p:spPr>
            <a:xfrm>
              <a:off x="3099434" y="4292242"/>
              <a:ext cx="154185" cy="143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Roboto"/>
                </a:rPr>
                <a:t>0</a:t>
              </a:r>
            </a:p>
          </p:txBody>
        </p:sp>
        <p:sp>
          <p:nvSpPr>
            <p:cNvPr id="17666" name="TextBox 17665">
              <a:extLst>
                <a:ext uri="{FF2B5EF4-FFF2-40B4-BE49-F238E27FC236}">
                  <a16:creationId xmlns:a16="http://schemas.microsoft.com/office/drawing/2014/main" id="{86701734-A23B-8384-72EE-9EB375BF7D06}"/>
                </a:ext>
              </a:extLst>
            </p:cNvPr>
            <p:cNvSpPr txBox="1"/>
            <p:nvPr/>
          </p:nvSpPr>
          <p:spPr>
            <a:xfrm>
              <a:off x="1628860" y="3650123"/>
              <a:ext cx="1082881" cy="143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100" b="0">
                  <a:solidFill>
                    <a:srgbClr val="584053"/>
                  </a:solidFill>
                  <a:latin typeface="Roboto"/>
                </a:rPr>
                <a:t>False-alarm Control</a:t>
              </a:r>
            </a:p>
          </p:txBody>
        </p:sp>
        <p:sp>
          <p:nvSpPr>
            <p:cNvPr id="17667" name="TextBox 17666">
              <a:extLst>
                <a:ext uri="{FF2B5EF4-FFF2-40B4-BE49-F238E27FC236}">
                  <a16:creationId xmlns:a16="http://schemas.microsoft.com/office/drawing/2014/main" id="{760E7C15-600D-7CB0-C175-029DE67FFCBF}"/>
                </a:ext>
              </a:extLst>
            </p:cNvPr>
            <p:cNvSpPr txBox="1"/>
            <p:nvPr/>
          </p:nvSpPr>
          <p:spPr>
            <a:xfrm>
              <a:off x="3719538" y="4463475"/>
              <a:ext cx="154185" cy="143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Roboto"/>
                </a:rPr>
                <a:t>13</a:t>
              </a:r>
            </a:p>
          </p:txBody>
        </p:sp>
        <p:sp>
          <p:nvSpPr>
            <p:cNvPr id="17669" name="TextBox 17668">
              <a:extLst>
                <a:ext uri="{FF2B5EF4-FFF2-40B4-BE49-F238E27FC236}">
                  <a16:creationId xmlns:a16="http://schemas.microsoft.com/office/drawing/2014/main" id="{5CFF771D-19A9-70CA-F86D-82AC73E25E1A}"/>
                </a:ext>
              </a:extLst>
            </p:cNvPr>
            <p:cNvSpPr txBox="1"/>
            <p:nvPr/>
          </p:nvSpPr>
          <p:spPr>
            <a:xfrm>
              <a:off x="7869465" y="4763128"/>
              <a:ext cx="154185" cy="143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 dirty="0">
                  <a:solidFill>
                    <a:srgbClr val="584053"/>
                  </a:solidFill>
                  <a:latin typeface="Roboto"/>
                </a:rPr>
                <a:t>100</a:t>
              </a:r>
            </a:p>
          </p:txBody>
        </p:sp>
        <p:sp>
          <p:nvSpPr>
            <p:cNvPr id="17670" name="TextBox 17669">
              <a:extLst>
                <a:ext uri="{FF2B5EF4-FFF2-40B4-BE49-F238E27FC236}">
                  <a16:creationId xmlns:a16="http://schemas.microsoft.com/office/drawing/2014/main" id="{A7B69E14-3609-7D2D-5AA5-1C07CA34C8D9}"/>
                </a:ext>
              </a:extLst>
            </p:cNvPr>
            <p:cNvSpPr txBox="1"/>
            <p:nvPr/>
          </p:nvSpPr>
          <p:spPr>
            <a:xfrm>
              <a:off x="7487863" y="3478891"/>
              <a:ext cx="154185" cy="143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Roboto"/>
                </a:rPr>
                <a:t>92</a:t>
              </a:r>
            </a:p>
          </p:txBody>
        </p:sp>
        <p:sp>
          <p:nvSpPr>
            <p:cNvPr id="17671" name="TextBox 17670">
              <a:extLst>
                <a:ext uri="{FF2B5EF4-FFF2-40B4-BE49-F238E27FC236}">
                  <a16:creationId xmlns:a16="http://schemas.microsoft.com/office/drawing/2014/main" id="{422DD9EB-BC4E-2FFE-E591-EE735B6BCF9A}"/>
                </a:ext>
              </a:extLst>
            </p:cNvPr>
            <p:cNvSpPr txBox="1"/>
            <p:nvPr/>
          </p:nvSpPr>
          <p:spPr>
            <a:xfrm>
              <a:off x="1515413" y="4934361"/>
              <a:ext cx="1196328" cy="143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100" b="0">
                  <a:solidFill>
                    <a:srgbClr val="584053"/>
                  </a:solidFill>
                  <a:latin typeface="Roboto"/>
                </a:rPr>
                <a:t>Offline &amp; Scale</a:t>
              </a:r>
            </a:p>
          </p:txBody>
        </p:sp>
        <p:sp>
          <p:nvSpPr>
            <p:cNvPr id="17672" name="TextBox 17671">
              <a:extLst>
                <a:ext uri="{FF2B5EF4-FFF2-40B4-BE49-F238E27FC236}">
                  <a16:creationId xmlns:a16="http://schemas.microsoft.com/office/drawing/2014/main" id="{5D93D5FE-89D8-6FC0-E4D1-A2614254020F}"/>
                </a:ext>
              </a:extLst>
            </p:cNvPr>
            <p:cNvSpPr txBox="1"/>
            <p:nvPr/>
          </p:nvSpPr>
          <p:spPr>
            <a:xfrm>
              <a:off x="5484450" y="3179238"/>
              <a:ext cx="154185" cy="143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Roboto"/>
                </a:rPr>
                <a:t>50</a:t>
              </a:r>
            </a:p>
          </p:txBody>
        </p:sp>
        <p:sp>
          <p:nvSpPr>
            <p:cNvPr id="17673" name="TextBox 17672">
              <a:extLst>
                <a:ext uri="{FF2B5EF4-FFF2-40B4-BE49-F238E27FC236}">
                  <a16:creationId xmlns:a16="http://schemas.microsoft.com/office/drawing/2014/main" id="{09E58865-233C-3BE5-40F2-FE9483485620}"/>
                </a:ext>
              </a:extLst>
            </p:cNvPr>
            <p:cNvSpPr txBox="1"/>
            <p:nvPr/>
          </p:nvSpPr>
          <p:spPr>
            <a:xfrm>
              <a:off x="4530443" y="4934361"/>
              <a:ext cx="154185" cy="143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Roboto"/>
                </a:rPr>
                <a:t>30</a:t>
              </a:r>
            </a:p>
          </p:txBody>
        </p:sp>
        <p:sp>
          <p:nvSpPr>
            <p:cNvPr id="17674" name="TextBox 17673">
              <a:extLst>
                <a:ext uri="{FF2B5EF4-FFF2-40B4-BE49-F238E27FC236}">
                  <a16:creationId xmlns:a16="http://schemas.microsoft.com/office/drawing/2014/main" id="{C6D55B3D-A3C5-A282-0672-481A1E671107}"/>
                </a:ext>
              </a:extLst>
            </p:cNvPr>
            <p:cNvSpPr txBox="1"/>
            <p:nvPr/>
          </p:nvSpPr>
          <p:spPr>
            <a:xfrm>
              <a:off x="4673544" y="3008005"/>
              <a:ext cx="154185" cy="143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Roboto"/>
                </a:rPr>
                <a:t>33</a:t>
              </a:r>
            </a:p>
          </p:txBody>
        </p:sp>
        <p:sp>
          <p:nvSpPr>
            <p:cNvPr id="17675" name="TextBox 17674">
              <a:extLst>
                <a:ext uri="{FF2B5EF4-FFF2-40B4-BE49-F238E27FC236}">
                  <a16:creationId xmlns:a16="http://schemas.microsoft.com/office/drawing/2014/main" id="{0E347AF2-7B10-00F9-0F9A-5AA534B61486}"/>
                </a:ext>
              </a:extLst>
            </p:cNvPr>
            <p:cNvSpPr txBox="1"/>
            <p:nvPr/>
          </p:nvSpPr>
          <p:spPr>
            <a:xfrm>
              <a:off x="5484450" y="5105594"/>
              <a:ext cx="154185" cy="143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Roboto"/>
                </a:rPr>
                <a:t>50</a:t>
              </a:r>
            </a:p>
          </p:txBody>
        </p:sp>
        <p:sp>
          <p:nvSpPr>
            <p:cNvPr id="17676" name="TextBox 17675">
              <a:extLst>
                <a:ext uri="{FF2B5EF4-FFF2-40B4-BE49-F238E27FC236}">
                  <a16:creationId xmlns:a16="http://schemas.microsoft.com/office/drawing/2014/main" id="{5B18985F-8E42-47E3-16C1-0DCA28FD5364}"/>
                </a:ext>
              </a:extLst>
            </p:cNvPr>
            <p:cNvSpPr txBox="1"/>
            <p:nvPr/>
          </p:nvSpPr>
          <p:spPr>
            <a:xfrm>
              <a:off x="1589903" y="3008005"/>
              <a:ext cx="1121838" cy="143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100" b="0" dirty="0">
                  <a:solidFill>
                    <a:srgbClr val="584053"/>
                  </a:solidFill>
                  <a:latin typeface="Roboto"/>
                </a:rPr>
                <a:t>Change Analysis</a:t>
              </a:r>
            </a:p>
          </p:txBody>
        </p:sp>
        <p:sp>
          <p:nvSpPr>
            <p:cNvPr id="17677" name="TextBox 17676">
              <a:extLst>
                <a:ext uri="{FF2B5EF4-FFF2-40B4-BE49-F238E27FC236}">
                  <a16:creationId xmlns:a16="http://schemas.microsoft.com/office/drawing/2014/main" id="{8954A2B4-352A-8140-ECFF-899BC4424214}"/>
                </a:ext>
              </a:extLst>
            </p:cNvPr>
            <p:cNvSpPr txBox="1"/>
            <p:nvPr/>
          </p:nvSpPr>
          <p:spPr>
            <a:xfrm>
              <a:off x="7869465" y="2836772"/>
              <a:ext cx="154185" cy="143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Roboto"/>
                </a:rPr>
                <a:t>100</a:t>
              </a:r>
            </a:p>
          </p:txBody>
        </p:sp>
        <p:sp>
          <p:nvSpPr>
            <p:cNvPr id="17678" name="TextBox 17677">
              <a:extLst>
                <a:ext uri="{FF2B5EF4-FFF2-40B4-BE49-F238E27FC236}">
                  <a16:creationId xmlns:a16="http://schemas.microsoft.com/office/drawing/2014/main" id="{DA17EE2B-C76B-BA84-421B-1511272D45F2}"/>
                </a:ext>
              </a:extLst>
            </p:cNvPr>
            <p:cNvSpPr txBox="1"/>
            <p:nvPr/>
          </p:nvSpPr>
          <p:spPr>
            <a:xfrm>
              <a:off x="4530443" y="2537113"/>
              <a:ext cx="154185" cy="143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Roboto"/>
                </a:rPr>
                <a:t>30</a:t>
              </a:r>
            </a:p>
          </p:txBody>
        </p:sp>
        <p:sp>
          <p:nvSpPr>
            <p:cNvPr id="17679" name="TextBox 17678">
              <a:extLst>
                <a:ext uri="{FF2B5EF4-FFF2-40B4-BE49-F238E27FC236}">
                  <a16:creationId xmlns:a16="http://schemas.microsoft.com/office/drawing/2014/main" id="{10BBBFBC-AA7C-4D63-DD6B-7276BF9DB221}"/>
                </a:ext>
              </a:extLst>
            </p:cNvPr>
            <p:cNvSpPr txBox="1"/>
            <p:nvPr/>
          </p:nvSpPr>
          <p:spPr>
            <a:xfrm>
              <a:off x="6438456" y="2365886"/>
              <a:ext cx="154185" cy="143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Roboto"/>
                </a:rPr>
                <a:t>70</a:t>
              </a:r>
            </a:p>
          </p:txBody>
        </p:sp>
        <p:sp>
          <p:nvSpPr>
            <p:cNvPr id="17680" name="TextBox 17679">
              <a:extLst>
                <a:ext uri="{FF2B5EF4-FFF2-40B4-BE49-F238E27FC236}">
                  <a16:creationId xmlns:a16="http://schemas.microsoft.com/office/drawing/2014/main" id="{C285B216-E10F-B239-0CBD-15AB3A3E38A0}"/>
                </a:ext>
              </a:extLst>
            </p:cNvPr>
            <p:cNvSpPr txBox="1"/>
            <p:nvPr/>
          </p:nvSpPr>
          <p:spPr>
            <a:xfrm>
              <a:off x="1735653" y="2365886"/>
              <a:ext cx="976088" cy="143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100" b="0" dirty="0">
                  <a:solidFill>
                    <a:srgbClr val="584053"/>
                  </a:solidFill>
                  <a:latin typeface="Roboto"/>
                </a:rPr>
                <a:t>Semantic Retrieval</a:t>
              </a:r>
            </a:p>
          </p:txBody>
        </p:sp>
        <p:sp>
          <p:nvSpPr>
            <p:cNvPr id="17681" name="TextBox 17680">
              <a:extLst>
                <a:ext uri="{FF2B5EF4-FFF2-40B4-BE49-F238E27FC236}">
                  <a16:creationId xmlns:a16="http://schemas.microsoft.com/office/drawing/2014/main" id="{CBD3612E-9479-9E79-EBC7-96A44BD7E4B0}"/>
                </a:ext>
              </a:extLst>
            </p:cNvPr>
            <p:cNvSpPr txBox="1"/>
            <p:nvPr/>
          </p:nvSpPr>
          <p:spPr>
            <a:xfrm>
              <a:off x="7869465" y="2194653"/>
              <a:ext cx="154185" cy="143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Roboto"/>
                </a:rPr>
                <a:t>100</a:t>
              </a:r>
            </a:p>
          </p:txBody>
        </p:sp>
        <p:grpSp>
          <p:nvGrpSpPr>
            <p:cNvPr id="17682" name="Group 17681">
              <a:extLst>
                <a:ext uri="{FF2B5EF4-FFF2-40B4-BE49-F238E27FC236}">
                  <a16:creationId xmlns:a16="http://schemas.microsoft.com/office/drawing/2014/main" id="{33EF32BC-8A57-EDF0-9D84-D66A5E6EAE79}"/>
                </a:ext>
              </a:extLst>
            </p:cNvPr>
            <p:cNvGrpSpPr/>
            <p:nvPr/>
          </p:nvGrpSpPr>
          <p:grpSpPr>
            <a:xfrm>
              <a:off x="6099587" y="1472664"/>
              <a:ext cx="974263" cy="286228"/>
              <a:chOff x="4920158" y="1015464"/>
              <a:chExt cx="974263" cy="286228"/>
            </a:xfrm>
          </p:grpSpPr>
          <p:sp>
            <p:nvSpPr>
              <p:cNvPr id="17699" name="TextBox 17698">
                <a:extLst>
                  <a:ext uri="{FF2B5EF4-FFF2-40B4-BE49-F238E27FC236}">
                    <a16:creationId xmlns:a16="http://schemas.microsoft.com/office/drawing/2014/main" id="{722B90ED-B90B-9A9B-9A66-4AF70A8FAB00}"/>
                  </a:ext>
                </a:extLst>
              </p:cNvPr>
              <p:cNvSpPr txBox="1"/>
              <p:nvPr/>
            </p:nvSpPr>
            <p:spPr>
              <a:xfrm>
                <a:off x="4920158" y="1015464"/>
                <a:ext cx="1120402" cy="1430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900" b="0">
                    <a:solidFill>
                      <a:srgbClr val="584053"/>
                    </a:solidFill>
                    <a:latin typeface="Roboto"/>
                  </a:rPr>
                  <a:t>Existing Solutions</a:t>
                </a:r>
              </a:p>
            </p:txBody>
          </p:sp>
          <p:sp>
            <p:nvSpPr>
              <p:cNvPr id="17700" name="TextBox 17699">
                <a:extLst>
                  <a:ext uri="{FF2B5EF4-FFF2-40B4-BE49-F238E27FC236}">
                    <a16:creationId xmlns:a16="http://schemas.microsoft.com/office/drawing/2014/main" id="{66A9600A-3A42-6412-54EC-DD263C91FD0C}"/>
                  </a:ext>
                </a:extLst>
              </p:cNvPr>
              <p:cNvSpPr txBox="1"/>
              <p:nvPr/>
            </p:nvSpPr>
            <p:spPr>
              <a:xfrm>
                <a:off x="4920158" y="1158559"/>
                <a:ext cx="1120402" cy="1431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900" b="0">
                    <a:solidFill>
                      <a:srgbClr val="584053"/>
                    </a:solidFill>
                    <a:latin typeface="Roboto"/>
                  </a:rPr>
                  <a:t>(Catalogue/CD)</a:t>
                </a:r>
              </a:p>
            </p:txBody>
          </p:sp>
        </p:grpSp>
        <p:grpSp>
          <p:nvGrpSpPr>
            <p:cNvPr id="17683" name="Group 17682">
              <a:extLst>
                <a:ext uri="{FF2B5EF4-FFF2-40B4-BE49-F238E27FC236}">
                  <a16:creationId xmlns:a16="http://schemas.microsoft.com/office/drawing/2014/main" id="{C428AF3B-86C2-1979-8859-01713D607BC6}"/>
                </a:ext>
              </a:extLst>
            </p:cNvPr>
            <p:cNvGrpSpPr/>
            <p:nvPr/>
          </p:nvGrpSpPr>
          <p:grpSpPr>
            <a:xfrm>
              <a:off x="5077469" y="1471809"/>
              <a:ext cx="503757" cy="287945"/>
              <a:chOff x="3898040" y="1014609"/>
              <a:chExt cx="503757" cy="287945"/>
            </a:xfrm>
          </p:grpSpPr>
          <p:sp>
            <p:nvSpPr>
              <p:cNvPr id="17697" name="TextBox 17696">
                <a:extLst>
                  <a:ext uri="{FF2B5EF4-FFF2-40B4-BE49-F238E27FC236}">
                    <a16:creationId xmlns:a16="http://schemas.microsoft.com/office/drawing/2014/main" id="{31260438-2FA7-624C-42CE-A0AC6132A4C0}"/>
                  </a:ext>
                </a:extLst>
              </p:cNvPr>
              <p:cNvSpPr txBox="1"/>
              <p:nvPr/>
            </p:nvSpPr>
            <p:spPr>
              <a:xfrm>
                <a:off x="3898040" y="1014609"/>
                <a:ext cx="579320" cy="1430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900" b="0">
                    <a:solidFill>
                      <a:srgbClr val="584053"/>
                    </a:solidFill>
                    <a:latin typeface="Roboto"/>
                  </a:rPr>
                  <a:t>Research</a:t>
                </a:r>
              </a:p>
            </p:txBody>
          </p:sp>
          <p:sp>
            <p:nvSpPr>
              <p:cNvPr id="17698" name="TextBox 17697">
                <a:extLst>
                  <a:ext uri="{FF2B5EF4-FFF2-40B4-BE49-F238E27FC236}">
                    <a16:creationId xmlns:a16="http://schemas.microsoft.com/office/drawing/2014/main" id="{AFC640A5-B32D-7BAE-BD1A-73DEF191F270}"/>
                  </a:ext>
                </a:extLst>
              </p:cNvPr>
              <p:cNvSpPr txBox="1"/>
              <p:nvPr/>
            </p:nvSpPr>
            <p:spPr>
              <a:xfrm>
                <a:off x="3898040" y="1157704"/>
                <a:ext cx="579320" cy="144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900" b="0">
                    <a:solidFill>
                      <a:srgbClr val="584053"/>
                    </a:solidFill>
                    <a:latin typeface="Roboto"/>
                  </a:rPr>
                  <a:t>(RS-CLIP)</a:t>
                </a:r>
              </a:p>
            </p:txBody>
          </p:sp>
        </p:grpSp>
        <p:sp>
          <p:nvSpPr>
            <p:cNvPr id="17684" name="TextBox 17683">
              <a:extLst>
                <a:ext uri="{FF2B5EF4-FFF2-40B4-BE49-F238E27FC236}">
                  <a16:creationId xmlns:a16="http://schemas.microsoft.com/office/drawing/2014/main" id="{AE039C54-17B4-12C0-47B9-D566A4304EBC}"/>
                </a:ext>
              </a:extLst>
            </p:cNvPr>
            <p:cNvSpPr txBox="1"/>
            <p:nvPr/>
          </p:nvSpPr>
          <p:spPr>
            <a:xfrm>
              <a:off x="3783598" y="1544231"/>
              <a:ext cx="716806" cy="143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 dirty="0">
                  <a:solidFill>
                    <a:srgbClr val="584053"/>
                  </a:solidFill>
                  <a:latin typeface="Roboto"/>
                </a:rPr>
                <a:t>SatQuery ARC</a:t>
              </a:r>
            </a:p>
          </p:txBody>
        </p:sp>
        <p:sp>
          <p:nvSpPr>
            <p:cNvPr id="17685" name="TextBox 17684">
              <a:extLst>
                <a:ext uri="{FF2B5EF4-FFF2-40B4-BE49-F238E27FC236}">
                  <a16:creationId xmlns:a16="http://schemas.microsoft.com/office/drawing/2014/main" id="{DE4F1E3A-C1A0-641D-7CA5-FCCB4CD46928}"/>
                </a:ext>
              </a:extLst>
            </p:cNvPr>
            <p:cNvSpPr txBox="1"/>
            <p:nvPr/>
          </p:nvSpPr>
          <p:spPr>
            <a:xfrm rot="2700000">
              <a:off x="2984724" y="5483575"/>
              <a:ext cx="67034" cy="143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Roboto"/>
                </a:rPr>
                <a:t>0</a:t>
              </a:r>
            </a:p>
          </p:txBody>
        </p:sp>
        <p:sp>
          <p:nvSpPr>
            <p:cNvPr id="17686" name="TextBox 17685">
              <a:extLst>
                <a:ext uri="{FF2B5EF4-FFF2-40B4-BE49-F238E27FC236}">
                  <a16:creationId xmlns:a16="http://schemas.microsoft.com/office/drawing/2014/main" id="{D1EBB5B8-001A-07DB-FF48-CD98437E3FEA}"/>
                </a:ext>
              </a:extLst>
            </p:cNvPr>
            <p:cNvSpPr txBox="1"/>
            <p:nvPr/>
          </p:nvSpPr>
          <p:spPr>
            <a:xfrm rot="2700000">
              <a:off x="3451910" y="5504929"/>
              <a:ext cx="134074" cy="143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Roboto"/>
                </a:rPr>
                <a:t>10</a:t>
              </a:r>
            </a:p>
          </p:txBody>
        </p:sp>
        <p:sp>
          <p:nvSpPr>
            <p:cNvPr id="17687" name="TextBox 17686">
              <a:extLst>
                <a:ext uri="{FF2B5EF4-FFF2-40B4-BE49-F238E27FC236}">
                  <a16:creationId xmlns:a16="http://schemas.microsoft.com/office/drawing/2014/main" id="{22823A8A-49F4-796A-10F9-75735B2A3A39}"/>
                </a:ext>
              </a:extLst>
            </p:cNvPr>
            <p:cNvSpPr txBox="1"/>
            <p:nvPr/>
          </p:nvSpPr>
          <p:spPr>
            <a:xfrm rot="2700000">
              <a:off x="3928913" y="5504929"/>
              <a:ext cx="134074" cy="143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Roboto"/>
                </a:rPr>
                <a:t>20</a:t>
              </a:r>
            </a:p>
          </p:txBody>
        </p:sp>
        <p:sp>
          <p:nvSpPr>
            <p:cNvPr id="17688" name="TextBox 17687">
              <a:extLst>
                <a:ext uri="{FF2B5EF4-FFF2-40B4-BE49-F238E27FC236}">
                  <a16:creationId xmlns:a16="http://schemas.microsoft.com/office/drawing/2014/main" id="{7F4E39A1-7800-9FB9-4935-014719B94ABA}"/>
                </a:ext>
              </a:extLst>
            </p:cNvPr>
            <p:cNvSpPr txBox="1"/>
            <p:nvPr/>
          </p:nvSpPr>
          <p:spPr>
            <a:xfrm rot="2700000">
              <a:off x="4405916" y="5504930"/>
              <a:ext cx="134074" cy="143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Roboto"/>
                </a:rPr>
                <a:t>30</a:t>
              </a:r>
            </a:p>
          </p:txBody>
        </p:sp>
        <p:sp>
          <p:nvSpPr>
            <p:cNvPr id="17689" name="TextBox 17688">
              <a:extLst>
                <a:ext uri="{FF2B5EF4-FFF2-40B4-BE49-F238E27FC236}">
                  <a16:creationId xmlns:a16="http://schemas.microsoft.com/office/drawing/2014/main" id="{EA10561E-CED9-2043-2B01-D2A7F41C7AF8}"/>
                </a:ext>
              </a:extLst>
            </p:cNvPr>
            <p:cNvSpPr txBox="1"/>
            <p:nvPr/>
          </p:nvSpPr>
          <p:spPr>
            <a:xfrm rot="2700000">
              <a:off x="4882919" y="5504930"/>
              <a:ext cx="134074" cy="143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Roboto"/>
                </a:rPr>
                <a:t>40</a:t>
              </a:r>
            </a:p>
          </p:txBody>
        </p:sp>
        <p:sp>
          <p:nvSpPr>
            <p:cNvPr id="17690" name="TextBox 17689">
              <a:extLst>
                <a:ext uri="{FF2B5EF4-FFF2-40B4-BE49-F238E27FC236}">
                  <a16:creationId xmlns:a16="http://schemas.microsoft.com/office/drawing/2014/main" id="{41444FA3-1790-F466-3B05-B2E898DEAA93}"/>
                </a:ext>
              </a:extLst>
            </p:cNvPr>
            <p:cNvSpPr txBox="1"/>
            <p:nvPr/>
          </p:nvSpPr>
          <p:spPr>
            <a:xfrm rot="2700000">
              <a:off x="5359923" y="5504929"/>
              <a:ext cx="134074" cy="143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Roboto"/>
                </a:rPr>
                <a:t>50</a:t>
              </a:r>
            </a:p>
          </p:txBody>
        </p:sp>
        <p:sp>
          <p:nvSpPr>
            <p:cNvPr id="17691" name="TextBox 17690">
              <a:extLst>
                <a:ext uri="{FF2B5EF4-FFF2-40B4-BE49-F238E27FC236}">
                  <a16:creationId xmlns:a16="http://schemas.microsoft.com/office/drawing/2014/main" id="{8F4363D0-5B4C-18B8-BAF5-847EDC141197}"/>
                </a:ext>
              </a:extLst>
            </p:cNvPr>
            <p:cNvSpPr txBox="1"/>
            <p:nvPr/>
          </p:nvSpPr>
          <p:spPr>
            <a:xfrm rot="2700000">
              <a:off x="5836926" y="5504929"/>
              <a:ext cx="134074" cy="143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Roboto"/>
                </a:rPr>
                <a:t>60</a:t>
              </a:r>
            </a:p>
          </p:txBody>
        </p:sp>
        <p:sp>
          <p:nvSpPr>
            <p:cNvPr id="17692" name="TextBox 17691">
              <a:extLst>
                <a:ext uri="{FF2B5EF4-FFF2-40B4-BE49-F238E27FC236}">
                  <a16:creationId xmlns:a16="http://schemas.microsoft.com/office/drawing/2014/main" id="{0B6234DF-DC32-9F33-F1C3-801D86B5120F}"/>
                </a:ext>
              </a:extLst>
            </p:cNvPr>
            <p:cNvSpPr txBox="1"/>
            <p:nvPr/>
          </p:nvSpPr>
          <p:spPr>
            <a:xfrm rot="2700000">
              <a:off x="6313928" y="5504930"/>
              <a:ext cx="134074" cy="143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Roboto"/>
                </a:rPr>
                <a:t>70</a:t>
              </a:r>
            </a:p>
          </p:txBody>
        </p:sp>
        <p:sp>
          <p:nvSpPr>
            <p:cNvPr id="17693" name="TextBox 17692">
              <a:extLst>
                <a:ext uri="{FF2B5EF4-FFF2-40B4-BE49-F238E27FC236}">
                  <a16:creationId xmlns:a16="http://schemas.microsoft.com/office/drawing/2014/main" id="{13138F9B-74E7-A5CB-6F53-CAC921B1C44D}"/>
                </a:ext>
              </a:extLst>
            </p:cNvPr>
            <p:cNvSpPr txBox="1"/>
            <p:nvPr/>
          </p:nvSpPr>
          <p:spPr>
            <a:xfrm rot="2700000">
              <a:off x="6790932" y="5504929"/>
              <a:ext cx="134074" cy="143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Roboto"/>
                </a:rPr>
                <a:t>80</a:t>
              </a:r>
            </a:p>
          </p:txBody>
        </p:sp>
        <p:sp>
          <p:nvSpPr>
            <p:cNvPr id="17694" name="TextBox 17693">
              <a:extLst>
                <a:ext uri="{FF2B5EF4-FFF2-40B4-BE49-F238E27FC236}">
                  <a16:creationId xmlns:a16="http://schemas.microsoft.com/office/drawing/2014/main" id="{6F5A3960-26D3-CA39-8786-3379AD8C0548}"/>
                </a:ext>
              </a:extLst>
            </p:cNvPr>
            <p:cNvSpPr txBox="1"/>
            <p:nvPr/>
          </p:nvSpPr>
          <p:spPr>
            <a:xfrm rot="2700000">
              <a:off x="7267935" y="5504930"/>
              <a:ext cx="134074" cy="143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Roboto"/>
                </a:rPr>
                <a:t>90</a:t>
              </a:r>
            </a:p>
          </p:txBody>
        </p:sp>
        <p:sp>
          <p:nvSpPr>
            <p:cNvPr id="17695" name="TextBox 17694">
              <a:extLst>
                <a:ext uri="{FF2B5EF4-FFF2-40B4-BE49-F238E27FC236}">
                  <a16:creationId xmlns:a16="http://schemas.microsoft.com/office/drawing/2014/main" id="{C86EFC58-257F-D833-4BA6-C92AF988729E}"/>
                </a:ext>
              </a:extLst>
            </p:cNvPr>
            <p:cNvSpPr txBox="1"/>
            <p:nvPr/>
          </p:nvSpPr>
          <p:spPr>
            <a:xfrm rot="2700000">
              <a:off x="7735132" y="5526262"/>
              <a:ext cx="201033" cy="143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Roboto"/>
                </a:rPr>
                <a:t>100</a:t>
              </a:r>
            </a:p>
          </p:txBody>
        </p:sp>
        <p:sp>
          <p:nvSpPr>
            <p:cNvPr id="17696" name="TextBox 17695">
              <a:extLst>
                <a:ext uri="{FF2B5EF4-FFF2-40B4-BE49-F238E27FC236}">
                  <a16:creationId xmlns:a16="http://schemas.microsoft.com/office/drawing/2014/main" id="{1868D840-16E3-03FB-18E2-0FD61ED15C9C}"/>
                </a:ext>
              </a:extLst>
            </p:cNvPr>
            <p:cNvSpPr txBox="1"/>
            <p:nvPr/>
          </p:nvSpPr>
          <p:spPr>
            <a:xfrm>
              <a:off x="7869465" y="4121009"/>
              <a:ext cx="154185" cy="143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584053"/>
                  </a:solidFill>
                  <a:latin typeface="Roboto"/>
                </a:rPr>
                <a:t>100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93634A94-AD4A-5793-E2F3-3CC145E2F2CF}"/>
              </a:ext>
            </a:extLst>
          </p:cNvPr>
          <p:cNvSpPr/>
          <p:nvPr/>
        </p:nvSpPr>
        <p:spPr>
          <a:xfrm>
            <a:off x="5830830" y="1191559"/>
            <a:ext cx="393657" cy="47699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D4AD2F-0EEA-4D9C-2E47-97B028953313}"/>
              </a:ext>
            </a:extLst>
          </p:cNvPr>
          <p:cNvSpPr txBox="1"/>
          <p:nvPr/>
        </p:nvSpPr>
        <p:spPr>
          <a:xfrm rot="16200000">
            <a:off x="4839057" y="3432599"/>
            <a:ext cx="2401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PS 26227 Capability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BE0CDE-E6E7-51D4-4B89-1F86295CEC10}"/>
              </a:ext>
            </a:extLst>
          </p:cNvPr>
          <p:cNvSpPr/>
          <p:nvPr/>
        </p:nvSpPr>
        <p:spPr>
          <a:xfrm rot="5400000">
            <a:off x="8773971" y="2747638"/>
            <a:ext cx="393657" cy="62814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FFF9EB-308A-AD17-F33C-92576F85696A}"/>
              </a:ext>
            </a:extLst>
          </p:cNvPr>
          <p:cNvSpPr txBox="1"/>
          <p:nvPr/>
        </p:nvSpPr>
        <p:spPr>
          <a:xfrm>
            <a:off x="8822125" y="5703982"/>
            <a:ext cx="1674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Coverage (%)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6DBD64-E113-17D9-DD81-6ECC0484D847}"/>
              </a:ext>
            </a:extLst>
          </p:cNvPr>
          <p:cNvSpPr txBox="1"/>
          <p:nvPr/>
        </p:nvSpPr>
        <p:spPr>
          <a:xfrm>
            <a:off x="2458436" y="4741984"/>
            <a:ext cx="10525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BENEFITS</a:t>
            </a:r>
            <a:endParaRPr lang="en-IN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DB282F-0DA5-A771-9A86-5C83211F0791}"/>
              </a:ext>
            </a:extLst>
          </p:cNvPr>
          <p:cNvCxnSpPr>
            <a:cxnSpLocks/>
          </p:cNvCxnSpPr>
          <p:nvPr/>
        </p:nvCxnSpPr>
        <p:spPr>
          <a:xfrm>
            <a:off x="131748" y="3318401"/>
            <a:ext cx="5384149" cy="0"/>
          </a:xfrm>
          <a:prstGeom prst="line">
            <a:avLst/>
          </a:prstGeom>
          <a:ln>
            <a:solidFill>
              <a:srgbClr val="C4BD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8A080A03-3FB0-8779-9D6C-A8824F818B66}"/>
              </a:ext>
            </a:extLst>
          </p:cNvPr>
          <p:cNvGrpSpPr/>
          <p:nvPr/>
        </p:nvGrpSpPr>
        <p:grpSpPr>
          <a:xfrm>
            <a:off x="332086" y="1214194"/>
            <a:ext cx="4739235" cy="2011724"/>
            <a:chOff x="957458" y="1611158"/>
            <a:chExt cx="7495914" cy="3619055"/>
          </a:xfrm>
        </p:grpSpPr>
        <p:sp>
          <p:nvSpPr>
            <p:cNvPr id="6" name="Rounded Rectangle 2">
              <a:extLst>
                <a:ext uri="{FF2B5EF4-FFF2-40B4-BE49-F238E27FC236}">
                  <a16:creationId xmlns:a16="http://schemas.microsoft.com/office/drawing/2014/main" id="{16CB3621-94A9-05DB-A593-3F649C88A6F4}"/>
                </a:ext>
              </a:extLst>
            </p:cNvPr>
            <p:cNvSpPr/>
            <p:nvPr/>
          </p:nvSpPr>
          <p:spPr>
            <a:xfrm>
              <a:off x="5193506" y="4083900"/>
              <a:ext cx="1205191" cy="975272"/>
            </a:xfrm>
            <a:custGeom>
              <a:avLst/>
              <a:gdLst/>
              <a:ahLst/>
              <a:cxnLst/>
              <a:rect l="0" t="0" r="0" b="0"/>
              <a:pathLst>
                <a:path w="1205191" h="975272">
                  <a:moveTo>
                    <a:pt x="108247" y="974708"/>
                  </a:moveTo>
                  <a:cubicBezTo>
                    <a:pt x="98679" y="854457"/>
                    <a:pt x="60295" y="742324"/>
                    <a:pt x="0" y="645215"/>
                  </a:cubicBezTo>
                  <a:lnTo>
                    <a:pt x="889026" y="0"/>
                  </a:lnTo>
                  <a:cubicBezTo>
                    <a:pt x="1079564" y="279324"/>
                    <a:pt x="1194715" y="614176"/>
                    <a:pt x="1205191" y="975272"/>
                  </a:cubicBezTo>
                  <a:lnTo>
                    <a:pt x="108247" y="974708"/>
                  </a:lnTo>
                  <a:close/>
                </a:path>
              </a:pathLst>
            </a:custGeom>
            <a:noFill/>
            <a:ln w="14287">
              <a:solidFill>
                <a:srgbClr val="1EABDA"/>
              </a:solidFill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9" name="Rounded Rectangle 3">
              <a:extLst>
                <a:ext uri="{FF2B5EF4-FFF2-40B4-BE49-F238E27FC236}">
                  <a16:creationId xmlns:a16="http://schemas.microsoft.com/office/drawing/2014/main" id="{D729BAB0-0297-FCDA-8793-A5E15DB31C98}"/>
                </a:ext>
              </a:extLst>
            </p:cNvPr>
            <p:cNvSpPr/>
            <p:nvPr/>
          </p:nvSpPr>
          <p:spPr>
            <a:xfrm>
              <a:off x="4848225" y="3390900"/>
              <a:ext cx="1169647" cy="1249381"/>
            </a:xfrm>
            <a:custGeom>
              <a:avLst/>
              <a:gdLst/>
              <a:ahLst/>
              <a:cxnLst/>
              <a:rect l="0" t="0" r="0" b="0"/>
              <a:pathLst>
                <a:path w="1169647" h="1249381">
                  <a:moveTo>
                    <a:pt x="280496" y="1249381"/>
                  </a:moveTo>
                  <a:cubicBezTo>
                    <a:pt x="205132" y="1160675"/>
                    <a:pt x="109168" y="1090014"/>
                    <a:pt x="0" y="1044791"/>
                  </a:cubicBezTo>
                  <a:lnTo>
                    <a:pt x="338879" y="0"/>
                  </a:lnTo>
                  <a:cubicBezTo>
                    <a:pt x="670603" y="118740"/>
                    <a:pt x="958024" y="330597"/>
                    <a:pt x="1169647" y="604075"/>
                  </a:cubicBezTo>
                  <a:lnTo>
                    <a:pt x="280496" y="1249381"/>
                  </a:lnTo>
                  <a:close/>
                </a:path>
              </a:pathLst>
            </a:custGeom>
            <a:noFill/>
            <a:ln w="14287">
              <a:solidFill>
                <a:srgbClr val="1EABDA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ounded Rectangle 4">
              <a:extLst>
                <a:ext uri="{FF2B5EF4-FFF2-40B4-BE49-F238E27FC236}">
                  <a16:creationId xmlns:a16="http://schemas.microsoft.com/office/drawing/2014/main" id="{4B6B128D-5060-4156-1C22-E230CDEF3F3F}"/>
                </a:ext>
              </a:extLst>
            </p:cNvPr>
            <p:cNvSpPr/>
            <p:nvPr/>
          </p:nvSpPr>
          <p:spPr>
            <a:xfrm>
              <a:off x="4057526" y="3286125"/>
              <a:ext cx="1025476" cy="1116945"/>
            </a:xfrm>
            <a:custGeom>
              <a:avLst/>
              <a:gdLst/>
              <a:ahLst/>
              <a:cxnLst/>
              <a:rect l="0" t="0" r="0" b="0"/>
              <a:pathLst>
                <a:path w="1025476" h="1116945">
                  <a:moveTo>
                    <a:pt x="686740" y="1116945"/>
                  </a:moveTo>
                  <a:cubicBezTo>
                    <a:pt x="629772" y="1102852"/>
                    <a:pt x="570196" y="1095375"/>
                    <a:pt x="508873" y="1095375"/>
                  </a:cubicBezTo>
                  <a:cubicBezTo>
                    <a:pt x="450454" y="1095375"/>
                    <a:pt x="393621" y="1102160"/>
                    <a:pt x="339117" y="1114987"/>
                  </a:cubicBezTo>
                  <a:lnTo>
                    <a:pt x="0" y="73114"/>
                  </a:lnTo>
                  <a:cubicBezTo>
                    <a:pt x="162947" y="25523"/>
                    <a:pt x="335311" y="0"/>
                    <a:pt x="513635" y="0"/>
                  </a:cubicBezTo>
                  <a:cubicBezTo>
                    <a:pt x="691305" y="0"/>
                    <a:pt x="863057" y="25335"/>
                    <a:pt x="1025476" y="72591"/>
                  </a:cubicBezTo>
                  <a:lnTo>
                    <a:pt x="686740" y="1116945"/>
                  </a:lnTo>
                  <a:close/>
                </a:path>
              </a:pathLst>
            </a:custGeom>
            <a:noFill/>
            <a:ln w="14287">
              <a:solidFill>
                <a:srgbClr val="1EABDA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ounded Rectangle 5">
              <a:extLst>
                <a:ext uri="{FF2B5EF4-FFF2-40B4-BE49-F238E27FC236}">
                  <a16:creationId xmlns:a16="http://schemas.microsoft.com/office/drawing/2014/main" id="{C39C44E3-2D7D-BC6E-E78D-11688723970A}"/>
                </a:ext>
              </a:extLst>
            </p:cNvPr>
            <p:cNvSpPr/>
            <p:nvPr/>
          </p:nvSpPr>
          <p:spPr>
            <a:xfrm>
              <a:off x="3123971" y="3393242"/>
              <a:ext cx="1167837" cy="1244476"/>
            </a:xfrm>
            <a:custGeom>
              <a:avLst/>
              <a:gdLst/>
              <a:ahLst/>
              <a:cxnLst/>
              <a:rect l="0" t="0" r="0" b="0"/>
              <a:pathLst>
                <a:path w="1167837" h="1244476">
                  <a:moveTo>
                    <a:pt x="1167837" y="1041012"/>
                  </a:moveTo>
                  <a:cubicBezTo>
                    <a:pt x="1057238" y="1085360"/>
                    <a:pt x="959865" y="1155700"/>
                    <a:pt x="883276" y="1244476"/>
                  </a:cubicBezTo>
                  <a:lnTo>
                    <a:pt x="0" y="603432"/>
                  </a:lnTo>
                  <a:cubicBezTo>
                    <a:pt x="211247" y="330444"/>
                    <a:pt x="498022" y="118857"/>
                    <a:pt x="828998" y="0"/>
                  </a:cubicBezTo>
                  <a:lnTo>
                    <a:pt x="1167837" y="1041012"/>
                  </a:lnTo>
                  <a:close/>
                </a:path>
              </a:pathLst>
            </a:custGeom>
            <a:noFill/>
            <a:ln w="14287">
              <a:solidFill>
                <a:srgbClr val="1EABDA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ounded Rectangle 6">
              <a:extLst>
                <a:ext uri="{FF2B5EF4-FFF2-40B4-BE49-F238E27FC236}">
                  <a16:creationId xmlns:a16="http://schemas.microsoft.com/office/drawing/2014/main" id="{3C732A56-58E1-C4B8-AC50-64399D12E229}"/>
                </a:ext>
              </a:extLst>
            </p:cNvPr>
            <p:cNvSpPr/>
            <p:nvPr/>
          </p:nvSpPr>
          <p:spPr>
            <a:xfrm>
              <a:off x="2743200" y="4085615"/>
              <a:ext cx="1198594" cy="973962"/>
            </a:xfrm>
            <a:custGeom>
              <a:avLst/>
              <a:gdLst/>
              <a:ahLst/>
              <a:cxnLst/>
              <a:rect l="0" t="0" r="0" b="0"/>
              <a:pathLst>
                <a:path w="1198594" h="973962">
                  <a:moveTo>
                    <a:pt x="1198594" y="640462"/>
                  </a:moveTo>
                  <a:cubicBezTo>
                    <a:pt x="1136710" y="738457"/>
                    <a:pt x="1097251" y="852026"/>
                    <a:pt x="1087424" y="973962"/>
                  </a:cubicBezTo>
                  <a:lnTo>
                    <a:pt x="0" y="973403"/>
                  </a:lnTo>
                  <a:cubicBezTo>
                    <a:pt x="10821" y="613020"/>
                    <a:pt x="125905" y="278841"/>
                    <a:pt x="316118" y="0"/>
                  </a:cubicBezTo>
                  <a:lnTo>
                    <a:pt x="1198594" y="640462"/>
                  </a:lnTo>
                  <a:close/>
                </a:path>
              </a:pathLst>
            </a:custGeom>
            <a:noFill/>
            <a:ln w="14287">
              <a:solidFill>
                <a:srgbClr val="1EABDA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C176817-CA67-6BBC-8451-8EC49554F37C}"/>
                </a:ext>
              </a:extLst>
            </p:cNvPr>
            <p:cNvGrpSpPr/>
            <p:nvPr/>
          </p:nvGrpSpPr>
          <p:grpSpPr>
            <a:xfrm>
              <a:off x="6648973" y="4703820"/>
              <a:ext cx="1804399" cy="342900"/>
              <a:chOff x="6077473" y="3589395"/>
              <a:chExt cx="1804399" cy="342900"/>
            </a:xfrm>
          </p:grpSpPr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D602B22-D74B-7FA0-541B-631ECF42AF6D}"/>
                  </a:ext>
                </a:extLst>
              </p:cNvPr>
              <p:cNvSpPr txBox="1"/>
              <p:nvPr/>
            </p:nvSpPr>
            <p:spPr>
              <a:xfrm>
                <a:off x="6077473" y="3589395"/>
                <a:ext cx="1804399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r>
                  <a:rPr lang="en-US" sz="800" dirty="0">
                    <a:solidFill>
                      <a:srgbClr val="484848"/>
                    </a:solidFill>
                    <a:latin typeface="Roboto"/>
                  </a:rPr>
                  <a:t>Water extent, forest destruction,</a:t>
                </a:r>
              </a:p>
              <a:p>
                <a:r>
                  <a:rPr lang="en-US" sz="800" dirty="0">
                    <a:solidFill>
                      <a:srgbClr val="484848"/>
                    </a:solidFill>
                    <a:latin typeface="Roboto"/>
                  </a:rPr>
                  <a:t>growth of glacial lakes</a:t>
                </a:r>
                <a:endParaRPr sz="800" b="0" dirty="0">
                  <a:solidFill>
                    <a:srgbClr val="484848"/>
                  </a:solidFill>
                  <a:latin typeface="Roboto"/>
                </a:endParaRPr>
              </a:p>
            </p:txBody>
          </p:sp>
          <p:sp>
            <p:nvSpPr>
              <p:cNvPr id="17472" name="TextBox 17471">
                <a:extLst>
                  <a:ext uri="{FF2B5EF4-FFF2-40B4-BE49-F238E27FC236}">
                    <a16:creationId xmlns:a16="http://schemas.microsoft.com/office/drawing/2014/main" id="{77AEEE4B-E726-E695-4A68-8F42FBF6D0D3}"/>
                  </a:ext>
                </a:extLst>
              </p:cNvPr>
              <p:cNvSpPr txBox="1"/>
              <p:nvPr/>
            </p:nvSpPr>
            <p:spPr>
              <a:xfrm>
                <a:off x="6077473" y="3760845"/>
                <a:ext cx="1804399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endParaRPr sz="800" b="0" dirty="0">
                  <a:solidFill>
                    <a:srgbClr val="484848"/>
                  </a:solidFill>
                  <a:latin typeface="Roboto"/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1DFA76-87FB-E661-682C-BDD91ADD4167}"/>
                </a:ext>
              </a:extLst>
            </p:cNvPr>
            <p:cNvGrpSpPr/>
            <p:nvPr/>
          </p:nvGrpSpPr>
          <p:grpSpPr>
            <a:xfrm>
              <a:off x="1444840" y="3365456"/>
              <a:ext cx="1736509" cy="342900"/>
              <a:chOff x="873340" y="2251031"/>
              <a:chExt cx="1736509" cy="342900"/>
            </a:xfrm>
          </p:grpSpPr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B3D64FE-02BD-21CD-F08E-EA013F44B760}"/>
                  </a:ext>
                </a:extLst>
              </p:cNvPr>
              <p:cNvSpPr txBox="1"/>
              <p:nvPr/>
            </p:nvSpPr>
            <p:spPr>
              <a:xfrm>
                <a:off x="873342" y="2251031"/>
                <a:ext cx="1736507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r"/>
                <a:r>
                  <a:rPr sz="800" b="0">
                    <a:solidFill>
                      <a:srgbClr val="484848"/>
                    </a:solidFill>
                    <a:latin typeface="Roboto"/>
                  </a:rPr>
                  <a:t>Flood &amp; damage extent,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A88FDAD-1079-6DB7-A51C-D644C89E8DBD}"/>
                  </a:ext>
                </a:extLst>
              </p:cNvPr>
              <p:cNvSpPr txBox="1"/>
              <p:nvPr/>
            </p:nvSpPr>
            <p:spPr>
              <a:xfrm>
                <a:off x="873340" y="2422481"/>
                <a:ext cx="1736509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r"/>
                <a:r>
                  <a:rPr sz="800" b="0" dirty="0">
                    <a:solidFill>
                      <a:srgbClr val="484848"/>
                    </a:solidFill>
                    <a:latin typeface="Roboto"/>
                  </a:rPr>
                  <a:t>SAR can see through clouds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F1F8D7E-8919-D95E-AF5F-FB12AC88A205}"/>
                </a:ext>
              </a:extLst>
            </p:cNvPr>
            <p:cNvGrpSpPr/>
            <p:nvPr/>
          </p:nvGrpSpPr>
          <p:grpSpPr>
            <a:xfrm>
              <a:off x="5960659" y="2520610"/>
              <a:ext cx="1531925" cy="517083"/>
              <a:chOff x="5389159" y="1406185"/>
              <a:chExt cx="1531925" cy="517083"/>
            </a:xfrm>
          </p:grpSpPr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E7BD85E-59C0-41B8-4460-56CE203EC7DE}"/>
                  </a:ext>
                </a:extLst>
              </p:cNvPr>
              <p:cNvSpPr txBox="1"/>
              <p:nvPr/>
            </p:nvSpPr>
            <p:spPr>
              <a:xfrm>
                <a:off x="5389159" y="1406185"/>
                <a:ext cx="15319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200" b="0" dirty="0">
                    <a:solidFill>
                      <a:srgbClr val="1EABDA"/>
                    </a:solidFill>
                    <a:latin typeface="Roboto"/>
                  </a:rPr>
                  <a:t>TERRAIN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2A08379-C38C-C1B2-482B-CC41427A0A1F}"/>
                  </a:ext>
                </a:extLst>
              </p:cNvPr>
              <p:cNvSpPr txBox="1"/>
              <p:nvPr/>
            </p:nvSpPr>
            <p:spPr>
              <a:xfrm>
                <a:off x="5389159" y="1694667"/>
                <a:ext cx="1531925" cy="2286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200" b="0" dirty="0">
                    <a:solidFill>
                      <a:srgbClr val="1EABDA"/>
                    </a:solidFill>
                    <a:latin typeface="Roboto"/>
                  </a:rPr>
                  <a:t>INTELLIGENCE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0DBF8E8-DBAB-FB82-1D28-364D90E7641E}"/>
                </a:ext>
              </a:extLst>
            </p:cNvPr>
            <p:cNvGrpSpPr/>
            <p:nvPr/>
          </p:nvGrpSpPr>
          <p:grpSpPr>
            <a:xfrm>
              <a:off x="5960659" y="3166086"/>
              <a:ext cx="1273821" cy="514350"/>
              <a:chOff x="5389159" y="2051661"/>
              <a:chExt cx="1273821" cy="514350"/>
            </a:xfrm>
          </p:grpSpPr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A022BCF-4F71-2D45-B885-FF9ED43D21C6}"/>
                  </a:ext>
                </a:extLst>
              </p:cNvPr>
              <p:cNvSpPr txBox="1"/>
              <p:nvPr/>
            </p:nvSpPr>
            <p:spPr>
              <a:xfrm>
                <a:off x="5389159" y="2051661"/>
                <a:ext cx="1273821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800" b="0">
                    <a:solidFill>
                      <a:srgbClr val="484848"/>
                    </a:solidFill>
                    <a:latin typeface="Roboto"/>
                  </a:rPr>
                  <a:t>Land clearance,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66376AC-787D-A1E8-9912-C652729656E2}"/>
                  </a:ext>
                </a:extLst>
              </p:cNvPr>
              <p:cNvSpPr txBox="1"/>
              <p:nvPr/>
            </p:nvSpPr>
            <p:spPr>
              <a:xfrm>
                <a:off x="5389159" y="2223111"/>
                <a:ext cx="1273821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800" b="0" dirty="0">
                    <a:solidFill>
                      <a:srgbClr val="484848"/>
                    </a:solidFill>
                    <a:latin typeface="Roboto"/>
                  </a:rPr>
                  <a:t>river-course and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6ABA416-9205-EC93-10A4-732FA562C56B}"/>
                  </a:ext>
                </a:extLst>
              </p:cNvPr>
              <p:cNvSpPr txBox="1"/>
              <p:nvPr/>
            </p:nvSpPr>
            <p:spPr>
              <a:xfrm>
                <a:off x="5389159" y="2394561"/>
                <a:ext cx="1273821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800" b="0">
                    <a:solidFill>
                      <a:srgbClr val="484848"/>
                    </a:solidFill>
                    <a:latin typeface="Roboto"/>
                  </a:rPr>
                  <a:t>route changes</a:t>
                </a:r>
              </a:p>
            </p:txBody>
          </p:sp>
        </p:grpSp>
        <p:sp>
          <p:nvSpPr>
            <p:cNvPr id="25" name="Rounded Rectangle 20">
              <a:extLst>
                <a:ext uri="{FF2B5EF4-FFF2-40B4-BE49-F238E27FC236}">
                  <a16:creationId xmlns:a16="http://schemas.microsoft.com/office/drawing/2014/main" id="{5D341D0F-A3C7-A3BA-3847-1CE33C444782}"/>
                </a:ext>
              </a:extLst>
            </p:cNvPr>
            <p:cNvSpPr/>
            <p:nvPr/>
          </p:nvSpPr>
          <p:spPr>
            <a:xfrm>
              <a:off x="4362450" y="3581647"/>
              <a:ext cx="419100" cy="437654"/>
            </a:xfrm>
            <a:custGeom>
              <a:avLst/>
              <a:gdLst/>
              <a:ahLst/>
              <a:cxnLst/>
              <a:rect l="0" t="0" r="0" b="0"/>
              <a:pathLst>
                <a:path w="419100" h="437654">
                  <a:moveTo>
                    <a:pt x="0" y="370979"/>
                  </a:moveTo>
                  <a:cubicBezTo>
                    <a:pt x="22105" y="388019"/>
                    <a:pt x="38675" y="411217"/>
                    <a:pt x="47625" y="437654"/>
                  </a:cubicBezTo>
                  <a:moveTo>
                    <a:pt x="95250" y="370979"/>
                  </a:moveTo>
                  <a:cubicBezTo>
                    <a:pt x="73144" y="388019"/>
                    <a:pt x="56574" y="411217"/>
                    <a:pt x="47625" y="437654"/>
                  </a:cubicBezTo>
                  <a:moveTo>
                    <a:pt x="323850" y="370979"/>
                  </a:moveTo>
                  <a:cubicBezTo>
                    <a:pt x="345955" y="388019"/>
                    <a:pt x="362525" y="411217"/>
                    <a:pt x="371475" y="437654"/>
                  </a:cubicBezTo>
                  <a:moveTo>
                    <a:pt x="419100" y="370979"/>
                  </a:moveTo>
                  <a:cubicBezTo>
                    <a:pt x="396994" y="388019"/>
                    <a:pt x="380424" y="411217"/>
                    <a:pt x="371475" y="437654"/>
                  </a:cubicBezTo>
                  <a:moveTo>
                    <a:pt x="394030" y="85725"/>
                  </a:moveTo>
                  <a:cubicBezTo>
                    <a:pt x="394030" y="69943"/>
                    <a:pt x="381236" y="57150"/>
                    <a:pt x="365455" y="57150"/>
                  </a:cubicBezTo>
                  <a:lnTo>
                    <a:pt x="337185" y="57150"/>
                  </a:lnTo>
                  <a:cubicBezTo>
                    <a:pt x="313056" y="57797"/>
                    <a:pt x="289839" y="47917"/>
                    <a:pt x="273577" y="30079"/>
                  </a:cubicBezTo>
                  <a:cubicBezTo>
                    <a:pt x="257289" y="11001"/>
                    <a:pt x="233463" y="13"/>
                    <a:pt x="208378" y="13"/>
                  </a:cubicBezTo>
                  <a:cubicBezTo>
                    <a:pt x="183293" y="13"/>
                    <a:pt x="159466" y="11001"/>
                    <a:pt x="143179" y="30079"/>
                  </a:cubicBezTo>
                  <a:cubicBezTo>
                    <a:pt x="126895" y="47942"/>
                    <a:pt x="103638" y="57825"/>
                    <a:pt x="79476" y="57150"/>
                  </a:cubicBezTo>
                  <a:lnTo>
                    <a:pt x="51130" y="57150"/>
                  </a:lnTo>
                  <a:cubicBezTo>
                    <a:pt x="35348" y="57150"/>
                    <a:pt x="22555" y="69943"/>
                    <a:pt x="22555" y="85725"/>
                  </a:cubicBezTo>
                  <a:cubicBezTo>
                    <a:pt x="22555" y="101506"/>
                    <a:pt x="35348" y="114300"/>
                    <a:pt x="51130" y="114300"/>
                  </a:cubicBezTo>
                  <a:lnTo>
                    <a:pt x="79476" y="114300"/>
                  </a:lnTo>
                  <a:cubicBezTo>
                    <a:pt x="103605" y="113652"/>
                    <a:pt x="126822" y="123532"/>
                    <a:pt x="143084" y="141370"/>
                  </a:cubicBezTo>
                  <a:cubicBezTo>
                    <a:pt x="159371" y="160448"/>
                    <a:pt x="183198" y="171436"/>
                    <a:pt x="208283" y="171436"/>
                  </a:cubicBezTo>
                  <a:cubicBezTo>
                    <a:pt x="233368" y="171436"/>
                    <a:pt x="257194" y="160448"/>
                    <a:pt x="273481" y="141370"/>
                  </a:cubicBezTo>
                  <a:cubicBezTo>
                    <a:pt x="289765" y="123507"/>
                    <a:pt x="313023" y="113624"/>
                    <a:pt x="337185" y="114300"/>
                  </a:cubicBezTo>
                  <a:lnTo>
                    <a:pt x="365550" y="114300"/>
                  </a:lnTo>
                  <a:cubicBezTo>
                    <a:pt x="381294" y="114247"/>
                    <a:pt x="394030" y="101469"/>
                    <a:pt x="394030" y="85725"/>
                  </a:cubicBezTo>
                  <a:close/>
                  <a:moveTo>
                    <a:pt x="22555" y="0"/>
                  </a:moveTo>
                  <a:lnTo>
                    <a:pt x="79705" y="0"/>
                  </a:lnTo>
                  <a:moveTo>
                    <a:pt x="336880" y="0"/>
                  </a:moveTo>
                  <a:lnTo>
                    <a:pt x="394030" y="0"/>
                  </a:lnTo>
                  <a:moveTo>
                    <a:pt x="295275" y="124129"/>
                  </a:moveTo>
                  <a:cubicBezTo>
                    <a:pt x="328550" y="147489"/>
                    <a:pt x="352130" y="182215"/>
                    <a:pt x="361569" y="221761"/>
                  </a:cubicBezTo>
                  <a:moveTo>
                    <a:pt x="121234" y="124129"/>
                  </a:moveTo>
                  <a:cubicBezTo>
                    <a:pt x="87946" y="147477"/>
                    <a:pt x="64363" y="182208"/>
                    <a:pt x="54940" y="221761"/>
                  </a:cubicBezTo>
                  <a:moveTo>
                    <a:pt x="266700" y="351929"/>
                  </a:moveTo>
                  <a:cubicBezTo>
                    <a:pt x="266700" y="383492"/>
                    <a:pt x="241113" y="409079"/>
                    <a:pt x="209550" y="409079"/>
                  </a:cubicBezTo>
                  <a:cubicBezTo>
                    <a:pt x="177986" y="409079"/>
                    <a:pt x="152400" y="383492"/>
                    <a:pt x="152400" y="351929"/>
                  </a:cubicBezTo>
                  <a:cubicBezTo>
                    <a:pt x="152400" y="304304"/>
                    <a:pt x="209550" y="247154"/>
                    <a:pt x="209550" y="247154"/>
                  </a:cubicBezTo>
                  <a:cubicBezTo>
                    <a:pt x="209550" y="247154"/>
                    <a:pt x="266700" y="304304"/>
                    <a:pt x="266700" y="351929"/>
                  </a:cubicBezTo>
                  <a:close/>
                  <a:moveTo>
                    <a:pt x="170192" y="85725"/>
                  </a:moveTo>
                  <a:cubicBezTo>
                    <a:pt x="170192" y="64682"/>
                    <a:pt x="187250" y="47625"/>
                    <a:pt x="208292" y="47625"/>
                  </a:cubicBezTo>
                  <a:cubicBezTo>
                    <a:pt x="229334" y="47625"/>
                    <a:pt x="246392" y="64682"/>
                    <a:pt x="246392" y="85725"/>
                  </a:cubicBezTo>
                  <a:cubicBezTo>
                    <a:pt x="246392" y="106767"/>
                    <a:pt x="229334" y="123825"/>
                    <a:pt x="208292" y="123825"/>
                  </a:cubicBezTo>
                  <a:cubicBezTo>
                    <a:pt x="187250" y="123825"/>
                    <a:pt x="170192" y="106767"/>
                    <a:pt x="170192" y="85725"/>
                  </a:cubicBezTo>
                </a:path>
              </a:pathLst>
            </a:custGeom>
            <a:noFill/>
            <a:ln w="14287">
              <a:solidFill>
                <a:srgbClr val="1EABDA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ounded Rectangle 21">
              <a:extLst>
                <a:ext uri="{FF2B5EF4-FFF2-40B4-BE49-F238E27FC236}">
                  <a16:creationId xmlns:a16="http://schemas.microsoft.com/office/drawing/2014/main" id="{45928AAB-271C-72A8-7564-548930B21CD1}"/>
                </a:ext>
              </a:extLst>
            </p:cNvPr>
            <p:cNvSpPr/>
            <p:nvPr/>
          </p:nvSpPr>
          <p:spPr>
            <a:xfrm>
              <a:off x="3552825" y="3816603"/>
              <a:ext cx="438150" cy="424154"/>
            </a:xfrm>
            <a:custGeom>
              <a:avLst/>
              <a:gdLst/>
              <a:ahLst/>
              <a:cxnLst/>
              <a:rect l="0" t="0" r="0" b="0"/>
              <a:pathLst>
                <a:path w="438150" h="424154">
                  <a:moveTo>
                    <a:pt x="76200" y="424154"/>
                  </a:moveTo>
                  <a:lnTo>
                    <a:pt x="76200" y="309854"/>
                  </a:lnTo>
                  <a:cubicBezTo>
                    <a:pt x="76200" y="299333"/>
                    <a:pt x="84728" y="290804"/>
                    <a:pt x="95250" y="290804"/>
                  </a:cubicBezTo>
                  <a:lnTo>
                    <a:pt x="285750" y="290804"/>
                  </a:lnTo>
                  <a:cubicBezTo>
                    <a:pt x="296271" y="290804"/>
                    <a:pt x="304800" y="299333"/>
                    <a:pt x="304800" y="309854"/>
                  </a:cubicBezTo>
                  <a:lnTo>
                    <a:pt x="304800" y="424154"/>
                  </a:lnTo>
                  <a:moveTo>
                    <a:pt x="27108" y="225596"/>
                  </a:moveTo>
                  <a:lnTo>
                    <a:pt x="249116" y="3587"/>
                  </a:lnTo>
                  <a:cubicBezTo>
                    <a:pt x="251992" y="742"/>
                    <a:pt x="256341" y="0"/>
                    <a:pt x="259998" y="1730"/>
                  </a:cubicBezTo>
                  <a:cubicBezTo>
                    <a:pt x="263654" y="3460"/>
                    <a:pt x="265838" y="7294"/>
                    <a:pt x="265461" y="11322"/>
                  </a:cubicBezTo>
                  <a:cubicBezTo>
                    <a:pt x="253404" y="133350"/>
                    <a:pt x="156869" y="229892"/>
                    <a:pt x="34842" y="241960"/>
                  </a:cubicBezTo>
                  <a:cubicBezTo>
                    <a:pt x="30815" y="242323"/>
                    <a:pt x="26989" y="240135"/>
                    <a:pt x="25261" y="236479"/>
                  </a:cubicBezTo>
                  <a:cubicBezTo>
                    <a:pt x="23533" y="232823"/>
                    <a:pt x="24270" y="228477"/>
                    <a:pt x="27108" y="225596"/>
                  </a:cubicBezTo>
                  <a:close/>
                  <a:moveTo>
                    <a:pt x="190500" y="233654"/>
                  </a:moveTo>
                  <a:lnTo>
                    <a:pt x="152400" y="290804"/>
                  </a:lnTo>
                  <a:moveTo>
                    <a:pt x="247650" y="290804"/>
                  </a:moveTo>
                  <a:lnTo>
                    <a:pt x="247650" y="201345"/>
                  </a:lnTo>
                  <a:moveTo>
                    <a:pt x="0" y="424154"/>
                  </a:moveTo>
                  <a:lnTo>
                    <a:pt x="438150" y="424154"/>
                  </a:lnTo>
                  <a:moveTo>
                    <a:pt x="219075" y="424154"/>
                  </a:moveTo>
                  <a:lnTo>
                    <a:pt x="219075" y="347954"/>
                  </a:lnTo>
                  <a:lnTo>
                    <a:pt x="161925" y="347954"/>
                  </a:lnTo>
                  <a:lnTo>
                    <a:pt x="161925" y="424154"/>
                  </a:lnTo>
                  <a:moveTo>
                    <a:pt x="98317" y="154387"/>
                  </a:moveTo>
                  <a:lnTo>
                    <a:pt x="86887" y="97028"/>
                  </a:lnTo>
                  <a:cubicBezTo>
                    <a:pt x="85657" y="90803"/>
                    <a:pt x="87607" y="84375"/>
                    <a:pt x="92087" y="79883"/>
                  </a:cubicBezTo>
                  <a:lnTo>
                    <a:pt x="104584" y="67310"/>
                  </a:lnTo>
                  <a:cubicBezTo>
                    <a:pt x="109073" y="62822"/>
                    <a:pt x="115501" y="60865"/>
                    <a:pt x="121729" y="62090"/>
                  </a:cubicBezTo>
                  <a:lnTo>
                    <a:pt x="179089" y="73520"/>
                  </a:lnTo>
                  <a:moveTo>
                    <a:pt x="138417" y="208661"/>
                  </a:moveTo>
                  <a:cubicBezTo>
                    <a:pt x="154426" y="228582"/>
                    <a:pt x="180413" y="237599"/>
                    <a:pt x="205320" y="231876"/>
                  </a:cubicBezTo>
                  <a:cubicBezTo>
                    <a:pt x="230228" y="226153"/>
                    <a:pt x="249672" y="206697"/>
                    <a:pt x="255380" y="181786"/>
                  </a:cubicBezTo>
                  <a:cubicBezTo>
                    <a:pt x="261088" y="156875"/>
                    <a:pt x="252055" y="130893"/>
                    <a:pt x="232124" y="114896"/>
                  </a:cubicBezTo>
                  <a:moveTo>
                    <a:pt x="304800" y="424154"/>
                  </a:moveTo>
                  <a:lnTo>
                    <a:pt x="304800" y="265925"/>
                  </a:lnTo>
                  <a:cubicBezTo>
                    <a:pt x="304802" y="262865"/>
                    <a:pt x="306274" y="259992"/>
                    <a:pt x="308757" y="258204"/>
                  </a:cubicBezTo>
                  <a:cubicBezTo>
                    <a:pt x="311240" y="256415"/>
                    <a:pt x="314431" y="255928"/>
                    <a:pt x="317334" y="256895"/>
                  </a:cubicBezTo>
                  <a:lnTo>
                    <a:pt x="412584" y="288632"/>
                  </a:lnTo>
                  <a:cubicBezTo>
                    <a:pt x="416479" y="289930"/>
                    <a:pt x="419105" y="293576"/>
                    <a:pt x="419100" y="297681"/>
                  </a:cubicBezTo>
                  <a:lnTo>
                    <a:pt x="419100" y="424154"/>
                  </a:lnTo>
                  <a:moveTo>
                    <a:pt x="400050" y="284460"/>
                  </a:moveTo>
                  <a:lnTo>
                    <a:pt x="400050" y="214604"/>
                  </a:lnTo>
                  <a:moveTo>
                    <a:pt x="361950" y="233654"/>
                  </a:moveTo>
                  <a:lnTo>
                    <a:pt x="361950" y="271754"/>
                  </a:lnTo>
                  <a:moveTo>
                    <a:pt x="57150" y="33629"/>
                  </a:moveTo>
                  <a:lnTo>
                    <a:pt x="97707" y="74187"/>
                  </a:lnTo>
                </a:path>
              </a:pathLst>
            </a:custGeom>
            <a:noFill/>
            <a:ln w="14287">
              <a:solidFill>
                <a:srgbClr val="1EABDA"/>
              </a:solidFill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9" name="Rounded Rectangle 22">
              <a:extLst>
                <a:ext uri="{FF2B5EF4-FFF2-40B4-BE49-F238E27FC236}">
                  <a16:creationId xmlns:a16="http://schemas.microsoft.com/office/drawing/2014/main" id="{EC0726B6-C63E-E57F-5D21-2DD953A5624C}"/>
                </a:ext>
              </a:extLst>
            </p:cNvPr>
            <p:cNvSpPr/>
            <p:nvPr/>
          </p:nvSpPr>
          <p:spPr>
            <a:xfrm>
              <a:off x="5153025" y="3809995"/>
              <a:ext cx="438150" cy="437335"/>
            </a:xfrm>
            <a:custGeom>
              <a:avLst/>
              <a:gdLst/>
              <a:ahLst/>
              <a:cxnLst/>
              <a:rect l="0" t="0" r="0" b="0"/>
              <a:pathLst>
                <a:path w="438150" h="437335">
                  <a:moveTo>
                    <a:pt x="438150" y="218260"/>
                  </a:moveTo>
                  <a:cubicBezTo>
                    <a:pt x="438150" y="212999"/>
                    <a:pt x="433885" y="208735"/>
                    <a:pt x="428625" y="208735"/>
                  </a:cubicBezTo>
                  <a:lnTo>
                    <a:pt x="371475" y="208735"/>
                  </a:lnTo>
                  <a:cubicBezTo>
                    <a:pt x="366214" y="208735"/>
                    <a:pt x="361950" y="212999"/>
                    <a:pt x="361950" y="218260"/>
                  </a:cubicBezTo>
                  <a:lnTo>
                    <a:pt x="361950" y="284935"/>
                  </a:lnTo>
                  <a:lnTo>
                    <a:pt x="200025" y="284935"/>
                  </a:lnTo>
                  <a:cubicBezTo>
                    <a:pt x="194764" y="284935"/>
                    <a:pt x="190500" y="289199"/>
                    <a:pt x="190500" y="294460"/>
                  </a:cubicBezTo>
                  <a:lnTo>
                    <a:pt x="190500" y="342085"/>
                  </a:lnTo>
                  <a:lnTo>
                    <a:pt x="9525" y="342085"/>
                  </a:lnTo>
                  <a:cubicBezTo>
                    <a:pt x="4264" y="342085"/>
                    <a:pt x="0" y="346349"/>
                    <a:pt x="0" y="351610"/>
                  </a:cubicBezTo>
                  <a:lnTo>
                    <a:pt x="0" y="427810"/>
                  </a:lnTo>
                  <a:cubicBezTo>
                    <a:pt x="0" y="433070"/>
                    <a:pt x="4264" y="437335"/>
                    <a:pt x="9525" y="437335"/>
                  </a:cubicBezTo>
                  <a:lnTo>
                    <a:pt x="428625" y="437335"/>
                  </a:lnTo>
                  <a:cubicBezTo>
                    <a:pt x="433885" y="437335"/>
                    <a:pt x="438150" y="433070"/>
                    <a:pt x="438150" y="427810"/>
                  </a:cubicBezTo>
                  <a:close/>
                  <a:moveTo>
                    <a:pt x="323850" y="284935"/>
                  </a:moveTo>
                  <a:lnTo>
                    <a:pt x="323850" y="208735"/>
                  </a:lnTo>
                  <a:moveTo>
                    <a:pt x="285750" y="284935"/>
                  </a:moveTo>
                  <a:lnTo>
                    <a:pt x="285750" y="208735"/>
                  </a:lnTo>
                  <a:moveTo>
                    <a:pt x="247650" y="284935"/>
                  </a:moveTo>
                  <a:lnTo>
                    <a:pt x="247650" y="208735"/>
                  </a:lnTo>
                  <a:moveTo>
                    <a:pt x="209550" y="284935"/>
                  </a:moveTo>
                  <a:lnTo>
                    <a:pt x="209550" y="208735"/>
                  </a:lnTo>
                  <a:moveTo>
                    <a:pt x="304800" y="84910"/>
                  </a:moveTo>
                  <a:cubicBezTo>
                    <a:pt x="304800" y="90170"/>
                    <a:pt x="300535" y="94435"/>
                    <a:pt x="295275" y="94435"/>
                  </a:cubicBezTo>
                  <a:lnTo>
                    <a:pt x="9525" y="94435"/>
                  </a:lnTo>
                  <a:cubicBezTo>
                    <a:pt x="4264" y="94435"/>
                    <a:pt x="0" y="90170"/>
                    <a:pt x="0" y="84910"/>
                  </a:cubicBezTo>
                  <a:lnTo>
                    <a:pt x="0" y="65860"/>
                  </a:lnTo>
                  <a:cubicBezTo>
                    <a:pt x="0" y="60599"/>
                    <a:pt x="4264" y="56335"/>
                    <a:pt x="9525" y="56335"/>
                  </a:cubicBezTo>
                  <a:lnTo>
                    <a:pt x="304800" y="56335"/>
                  </a:lnTo>
                  <a:close/>
                  <a:moveTo>
                    <a:pt x="12496" y="56335"/>
                  </a:moveTo>
                  <a:lnTo>
                    <a:pt x="68941" y="4633"/>
                  </a:lnTo>
                  <a:cubicBezTo>
                    <a:pt x="73533" y="1189"/>
                    <a:pt x="79433" y="0"/>
                    <a:pt x="85001" y="1394"/>
                  </a:cubicBezTo>
                  <a:lnTo>
                    <a:pt x="304800" y="56335"/>
                  </a:lnTo>
                  <a:moveTo>
                    <a:pt x="114300" y="94435"/>
                  </a:moveTo>
                  <a:lnTo>
                    <a:pt x="114300" y="306709"/>
                  </a:lnTo>
                  <a:moveTo>
                    <a:pt x="57150" y="306709"/>
                  </a:moveTo>
                  <a:lnTo>
                    <a:pt x="57150" y="94435"/>
                  </a:lnTo>
                  <a:moveTo>
                    <a:pt x="304800" y="84910"/>
                  </a:moveTo>
                  <a:lnTo>
                    <a:pt x="304800" y="151585"/>
                  </a:lnTo>
                  <a:moveTo>
                    <a:pt x="76200" y="56335"/>
                  </a:moveTo>
                  <a:lnTo>
                    <a:pt x="76200" y="1909"/>
                  </a:lnTo>
                </a:path>
              </a:pathLst>
            </a:custGeom>
            <a:noFill/>
            <a:ln w="14287">
              <a:solidFill>
                <a:srgbClr val="1EABDA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23902B49-B80A-132D-53B1-31A11D5D47F5}"/>
                </a:ext>
              </a:extLst>
            </p:cNvPr>
            <p:cNvGrpSpPr/>
            <p:nvPr/>
          </p:nvGrpSpPr>
          <p:grpSpPr>
            <a:xfrm>
              <a:off x="3767906" y="2780518"/>
              <a:ext cx="1658924" cy="342900"/>
              <a:chOff x="3196406" y="1666093"/>
              <a:chExt cx="1658924" cy="342900"/>
            </a:xfrm>
          </p:grpSpPr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43AC641-E5C2-2E53-5A6C-923930A96943}"/>
                  </a:ext>
                </a:extLst>
              </p:cNvPr>
              <p:cNvSpPr txBox="1"/>
              <p:nvPr/>
            </p:nvSpPr>
            <p:spPr>
              <a:xfrm>
                <a:off x="3196408" y="1666093"/>
                <a:ext cx="1658922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800" b="0">
                    <a:solidFill>
                      <a:srgbClr val="484848"/>
                    </a:solidFill>
                    <a:latin typeface="Roboto"/>
                  </a:rPr>
                  <a:t>New roads, bridges and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7171F82-0FD3-95AF-0065-926224413C70}"/>
                  </a:ext>
                </a:extLst>
              </p:cNvPr>
              <p:cNvSpPr txBox="1"/>
              <p:nvPr/>
            </p:nvSpPr>
            <p:spPr>
              <a:xfrm>
                <a:off x="3196406" y="1837543"/>
                <a:ext cx="1658924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800" b="0" dirty="0">
                    <a:solidFill>
                      <a:srgbClr val="484848"/>
                    </a:solidFill>
                    <a:latin typeface="Roboto"/>
                  </a:rPr>
                  <a:t>construction, dated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46B9953-0B32-4E9A-BFA6-50B9E0476235}"/>
                </a:ext>
              </a:extLst>
            </p:cNvPr>
            <p:cNvGrpSpPr/>
            <p:nvPr/>
          </p:nvGrpSpPr>
          <p:grpSpPr>
            <a:xfrm>
              <a:off x="3806419" y="2204938"/>
              <a:ext cx="1620410" cy="484669"/>
              <a:chOff x="3234919" y="1090513"/>
              <a:chExt cx="1620410" cy="484669"/>
            </a:xfrm>
          </p:grpSpPr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3185AA0-F5E6-A550-FB4D-0A32C11D1088}"/>
                  </a:ext>
                </a:extLst>
              </p:cNvPr>
              <p:cNvSpPr txBox="1"/>
              <p:nvPr/>
            </p:nvSpPr>
            <p:spPr>
              <a:xfrm>
                <a:off x="3273423" y="1090513"/>
                <a:ext cx="15819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1200" b="0">
                    <a:solidFill>
                      <a:srgbClr val="1EABDA"/>
                    </a:solidFill>
                    <a:latin typeface="Roboto"/>
                  </a:rPr>
                  <a:t>INFRASTRUCTURE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625BB9F-1889-8531-536E-5133747A5E20}"/>
                  </a:ext>
                </a:extLst>
              </p:cNvPr>
              <p:cNvSpPr txBox="1"/>
              <p:nvPr/>
            </p:nvSpPr>
            <p:spPr>
              <a:xfrm>
                <a:off x="3234919" y="1346581"/>
                <a:ext cx="1581906" cy="2286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1200" b="0" dirty="0">
                    <a:solidFill>
                      <a:srgbClr val="1EABDA"/>
                    </a:solidFill>
                    <a:latin typeface="Roboto"/>
                  </a:rPr>
                  <a:t>MONITORING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4DBD853-B003-CAB3-68F2-E2667C1B8BC0}"/>
                </a:ext>
              </a:extLst>
            </p:cNvPr>
            <p:cNvGrpSpPr/>
            <p:nvPr/>
          </p:nvGrpSpPr>
          <p:grpSpPr>
            <a:xfrm>
              <a:off x="1034824" y="3991361"/>
              <a:ext cx="1460725" cy="525176"/>
              <a:chOff x="463324" y="2876936"/>
              <a:chExt cx="1460725" cy="525176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FF1CDE8-2B67-E88C-E08D-822DC5A29152}"/>
                  </a:ext>
                </a:extLst>
              </p:cNvPr>
              <p:cNvSpPr txBox="1"/>
              <p:nvPr/>
            </p:nvSpPr>
            <p:spPr>
              <a:xfrm>
                <a:off x="463324" y="2876936"/>
                <a:ext cx="1460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r"/>
                <a:r>
                  <a:rPr sz="1200" b="0" dirty="0">
                    <a:solidFill>
                      <a:srgbClr val="1EABDA"/>
                    </a:solidFill>
                    <a:latin typeface="Roboto"/>
                  </a:rPr>
                  <a:t>GEO-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C12122A-6C2A-59F6-5B26-BAE39CD1EBCB}"/>
                  </a:ext>
                </a:extLst>
              </p:cNvPr>
              <p:cNvSpPr txBox="1"/>
              <p:nvPr/>
            </p:nvSpPr>
            <p:spPr>
              <a:xfrm>
                <a:off x="463324" y="3173511"/>
                <a:ext cx="1460725" cy="2286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r"/>
                <a:r>
                  <a:rPr sz="1200" b="0" dirty="0">
                    <a:solidFill>
                      <a:srgbClr val="1EABDA"/>
                    </a:solidFill>
                    <a:latin typeface="Roboto"/>
                  </a:rPr>
                  <a:t>INTELLIGENCE</a:t>
                </a: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26F7AF33-63C8-DF8D-4506-60E0A17E9E02}"/>
                </a:ext>
              </a:extLst>
            </p:cNvPr>
            <p:cNvGrpSpPr/>
            <p:nvPr/>
          </p:nvGrpSpPr>
          <p:grpSpPr>
            <a:xfrm>
              <a:off x="6624493" y="4006537"/>
              <a:ext cx="1244452" cy="601276"/>
              <a:chOff x="6052993" y="2892112"/>
              <a:chExt cx="1244452" cy="601276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C397A85-81D1-17CF-207E-905BA8375115}"/>
                  </a:ext>
                </a:extLst>
              </p:cNvPr>
              <p:cNvSpPr txBox="1"/>
              <p:nvPr/>
            </p:nvSpPr>
            <p:spPr>
              <a:xfrm>
                <a:off x="6077473" y="2892112"/>
                <a:ext cx="121997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r>
                  <a:rPr lang="en-IN" sz="1200" dirty="0">
                    <a:solidFill>
                      <a:srgbClr val="1EABDA"/>
                    </a:solidFill>
                    <a:latin typeface="Roboto"/>
                  </a:rPr>
                  <a:t>ENVIRONMENTAL</a:t>
                </a:r>
              </a:p>
              <a:p>
                <a:r>
                  <a:rPr lang="en-IN" sz="1200" dirty="0">
                    <a:solidFill>
                      <a:srgbClr val="1EABDA"/>
                    </a:solidFill>
                    <a:latin typeface="Roboto"/>
                  </a:rPr>
                  <a:t>MONITORING</a:t>
                </a:r>
                <a:endParaRPr lang="en-IN" sz="1200" b="0" dirty="0">
                  <a:solidFill>
                    <a:srgbClr val="1EABDA"/>
                  </a:solidFill>
                  <a:latin typeface="Roboto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7FCFFA2-7C69-4C02-2D10-2FFDF27A7274}"/>
                  </a:ext>
                </a:extLst>
              </p:cNvPr>
              <p:cNvSpPr txBox="1"/>
              <p:nvPr/>
            </p:nvSpPr>
            <p:spPr>
              <a:xfrm>
                <a:off x="6052993" y="3264787"/>
                <a:ext cx="1219973" cy="2286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endParaRPr sz="1200" b="0" dirty="0">
                  <a:solidFill>
                    <a:srgbClr val="1EABDA"/>
                  </a:solidFill>
                  <a:latin typeface="Roboto"/>
                </a:endParaRPr>
              </a:p>
            </p:txBody>
          </p:sp>
        </p:grpSp>
        <p:sp>
          <p:nvSpPr>
            <p:cNvPr id="37" name="Rounded Rectangle 35">
              <a:extLst>
                <a:ext uri="{FF2B5EF4-FFF2-40B4-BE49-F238E27FC236}">
                  <a16:creationId xmlns:a16="http://schemas.microsoft.com/office/drawing/2014/main" id="{4FDF2B5D-3FD2-381B-0DEE-6E5B0B4F51D5}"/>
                </a:ext>
              </a:extLst>
            </p:cNvPr>
            <p:cNvSpPr/>
            <p:nvPr/>
          </p:nvSpPr>
          <p:spPr>
            <a:xfrm>
              <a:off x="3081905" y="4482360"/>
              <a:ext cx="451869" cy="451589"/>
            </a:xfrm>
            <a:custGeom>
              <a:avLst/>
              <a:gdLst/>
              <a:ahLst/>
              <a:cxnLst/>
              <a:rect l="0" t="0" r="0" b="0"/>
              <a:pathLst>
                <a:path w="451869" h="451589">
                  <a:moveTo>
                    <a:pt x="185169" y="232514"/>
                  </a:moveTo>
                  <a:lnTo>
                    <a:pt x="185169" y="356339"/>
                  </a:lnTo>
                  <a:moveTo>
                    <a:pt x="13719" y="184889"/>
                  </a:moveTo>
                  <a:lnTo>
                    <a:pt x="137544" y="184889"/>
                  </a:lnTo>
                  <a:moveTo>
                    <a:pt x="185169" y="184889"/>
                  </a:moveTo>
                  <a:lnTo>
                    <a:pt x="313756" y="73446"/>
                  </a:lnTo>
                  <a:moveTo>
                    <a:pt x="242319" y="270614"/>
                  </a:moveTo>
                  <a:cubicBezTo>
                    <a:pt x="242319" y="286395"/>
                    <a:pt x="289228" y="299189"/>
                    <a:pt x="347094" y="299189"/>
                  </a:cubicBezTo>
                  <a:cubicBezTo>
                    <a:pt x="404959" y="299189"/>
                    <a:pt x="451869" y="286395"/>
                    <a:pt x="451869" y="270614"/>
                  </a:cubicBezTo>
                  <a:cubicBezTo>
                    <a:pt x="451869" y="254832"/>
                    <a:pt x="404959" y="242039"/>
                    <a:pt x="347094" y="242039"/>
                  </a:cubicBezTo>
                  <a:cubicBezTo>
                    <a:pt x="289228" y="242039"/>
                    <a:pt x="242319" y="254832"/>
                    <a:pt x="242319" y="270614"/>
                  </a:cubicBezTo>
                  <a:moveTo>
                    <a:pt x="421198" y="327764"/>
                  </a:moveTo>
                  <a:cubicBezTo>
                    <a:pt x="399337" y="342256"/>
                    <a:pt x="373233" y="348966"/>
                    <a:pt x="347094" y="346814"/>
                  </a:cubicBezTo>
                  <a:cubicBezTo>
                    <a:pt x="320954" y="348966"/>
                    <a:pt x="294850" y="342256"/>
                    <a:pt x="272989" y="327764"/>
                  </a:cubicBezTo>
                  <a:moveTo>
                    <a:pt x="395481" y="384914"/>
                  </a:moveTo>
                  <a:cubicBezTo>
                    <a:pt x="380269" y="391675"/>
                    <a:pt x="363733" y="394930"/>
                    <a:pt x="347094" y="394439"/>
                  </a:cubicBezTo>
                  <a:cubicBezTo>
                    <a:pt x="330455" y="394930"/>
                    <a:pt x="313918" y="391675"/>
                    <a:pt x="298707" y="384914"/>
                  </a:cubicBezTo>
                  <a:moveTo>
                    <a:pt x="373383" y="432539"/>
                  </a:moveTo>
                  <a:cubicBezTo>
                    <a:pt x="373383" y="432539"/>
                    <a:pt x="361572" y="451589"/>
                    <a:pt x="347094" y="451589"/>
                  </a:cubicBezTo>
                  <a:cubicBezTo>
                    <a:pt x="332616" y="451589"/>
                    <a:pt x="320805" y="432539"/>
                    <a:pt x="320805" y="432539"/>
                  </a:cubicBezTo>
                  <a:moveTo>
                    <a:pt x="232794" y="349481"/>
                  </a:moveTo>
                  <a:cubicBezTo>
                    <a:pt x="217060" y="353996"/>
                    <a:pt x="200775" y="356304"/>
                    <a:pt x="184407" y="356339"/>
                  </a:cubicBezTo>
                  <a:cubicBezTo>
                    <a:pt x="113419" y="355899"/>
                    <a:pt x="50044" y="311758"/>
                    <a:pt x="25022" y="245326"/>
                  </a:cubicBezTo>
                  <a:cubicBezTo>
                    <a:pt x="0" y="178893"/>
                    <a:pt x="18505" y="103911"/>
                    <a:pt x="71563" y="56749"/>
                  </a:cubicBezTo>
                  <a:cubicBezTo>
                    <a:pt x="124620" y="9586"/>
                    <a:pt x="201255" y="0"/>
                    <a:pt x="264296" y="32638"/>
                  </a:cubicBezTo>
                  <a:cubicBezTo>
                    <a:pt x="327336" y="65277"/>
                    <a:pt x="363743" y="133390"/>
                    <a:pt x="355857" y="203939"/>
                  </a:cubicBezTo>
                  <a:moveTo>
                    <a:pt x="232794" y="91544"/>
                  </a:moveTo>
                  <a:cubicBezTo>
                    <a:pt x="194129" y="71833"/>
                    <a:pt x="147314" y="77999"/>
                    <a:pt x="115072" y="107050"/>
                  </a:cubicBezTo>
                  <a:cubicBezTo>
                    <a:pt x="82830" y="136101"/>
                    <a:pt x="71836" y="182022"/>
                    <a:pt x="87425" y="222525"/>
                  </a:cubicBezTo>
                  <a:cubicBezTo>
                    <a:pt x="103014" y="263027"/>
                    <a:pt x="141960" y="289727"/>
                    <a:pt x="185359" y="289664"/>
                  </a:cubicBezTo>
                  <a:cubicBezTo>
                    <a:pt x="191747" y="289658"/>
                    <a:pt x="198122" y="289084"/>
                    <a:pt x="204409" y="287949"/>
                  </a:cubicBezTo>
                  <a:moveTo>
                    <a:pt x="264417" y="116309"/>
                  </a:moveTo>
                  <a:cubicBezTo>
                    <a:pt x="285207" y="140410"/>
                    <a:pt x="293963" y="172630"/>
                    <a:pt x="288229" y="203939"/>
                  </a:cubicBezTo>
                  <a:moveTo>
                    <a:pt x="185169" y="180126"/>
                  </a:moveTo>
                  <a:cubicBezTo>
                    <a:pt x="182538" y="180126"/>
                    <a:pt x="180406" y="182258"/>
                    <a:pt x="180406" y="184889"/>
                  </a:cubicBezTo>
                  <a:cubicBezTo>
                    <a:pt x="180406" y="187519"/>
                    <a:pt x="182538" y="189651"/>
                    <a:pt x="185169" y="189651"/>
                  </a:cubicBezTo>
                  <a:cubicBezTo>
                    <a:pt x="187799" y="189651"/>
                    <a:pt x="189931" y="187519"/>
                    <a:pt x="189931" y="184889"/>
                  </a:cubicBezTo>
                  <a:cubicBezTo>
                    <a:pt x="189931" y="182258"/>
                    <a:pt x="187799" y="180126"/>
                    <a:pt x="185169" y="180126"/>
                  </a:cubicBezTo>
                  <a:moveTo>
                    <a:pt x="232794" y="184889"/>
                  </a:moveTo>
                  <a:lnTo>
                    <a:pt x="356619" y="184889"/>
                  </a:lnTo>
                  <a:moveTo>
                    <a:pt x="185169" y="13439"/>
                  </a:moveTo>
                  <a:lnTo>
                    <a:pt x="185169" y="137264"/>
                  </a:lnTo>
                </a:path>
              </a:pathLst>
            </a:custGeom>
            <a:noFill/>
            <a:ln w="14287">
              <a:solidFill>
                <a:srgbClr val="1EABDA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Rounded Rectangle 36">
              <a:extLst>
                <a:ext uri="{FF2B5EF4-FFF2-40B4-BE49-F238E27FC236}">
                  <a16:creationId xmlns:a16="http://schemas.microsoft.com/office/drawing/2014/main" id="{FA866FA8-F3AA-C9D6-BB5E-B34E1572DA74}"/>
                </a:ext>
              </a:extLst>
            </p:cNvPr>
            <p:cNvSpPr/>
            <p:nvPr/>
          </p:nvSpPr>
          <p:spPr>
            <a:xfrm>
              <a:off x="4245606" y="4572988"/>
              <a:ext cx="657226" cy="657225"/>
            </a:xfrm>
            <a:custGeom>
              <a:avLst/>
              <a:gdLst/>
              <a:ahLst/>
              <a:cxnLst/>
              <a:rect l="0" t="0" r="0" b="0"/>
              <a:pathLst>
                <a:path w="657225" h="657225">
                  <a:moveTo>
                    <a:pt x="128587" y="328612"/>
                  </a:moveTo>
                  <a:cubicBezTo>
                    <a:pt x="128587" y="439083"/>
                    <a:pt x="218141" y="528637"/>
                    <a:pt x="328612" y="528637"/>
                  </a:cubicBezTo>
                  <a:cubicBezTo>
                    <a:pt x="439083" y="528637"/>
                    <a:pt x="528637" y="439083"/>
                    <a:pt x="528637" y="328612"/>
                  </a:cubicBezTo>
                  <a:cubicBezTo>
                    <a:pt x="528637" y="218141"/>
                    <a:pt x="439083" y="128587"/>
                    <a:pt x="328612" y="128587"/>
                  </a:cubicBezTo>
                  <a:cubicBezTo>
                    <a:pt x="218141" y="128587"/>
                    <a:pt x="128587" y="218141"/>
                    <a:pt x="128587" y="328612"/>
                  </a:cubicBezTo>
                  <a:moveTo>
                    <a:pt x="328612" y="128587"/>
                  </a:moveTo>
                  <a:cubicBezTo>
                    <a:pt x="428625" y="261937"/>
                    <a:pt x="428625" y="395287"/>
                    <a:pt x="328612" y="528637"/>
                  </a:cubicBezTo>
                  <a:moveTo>
                    <a:pt x="328612" y="128587"/>
                  </a:moveTo>
                  <a:cubicBezTo>
                    <a:pt x="228600" y="261937"/>
                    <a:pt x="228600" y="395287"/>
                    <a:pt x="328612" y="528637"/>
                  </a:cubicBezTo>
                  <a:moveTo>
                    <a:pt x="515464" y="257175"/>
                  </a:moveTo>
                  <a:lnTo>
                    <a:pt x="141732" y="257175"/>
                  </a:lnTo>
                  <a:moveTo>
                    <a:pt x="515493" y="400050"/>
                  </a:moveTo>
                  <a:lnTo>
                    <a:pt x="141732" y="400050"/>
                  </a:lnTo>
                  <a:moveTo>
                    <a:pt x="314325" y="14287"/>
                  </a:moveTo>
                  <a:cubicBezTo>
                    <a:pt x="314325" y="22178"/>
                    <a:pt x="320721" y="28575"/>
                    <a:pt x="328612" y="28575"/>
                  </a:cubicBezTo>
                  <a:cubicBezTo>
                    <a:pt x="336503" y="28575"/>
                    <a:pt x="342900" y="22178"/>
                    <a:pt x="342900" y="14287"/>
                  </a:cubicBezTo>
                  <a:cubicBezTo>
                    <a:pt x="342900" y="6396"/>
                    <a:pt x="336503" y="0"/>
                    <a:pt x="328612" y="0"/>
                  </a:cubicBezTo>
                  <a:cubicBezTo>
                    <a:pt x="320721" y="0"/>
                    <a:pt x="314325" y="6396"/>
                    <a:pt x="314325" y="14287"/>
                  </a:cubicBezTo>
                  <a:moveTo>
                    <a:pt x="533638" y="109299"/>
                  </a:moveTo>
                  <a:cubicBezTo>
                    <a:pt x="533638" y="117190"/>
                    <a:pt x="540034" y="123586"/>
                    <a:pt x="547925" y="123586"/>
                  </a:cubicBezTo>
                  <a:cubicBezTo>
                    <a:pt x="555816" y="123586"/>
                    <a:pt x="562213" y="117190"/>
                    <a:pt x="562213" y="109299"/>
                  </a:cubicBezTo>
                  <a:cubicBezTo>
                    <a:pt x="562213" y="101408"/>
                    <a:pt x="555816" y="95011"/>
                    <a:pt x="547925" y="95011"/>
                  </a:cubicBezTo>
                  <a:cubicBezTo>
                    <a:pt x="540034" y="95011"/>
                    <a:pt x="533638" y="101408"/>
                    <a:pt x="533638" y="109299"/>
                  </a:cubicBezTo>
                  <a:moveTo>
                    <a:pt x="628650" y="328612"/>
                  </a:moveTo>
                  <a:cubicBezTo>
                    <a:pt x="628650" y="336503"/>
                    <a:pt x="635046" y="342900"/>
                    <a:pt x="642937" y="342900"/>
                  </a:cubicBezTo>
                  <a:cubicBezTo>
                    <a:pt x="650828" y="342900"/>
                    <a:pt x="657225" y="336503"/>
                    <a:pt x="657225" y="328612"/>
                  </a:cubicBezTo>
                  <a:cubicBezTo>
                    <a:pt x="657225" y="320721"/>
                    <a:pt x="650828" y="314325"/>
                    <a:pt x="642937" y="314325"/>
                  </a:cubicBezTo>
                  <a:cubicBezTo>
                    <a:pt x="635046" y="314325"/>
                    <a:pt x="628650" y="320721"/>
                    <a:pt x="628650" y="328612"/>
                  </a:cubicBezTo>
                  <a:moveTo>
                    <a:pt x="533638" y="547925"/>
                  </a:moveTo>
                  <a:cubicBezTo>
                    <a:pt x="533638" y="555816"/>
                    <a:pt x="540034" y="562213"/>
                    <a:pt x="547925" y="562213"/>
                  </a:cubicBezTo>
                  <a:cubicBezTo>
                    <a:pt x="555816" y="562213"/>
                    <a:pt x="562213" y="555816"/>
                    <a:pt x="562213" y="547925"/>
                  </a:cubicBezTo>
                  <a:cubicBezTo>
                    <a:pt x="562213" y="540034"/>
                    <a:pt x="555816" y="533638"/>
                    <a:pt x="547925" y="533638"/>
                  </a:cubicBezTo>
                  <a:cubicBezTo>
                    <a:pt x="540034" y="533638"/>
                    <a:pt x="533638" y="540034"/>
                    <a:pt x="533638" y="547925"/>
                  </a:cubicBezTo>
                  <a:moveTo>
                    <a:pt x="314325" y="642937"/>
                  </a:moveTo>
                  <a:cubicBezTo>
                    <a:pt x="314325" y="650828"/>
                    <a:pt x="320721" y="657225"/>
                    <a:pt x="328612" y="657225"/>
                  </a:cubicBezTo>
                  <a:cubicBezTo>
                    <a:pt x="336503" y="657225"/>
                    <a:pt x="342900" y="650828"/>
                    <a:pt x="342900" y="642937"/>
                  </a:cubicBezTo>
                  <a:cubicBezTo>
                    <a:pt x="342900" y="635046"/>
                    <a:pt x="336503" y="628650"/>
                    <a:pt x="328612" y="628650"/>
                  </a:cubicBezTo>
                  <a:cubicBezTo>
                    <a:pt x="320721" y="628650"/>
                    <a:pt x="314325" y="635046"/>
                    <a:pt x="314325" y="642937"/>
                  </a:cubicBezTo>
                  <a:moveTo>
                    <a:pt x="95011" y="547925"/>
                  </a:moveTo>
                  <a:cubicBezTo>
                    <a:pt x="95011" y="555816"/>
                    <a:pt x="101408" y="562213"/>
                    <a:pt x="109299" y="562213"/>
                  </a:cubicBezTo>
                  <a:cubicBezTo>
                    <a:pt x="117190" y="562213"/>
                    <a:pt x="123586" y="555816"/>
                    <a:pt x="123586" y="547925"/>
                  </a:cubicBezTo>
                  <a:cubicBezTo>
                    <a:pt x="123586" y="540034"/>
                    <a:pt x="117190" y="533638"/>
                    <a:pt x="109299" y="533638"/>
                  </a:cubicBezTo>
                  <a:cubicBezTo>
                    <a:pt x="101408" y="533638"/>
                    <a:pt x="95011" y="540034"/>
                    <a:pt x="95011" y="547925"/>
                  </a:cubicBezTo>
                  <a:moveTo>
                    <a:pt x="0" y="328612"/>
                  </a:moveTo>
                  <a:cubicBezTo>
                    <a:pt x="0" y="336503"/>
                    <a:pt x="6396" y="342900"/>
                    <a:pt x="14287" y="342900"/>
                  </a:cubicBezTo>
                  <a:cubicBezTo>
                    <a:pt x="22178" y="342900"/>
                    <a:pt x="28575" y="336503"/>
                    <a:pt x="28575" y="328612"/>
                  </a:cubicBezTo>
                  <a:cubicBezTo>
                    <a:pt x="28575" y="320721"/>
                    <a:pt x="22178" y="314325"/>
                    <a:pt x="14287" y="314325"/>
                  </a:cubicBezTo>
                  <a:cubicBezTo>
                    <a:pt x="6396" y="314325"/>
                    <a:pt x="0" y="320721"/>
                    <a:pt x="0" y="328612"/>
                  </a:cubicBezTo>
                  <a:moveTo>
                    <a:pt x="95011" y="109299"/>
                  </a:moveTo>
                  <a:cubicBezTo>
                    <a:pt x="95011" y="117190"/>
                    <a:pt x="101408" y="123586"/>
                    <a:pt x="109299" y="123586"/>
                  </a:cubicBezTo>
                  <a:cubicBezTo>
                    <a:pt x="117190" y="123586"/>
                    <a:pt x="123586" y="117190"/>
                    <a:pt x="123586" y="109299"/>
                  </a:cubicBezTo>
                  <a:cubicBezTo>
                    <a:pt x="123586" y="101408"/>
                    <a:pt x="117190" y="95011"/>
                    <a:pt x="109299" y="95011"/>
                  </a:cubicBezTo>
                  <a:cubicBezTo>
                    <a:pt x="101408" y="95011"/>
                    <a:pt x="95011" y="101408"/>
                    <a:pt x="95011" y="109299"/>
                  </a:cubicBez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ounded Rectangle 37">
              <a:extLst>
                <a:ext uri="{FF2B5EF4-FFF2-40B4-BE49-F238E27FC236}">
                  <a16:creationId xmlns:a16="http://schemas.microsoft.com/office/drawing/2014/main" id="{97968106-22A3-78AC-CC44-C727F2F8F816}"/>
                </a:ext>
              </a:extLst>
            </p:cNvPr>
            <p:cNvSpPr/>
            <p:nvPr/>
          </p:nvSpPr>
          <p:spPr>
            <a:xfrm>
              <a:off x="5614987" y="4493513"/>
              <a:ext cx="428625" cy="433736"/>
            </a:xfrm>
            <a:custGeom>
              <a:avLst/>
              <a:gdLst/>
              <a:ahLst/>
              <a:cxnLst/>
              <a:rect l="0" t="0" r="0" b="0"/>
              <a:pathLst>
                <a:path w="428625" h="433736">
                  <a:moveTo>
                    <a:pt x="283673" y="231705"/>
                  </a:moveTo>
                  <a:cubicBezTo>
                    <a:pt x="283671" y="261007"/>
                    <a:pt x="307425" y="284762"/>
                    <a:pt x="336727" y="284762"/>
                  </a:cubicBezTo>
                  <a:cubicBezTo>
                    <a:pt x="366029" y="284762"/>
                    <a:pt x="389783" y="261007"/>
                    <a:pt x="389782" y="231705"/>
                  </a:cubicBezTo>
                  <a:cubicBezTo>
                    <a:pt x="389783" y="202402"/>
                    <a:pt x="366029" y="178648"/>
                    <a:pt x="336727" y="178648"/>
                  </a:cubicBezTo>
                  <a:cubicBezTo>
                    <a:pt x="307425" y="178648"/>
                    <a:pt x="283671" y="202402"/>
                    <a:pt x="283673" y="231705"/>
                  </a:cubicBezTo>
                  <a:moveTo>
                    <a:pt x="428625" y="390906"/>
                  </a:moveTo>
                  <a:cubicBezTo>
                    <a:pt x="424503" y="362267"/>
                    <a:pt x="407267" y="337187"/>
                    <a:pt x="382009" y="323075"/>
                  </a:cubicBezTo>
                  <a:cubicBezTo>
                    <a:pt x="356750" y="308963"/>
                    <a:pt x="326357" y="307432"/>
                    <a:pt x="299808" y="318935"/>
                  </a:cubicBezTo>
                  <a:moveTo>
                    <a:pt x="404812" y="433730"/>
                  </a:moveTo>
                  <a:lnTo>
                    <a:pt x="234543" y="433730"/>
                  </a:lnTo>
                  <a:cubicBezTo>
                    <a:pt x="217055" y="433736"/>
                    <a:pt x="201808" y="421835"/>
                    <a:pt x="197567" y="404869"/>
                  </a:cubicBezTo>
                  <a:lnTo>
                    <a:pt x="179165" y="331260"/>
                  </a:lnTo>
                  <a:cubicBezTo>
                    <a:pt x="178455" y="328415"/>
                    <a:pt x="179095" y="325403"/>
                    <a:pt x="180900" y="323092"/>
                  </a:cubicBezTo>
                  <a:cubicBezTo>
                    <a:pt x="182704" y="320782"/>
                    <a:pt x="185472" y="319431"/>
                    <a:pt x="188404" y="319430"/>
                  </a:cubicBezTo>
                  <a:lnTo>
                    <a:pt x="285159" y="319430"/>
                  </a:lnTo>
                  <a:cubicBezTo>
                    <a:pt x="293897" y="319430"/>
                    <a:pt x="301514" y="325375"/>
                    <a:pt x="303637" y="333851"/>
                  </a:cubicBezTo>
                  <a:lnTo>
                    <a:pt x="328612" y="433730"/>
                  </a:lnTo>
                  <a:moveTo>
                    <a:pt x="52463" y="219417"/>
                  </a:moveTo>
                  <a:cubicBezTo>
                    <a:pt x="52463" y="237787"/>
                    <a:pt x="67355" y="252679"/>
                    <a:pt x="85725" y="252679"/>
                  </a:cubicBezTo>
                  <a:cubicBezTo>
                    <a:pt x="104094" y="252679"/>
                    <a:pt x="118986" y="237787"/>
                    <a:pt x="118986" y="219417"/>
                  </a:cubicBezTo>
                  <a:cubicBezTo>
                    <a:pt x="118986" y="201048"/>
                    <a:pt x="104094" y="186156"/>
                    <a:pt x="85725" y="186156"/>
                  </a:cubicBezTo>
                  <a:cubicBezTo>
                    <a:pt x="67355" y="186156"/>
                    <a:pt x="52463" y="201048"/>
                    <a:pt x="52463" y="219417"/>
                  </a:cubicBezTo>
                  <a:moveTo>
                    <a:pt x="171450" y="219456"/>
                  </a:moveTo>
                  <a:cubicBezTo>
                    <a:pt x="171450" y="276606"/>
                    <a:pt x="85725" y="362331"/>
                    <a:pt x="85725" y="362331"/>
                  </a:cubicBezTo>
                  <a:cubicBezTo>
                    <a:pt x="85725" y="362331"/>
                    <a:pt x="0" y="276606"/>
                    <a:pt x="0" y="219456"/>
                  </a:cubicBezTo>
                  <a:cubicBezTo>
                    <a:pt x="0" y="172111"/>
                    <a:pt x="38380" y="133731"/>
                    <a:pt x="85725" y="133731"/>
                  </a:cubicBezTo>
                  <a:cubicBezTo>
                    <a:pt x="133069" y="133731"/>
                    <a:pt x="171450" y="172111"/>
                    <a:pt x="171450" y="219456"/>
                  </a:cubicBezTo>
                  <a:close/>
                  <a:moveTo>
                    <a:pt x="130606" y="86106"/>
                  </a:moveTo>
                  <a:cubicBezTo>
                    <a:pt x="104067" y="65987"/>
                    <a:pt x="67382" y="65987"/>
                    <a:pt x="40843" y="86106"/>
                  </a:cubicBezTo>
                  <a:moveTo>
                    <a:pt x="166687" y="35966"/>
                  </a:moveTo>
                  <a:lnTo>
                    <a:pt x="166687" y="35966"/>
                  </a:lnTo>
                  <a:cubicBezTo>
                    <a:pt x="118704" y="0"/>
                    <a:pt x="52745" y="0"/>
                    <a:pt x="4762" y="35966"/>
                  </a:cubicBezTo>
                  <a:lnTo>
                    <a:pt x="4762" y="35966"/>
                  </a:lnTo>
                  <a:moveTo>
                    <a:pt x="389782" y="231705"/>
                  </a:moveTo>
                  <a:cubicBezTo>
                    <a:pt x="360711" y="231705"/>
                    <a:pt x="319182" y="226466"/>
                    <a:pt x="297446" y="196138"/>
                  </a:cubicBezTo>
                  <a:moveTo>
                    <a:pt x="239915" y="376580"/>
                  </a:moveTo>
                  <a:cubicBezTo>
                    <a:pt x="239915" y="381840"/>
                    <a:pt x="244180" y="386105"/>
                    <a:pt x="249440" y="386105"/>
                  </a:cubicBezTo>
                  <a:cubicBezTo>
                    <a:pt x="254701" y="386105"/>
                    <a:pt x="258965" y="381840"/>
                    <a:pt x="258965" y="376580"/>
                  </a:cubicBezTo>
                  <a:cubicBezTo>
                    <a:pt x="258965" y="371319"/>
                    <a:pt x="254701" y="367055"/>
                    <a:pt x="249440" y="367055"/>
                  </a:cubicBezTo>
                  <a:cubicBezTo>
                    <a:pt x="244180" y="367055"/>
                    <a:pt x="239915" y="371319"/>
                    <a:pt x="239915" y="376580"/>
                  </a:cubicBezTo>
                </a:path>
              </a:pathLst>
            </a:custGeom>
            <a:noFill/>
            <a:ln w="14287">
              <a:solidFill>
                <a:srgbClr val="1EABDA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51D3A022-1C4A-01DA-04A2-65AB244CF0C3}"/>
                </a:ext>
              </a:extLst>
            </p:cNvPr>
            <p:cNvGrpSpPr/>
            <p:nvPr/>
          </p:nvGrpSpPr>
          <p:grpSpPr>
            <a:xfrm>
              <a:off x="957458" y="4633329"/>
              <a:ext cx="1538091" cy="514350"/>
              <a:chOff x="385958" y="3518904"/>
              <a:chExt cx="1538091" cy="514350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7086B49-E675-1831-A3D1-24C45533BA85}"/>
                  </a:ext>
                </a:extLst>
              </p:cNvPr>
              <p:cNvSpPr txBox="1"/>
              <p:nvPr/>
            </p:nvSpPr>
            <p:spPr>
              <a:xfrm>
                <a:off x="385958" y="3518904"/>
                <a:ext cx="1538091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r"/>
                <a:r>
                  <a:rPr sz="800" b="0">
                    <a:solidFill>
                      <a:srgbClr val="484848"/>
                    </a:solidFill>
                    <a:latin typeface="Roboto"/>
                  </a:rPr>
                  <a:t>Discovery of sites of interest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F9E190A-D397-AB1C-EDDD-3CEA5C1D3952}"/>
                  </a:ext>
                </a:extLst>
              </p:cNvPr>
              <p:cNvSpPr txBox="1"/>
              <p:nvPr/>
            </p:nvSpPr>
            <p:spPr>
              <a:xfrm>
                <a:off x="385959" y="3690354"/>
                <a:ext cx="1538090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r"/>
                <a:r>
                  <a:rPr sz="800" b="0" dirty="0">
                    <a:solidFill>
                      <a:srgbClr val="484848"/>
                    </a:solidFill>
                    <a:latin typeface="Roboto"/>
                  </a:rPr>
                  <a:t>over large areas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E28333C-1F5B-55C6-8BC3-9F46A7AD8CDB}"/>
                  </a:ext>
                </a:extLst>
              </p:cNvPr>
              <p:cNvSpPr txBox="1"/>
              <p:nvPr/>
            </p:nvSpPr>
            <p:spPr>
              <a:xfrm>
                <a:off x="385958" y="3861804"/>
                <a:ext cx="1538091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r"/>
                <a:r>
                  <a:rPr sz="800" b="0">
                    <a:solidFill>
                      <a:srgbClr val="484848"/>
                    </a:solidFill>
                    <a:latin typeface="Roboto"/>
                  </a:rPr>
                  <a:t>from one example</a:t>
                </a: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B3BF207-044E-0AD3-90C3-7BC7EEBA82FD}"/>
                </a:ext>
              </a:extLst>
            </p:cNvPr>
            <p:cNvSpPr txBox="1"/>
            <p:nvPr/>
          </p:nvSpPr>
          <p:spPr>
            <a:xfrm>
              <a:off x="3229576" y="1611158"/>
              <a:ext cx="3419398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800" b="1" dirty="0">
                  <a:solidFill>
                    <a:srgbClr val="484848"/>
                  </a:solidFill>
                  <a:latin typeface="Roboto"/>
                </a:rPr>
                <a:t>IMPACT of Geo-Intelligence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0DE7D70-BDD2-97D6-B990-FBDB18A13CAD}"/>
                </a:ext>
              </a:extLst>
            </p:cNvPr>
            <p:cNvGrpSpPr/>
            <p:nvPr/>
          </p:nvGrpSpPr>
          <p:grpSpPr>
            <a:xfrm>
              <a:off x="1544274" y="2682932"/>
              <a:ext cx="1509568" cy="535468"/>
              <a:chOff x="972774" y="1568507"/>
              <a:chExt cx="1509568" cy="535468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CD865B2-64BE-09A0-AC7D-992C020C1E30}"/>
                  </a:ext>
                </a:extLst>
              </p:cNvPr>
              <p:cNvSpPr txBox="1"/>
              <p:nvPr/>
            </p:nvSpPr>
            <p:spPr>
              <a:xfrm>
                <a:off x="972774" y="1568507"/>
                <a:ext cx="1509568" cy="2286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r"/>
                <a:r>
                  <a:rPr sz="1200" b="0" dirty="0">
                    <a:solidFill>
                      <a:srgbClr val="1EABDA"/>
                    </a:solidFill>
                    <a:latin typeface="Roboto"/>
                  </a:rPr>
                  <a:t>DISASTER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B427A51-565B-8FCA-CB72-413E555B7215}"/>
                  </a:ext>
                </a:extLst>
              </p:cNvPr>
              <p:cNvSpPr txBox="1"/>
              <p:nvPr/>
            </p:nvSpPr>
            <p:spPr>
              <a:xfrm>
                <a:off x="972774" y="1875374"/>
                <a:ext cx="1509568" cy="2286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r"/>
                <a:r>
                  <a:rPr sz="1200" b="0">
                    <a:solidFill>
                      <a:srgbClr val="1EABDA"/>
                    </a:solidFill>
                    <a:latin typeface="Roboto"/>
                  </a:rPr>
                  <a:t>RESPONSE</a:t>
                </a:r>
              </a:p>
            </p:txBody>
          </p:sp>
        </p:grpSp>
      </p:grpSp>
      <p:sp>
        <p:nvSpPr>
          <p:cNvPr id="17473" name="TextBox 17472">
            <a:extLst>
              <a:ext uri="{FF2B5EF4-FFF2-40B4-BE49-F238E27FC236}">
                <a16:creationId xmlns:a16="http://schemas.microsoft.com/office/drawing/2014/main" id="{05EB359D-E1F7-BFEB-A4AB-E47858C8AC08}"/>
              </a:ext>
            </a:extLst>
          </p:cNvPr>
          <p:cNvSpPr txBox="1"/>
          <p:nvPr/>
        </p:nvSpPr>
        <p:spPr>
          <a:xfrm>
            <a:off x="8285268" y="1234057"/>
            <a:ext cx="2161889" cy="158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b="1" dirty="0">
                <a:solidFill>
                  <a:srgbClr val="484848"/>
                </a:solidFill>
                <a:latin typeface="Roboto"/>
              </a:rPr>
              <a:t>Baseline Comparison with Existing Solutions</a:t>
            </a:r>
            <a:endParaRPr sz="1800" b="1" dirty="0">
              <a:solidFill>
                <a:srgbClr val="484848"/>
              </a:solidFill>
              <a:latin typeface="Roboto"/>
            </a:endParaRPr>
          </a:p>
        </p:txBody>
      </p:sp>
      <p:sp>
        <p:nvSpPr>
          <p:cNvPr id="17701" name="TextBox 17700"/>
          <p:cNvSpPr txBox="1"/>
          <p:nvPr/>
        </p:nvSpPr>
        <p:spPr>
          <a:xfrm>
            <a:off x="5906138" y="5742432"/>
            <a:ext cx="269748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i="1" dirty="0">
                <a:solidFill>
                  <a:srgbClr val="555555"/>
                </a:solidFill>
                <a:latin typeface="Arial"/>
              </a:rPr>
              <a:t>Coverage = proportion of the 23 sub-requirements in</a:t>
            </a:r>
          </a:p>
          <a:p>
            <a:pPr algn="l">
              <a:lnSpc>
                <a:spcPct val="100000"/>
              </a:lnSpc>
            </a:pPr>
            <a:r>
              <a:rPr sz="750" i="1" dirty="0">
                <a:solidFill>
                  <a:srgbClr val="555555"/>
                </a:solidFill>
                <a:latin typeface="Arial"/>
              </a:rPr>
              <a:t>PS 26227 §2.2-2.3 each approach satisfies (full = 1,</a:t>
            </a:r>
          </a:p>
          <a:p>
            <a:pPr algn="l">
              <a:lnSpc>
                <a:spcPct val="100000"/>
              </a:lnSpc>
            </a:pPr>
            <a:r>
              <a:rPr sz="750" i="1" dirty="0">
                <a:solidFill>
                  <a:srgbClr val="555555"/>
                </a:solidFill>
                <a:latin typeface="Arial"/>
              </a:rPr>
              <a:t>partial = ½). SatQuery ARC = planned final scope.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381E850-0DB7-BA66-CEC4-05E9FCFBD017}"/>
              </a:ext>
            </a:extLst>
          </p:cNvPr>
          <p:cNvSpPr/>
          <p:nvPr/>
        </p:nvSpPr>
        <p:spPr>
          <a:xfrm>
            <a:off x="2" y="-8369"/>
            <a:ext cx="12192000" cy="1143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000906-3076-0115-C99E-2C38BDCECDA5}"/>
              </a:ext>
            </a:extLst>
          </p:cNvPr>
          <p:cNvSpPr/>
          <p:nvPr/>
        </p:nvSpPr>
        <p:spPr>
          <a:xfrm>
            <a:off x="0" y="6194323"/>
            <a:ext cx="12192000" cy="662177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0877F91-1040-0FD5-0733-90BF6B158962}"/>
              </a:ext>
            </a:extLst>
          </p:cNvPr>
          <p:cNvSpPr txBox="1"/>
          <p:nvPr/>
        </p:nvSpPr>
        <p:spPr>
          <a:xfrm>
            <a:off x="8582184" y="4558603"/>
            <a:ext cx="3996981" cy="963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b="1" dirty="0">
                <a:latin typeface="+mj-lt"/>
                <a:cs typeface="Times New Roman" panose="02020603050405020304" pitchFamily="18" charset="0"/>
              </a:rPr>
              <a:t>RemoteCLIP (IEEE TGRS 2024) – </a:t>
            </a:r>
            <a:r>
              <a:rPr lang="en-US" sz="1200" b="1" dirty="0">
                <a:latin typeface="+mj-lt"/>
                <a:cs typeface="Times New Roman" panose="02020603050405020304" pitchFamily="18" charset="0"/>
                <a:hlinkClick r:id="rId4"/>
              </a:rPr>
              <a:t>arXiv:2306.11029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b="1" dirty="0">
                <a:latin typeface="+mj-lt"/>
                <a:cs typeface="Times New Roman" panose="02020603050405020304" pitchFamily="18" charset="0"/>
              </a:rPr>
              <a:t>CCDC (RSE 2014) – </a:t>
            </a:r>
            <a:r>
              <a:rPr lang="en-US" sz="1200" b="1" dirty="0">
                <a:latin typeface="+mj-lt"/>
                <a:cs typeface="Times New Roman" panose="02020603050405020304" pitchFamily="18" charset="0"/>
                <a:hlinkClick r:id="rId5"/>
              </a:rPr>
              <a:t>doi:10.1016/j.rse.2014.01.011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b="1" dirty="0">
                <a:latin typeface="+mj-lt"/>
                <a:cs typeface="Times New Roman" panose="02020603050405020304" pitchFamily="18" charset="0"/>
              </a:rPr>
              <a:t>HNSW (Malkov &amp; Yashunin) – </a:t>
            </a:r>
            <a:r>
              <a:rPr lang="en-US" sz="1200" b="1" dirty="0">
                <a:latin typeface="+mj-lt"/>
                <a:cs typeface="Times New Roman" panose="02020603050405020304" pitchFamily="18" charset="0"/>
                <a:hlinkClick r:id="rId6"/>
              </a:rPr>
              <a:t>arXiv:1603.09320</a:t>
            </a:r>
          </a:p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b="1" dirty="0">
                <a:latin typeface="+mj-lt"/>
                <a:cs typeface="Times New Roman" panose="02020603050405020304" pitchFamily="18" charset="0"/>
              </a:rPr>
              <a:t>SSL4EO-S12 – </a:t>
            </a:r>
            <a:r>
              <a:rPr lang="en-US" sz="1200" b="1" dirty="0">
                <a:latin typeface="+mj-lt"/>
                <a:cs typeface="Times New Roman" panose="02020603050405020304" pitchFamily="18" charset="0"/>
                <a:hlinkClick r:id="rId7"/>
              </a:rPr>
              <a:t>arXiv:2211.07044</a:t>
            </a:r>
          </a:p>
        </p:txBody>
      </p:sp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BE760A55-B590-DB42-B568-79C32DCF914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236004"/>
            <a:ext cx="1931646" cy="593328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Byte Bandits</a:t>
            </a:r>
            <a:endParaRPr lang="en-IN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924FE9F-9E9F-BE1E-143A-12358A5BD572}"/>
              </a:ext>
            </a:extLst>
          </p:cNvPr>
          <p:cNvSpPr/>
          <p:nvPr/>
        </p:nvSpPr>
        <p:spPr>
          <a:xfrm>
            <a:off x="11628377" y="6281879"/>
            <a:ext cx="504000" cy="504000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695E4A4-10D7-4165-155A-C32B03E83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486" y="6352756"/>
            <a:ext cx="285135" cy="365125"/>
          </a:xfrm>
        </p:spPr>
        <p:txBody>
          <a:bodyPr/>
          <a:lstStyle/>
          <a:p>
            <a:fld id="{677C3CE7-23F7-4828-823C-E0205DF2CF97}" type="slidenum">
              <a:rPr lang="en-US" sz="1800" b="1" smtClean="0">
                <a:solidFill>
                  <a:schemeClr val="tx1"/>
                </a:solidFill>
              </a:rPr>
              <a:pPr/>
              <a:t>6</a:t>
            </a:fld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97027DA-68B9-A9EE-7E16-5B3C15C133FB}"/>
              </a:ext>
            </a:extLst>
          </p:cNvPr>
          <p:cNvSpPr/>
          <p:nvPr/>
        </p:nvSpPr>
        <p:spPr>
          <a:xfrm>
            <a:off x="162064" y="6255411"/>
            <a:ext cx="2126475" cy="540000"/>
          </a:xfrm>
          <a:prstGeom prst="roundRect">
            <a:avLst>
              <a:gd name="adj" fmla="val 50000"/>
            </a:avLst>
          </a:prstGeom>
          <a:solidFill>
            <a:srgbClr val="FDFBF7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7907558-FC04-8676-E8EA-7C8BDC6D54EC}"/>
              </a:ext>
            </a:extLst>
          </p:cNvPr>
          <p:cNvSpPr/>
          <p:nvPr/>
        </p:nvSpPr>
        <p:spPr>
          <a:xfrm>
            <a:off x="2450603" y="6255411"/>
            <a:ext cx="2126475" cy="540000"/>
          </a:xfrm>
          <a:prstGeom prst="roundRect">
            <a:avLst>
              <a:gd name="adj" fmla="val 50000"/>
            </a:avLst>
          </a:prstGeom>
          <a:solidFill>
            <a:srgbClr val="FDFBF7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B1EE5F5-3E71-8DD0-BD8B-D1E1918FEB83}"/>
              </a:ext>
            </a:extLst>
          </p:cNvPr>
          <p:cNvSpPr/>
          <p:nvPr/>
        </p:nvSpPr>
        <p:spPr>
          <a:xfrm>
            <a:off x="4739142" y="6259469"/>
            <a:ext cx="2126475" cy="540000"/>
          </a:xfrm>
          <a:prstGeom prst="roundRect">
            <a:avLst>
              <a:gd name="adj" fmla="val 50000"/>
            </a:avLst>
          </a:prstGeom>
          <a:solidFill>
            <a:srgbClr val="FDFBF7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E43F6B1-DAFD-029E-038D-3E1A24C0EC22}"/>
              </a:ext>
            </a:extLst>
          </p:cNvPr>
          <p:cNvSpPr/>
          <p:nvPr/>
        </p:nvSpPr>
        <p:spPr>
          <a:xfrm>
            <a:off x="7027681" y="6262280"/>
            <a:ext cx="2126475" cy="540000"/>
          </a:xfrm>
          <a:prstGeom prst="roundRect">
            <a:avLst>
              <a:gd name="adj" fmla="val 50000"/>
            </a:avLst>
          </a:prstGeom>
          <a:solidFill>
            <a:srgbClr val="FDFBF7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E3D7B1A-A452-86B9-D2DA-952103D44836}"/>
              </a:ext>
            </a:extLst>
          </p:cNvPr>
          <p:cNvSpPr/>
          <p:nvPr/>
        </p:nvSpPr>
        <p:spPr>
          <a:xfrm>
            <a:off x="9316220" y="6262280"/>
            <a:ext cx="2126475" cy="540000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</a:t>
            </a:r>
            <a:endParaRPr lang="en-IN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739" name="Group 17738">
            <a:extLst>
              <a:ext uri="{FF2B5EF4-FFF2-40B4-BE49-F238E27FC236}">
                <a16:creationId xmlns:a16="http://schemas.microsoft.com/office/drawing/2014/main" id="{1D886B8C-DC80-F8E4-76CF-F55D0405A2AC}"/>
              </a:ext>
            </a:extLst>
          </p:cNvPr>
          <p:cNvGrpSpPr/>
          <p:nvPr/>
        </p:nvGrpSpPr>
        <p:grpSpPr>
          <a:xfrm>
            <a:off x="8508363" y="1259098"/>
            <a:ext cx="3612618" cy="2789023"/>
            <a:chOff x="1118824" y="600213"/>
            <a:chExt cx="3035340" cy="2789023"/>
          </a:xfrm>
        </p:grpSpPr>
        <p:sp>
          <p:nvSpPr>
            <p:cNvPr id="17740" name="Rounded Rectangle 2">
              <a:extLst>
                <a:ext uri="{FF2B5EF4-FFF2-40B4-BE49-F238E27FC236}">
                  <a16:creationId xmlns:a16="http://schemas.microsoft.com/office/drawing/2014/main" id="{C94FC5E3-4D6B-1D0A-0584-54D051C4AABE}"/>
                </a:ext>
              </a:extLst>
            </p:cNvPr>
            <p:cNvSpPr/>
            <p:nvPr/>
          </p:nvSpPr>
          <p:spPr>
            <a:xfrm>
              <a:off x="1184937" y="1299948"/>
              <a:ext cx="431394" cy="399197"/>
            </a:xfrm>
            <a:custGeom>
              <a:avLst/>
              <a:gdLst/>
              <a:ahLst/>
              <a:cxnLst/>
              <a:rect l="0" t="0" r="0" b="0"/>
              <a:pathLst>
                <a:path w="487907" h="399197">
                  <a:moveTo>
                    <a:pt x="286793" y="0"/>
                  </a:moveTo>
                  <a:cubicBezTo>
                    <a:pt x="397866" y="0"/>
                    <a:pt x="487907" y="89227"/>
                    <a:pt x="487907" y="199302"/>
                  </a:cubicBezTo>
                  <a:lnTo>
                    <a:pt x="487907" y="199894"/>
                  </a:lnTo>
                  <a:cubicBezTo>
                    <a:pt x="487907" y="309969"/>
                    <a:pt x="397866" y="399197"/>
                    <a:pt x="286793" y="399197"/>
                  </a:cubicBezTo>
                  <a:cubicBezTo>
                    <a:pt x="139645" y="399197"/>
                    <a:pt x="0" y="199598"/>
                    <a:pt x="0" y="199598"/>
                  </a:cubicBezTo>
                  <a:cubicBezTo>
                    <a:pt x="0" y="199598"/>
                    <a:pt x="139645" y="0"/>
                    <a:pt x="286793" y="0"/>
                  </a:cubicBezTo>
                </a:path>
              </a:pathLst>
            </a:custGeom>
            <a:solidFill>
              <a:srgbClr val="4E88E7">
                <a:alpha val="20000"/>
              </a:srgbClr>
            </a:solidFill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741" name="Rounded Rectangle 3">
              <a:extLst>
                <a:ext uri="{FF2B5EF4-FFF2-40B4-BE49-F238E27FC236}">
                  <a16:creationId xmlns:a16="http://schemas.microsoft.com/office/drawing/2014/main" id="{221C1E99-8F0B-8F83-CC8D-2AA9A8251038}"/>
                </a:ext>
              </a:extLst>
            </p:cNvPr>
            <p:cNvSpPr/>
            <p:nvPr/>
          </p:nvSpPr>
          <p:spPr>
            <a:xfrm>
              <a:off x="1184937" y="1299948"/>
              <a:ext cx="431394" cy="399197"/>
            </a:xfrm>
            <a:custGeom>
              <a:avLst/>
              <a:gdLst/>
              <a:ahLst/>
              <a:cxnLst/>
              <a:rect l="0" t="0" r="0" b="0"/>
              <a:pathLst>
                <a:path w="487907" h="399197">
                  <a:moveTo>
                    <a:pt x="286794" y="0"/>
                  </a:moveTo>
                  <a:cubicBezTo>
                    <a:pt x="397867" y="0"/>
                    <a:pt x="487907" y="89228"/>
                    <a:pt x="487907" y="199300"/>
                  </a:cubicBezTo>
                  <a:lnTo>
                    <a:pt x="487907" y="199896"/>
                  </a:lnTo>
                  <a:cubicBezTo>
                    <a:pt x="487907" y="309968"/>
                    <a:pt x="397867" y="399197"/>
                    <a:pt x="286794" y="399197"/>
                  </a:cubicBezTo>
                  <a:cubicBezTo>
                    <a:pt x="139647" y="399197"/>
                    <a:pt x="0" y="199598"/>
                    <a:pt x="0" y="199598"/>
                  </a:cubicBezTo>
                  <a:cubicBezTo>
                    <a:pt x="0" y="199598"/>
                    <a:pt x="139647" y="0"/>
                    <a:pt x="286794" y="0"/>
                  </a:cubicBezTo>
                  <a:close/>
                </a:path>
              </a:pathLst>
            </a:custGeom>
            <a:solidFill>
              <a:schemeClr val="bg1"/>
            </a:solidFill>
            <a:ln w="11088"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743" name="Rounded Rectangle 7">
              <a:extLst>
                <a:ext uri="{FF2B5EF4-FFF2-40B4-BE49-F238E27FC236}">
                  <a16:creationId xmlns:a16="http://schemas.microsoft.com/office/drawing/2014/main" id="{B5AAE5B3-9C1F-1A35-7F98-0D896B7B99CE}"/>
                </a:ext>
              </a:extLst>
            </p:cNvPr>
            <p:cNvSpPr/>
            <p:nvPr/>
          </p:nvSpPr>
          <p:spPr>
            <a:xfrm>
              <a:off x="1191520" y="1996947"/>
              <a:ext cx="431394" cy="399197"/>
            </a:xfrm>
            <a:custGeom>
              <a:avLst/>
              <a:gdLst/>
              <a:ahLst/>
              <a:cxnLst/>
              <a:rect l="0" t="0" r="0" b="0"/>
              <a:pathLst>
                <a:path w="487907" h="399197">
                  <a:moveTo>
                    <a:pt x="286794" y="0"/>
                  </a:moveTo>
                  <a:cubicBezTo>
                    <a:pt x="397867" y="0"/>
                    <a:pt x="487907" y="89228"/>
                    <a:pt x="487907" y="199300"/>
                  </a:cubicBezTo>
                  <a:lnTo>
                    <a:pt x="487907" y="199896"/>
                  </a:lnTo>
                  <a:cubicBezTo>
                    <a:pt x="487907" y="309968"/>
                    <a:pt x="397867" y="399197"/>
                    <a:pt x="286794" y="399197"/>
                  </a:cubicBezTo>
                  <a:cubicBezTo>
                    <a:pt x="139647" y="399197"/>
                    <a:pt x="0" y="199598"/>
                    <a:pt x="0" y="199598"/>
                  </a:cubicBezTo>
                  <a:cubicBezTo>
                    <a:pt x="0" y="199598"/>
                    <a:pt x="139647" y="0"/>
                    <a:pt x="286794" y="0"/>
                  </a:cubicBezTo>
                  <a:close/>
                </a:path>
              </a:pathLst>
            </a:custGeom>
            <a:solidFill>
              <a:schemeClr val="bg1"/>
            </a:solidFill>
            <a:ln w="11088"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744" name="Rounded Rectangle 8">
              <a:extLst>
                <a:ext uri="{FF2B5EF4-FFF2-40B4-BE49-F238E27FC236}">
                  <a16:creationId xmlns:a16="http://schemas.microsoft.com/office/drawing/2014/main" id="{D9FBA16D-0D9F-2F3F-DBFE-FE0C92A58FEF}"/>
                </a:ext>
              </a:extLst>
            </p:cNvPr>
            <p:cNvSpPr/>
            <p:nvPr/>
          </p:nvSpPr>
          <p:spPr>
            <a:xfrm>
              <a:off x="1184699" y="2704327"/>
              <a:ext cx="431394" cy="399197"/>
            </a:xfrm>
            <a:custGeom>
              <a:avLst/>
              <a:gdLst/>
              <a:ahLst/>
              <a:cxnLst/>
              <a:rect l="0" t="0" r="0" b="0"/>
              <a:pathLst>
                <a:path w="487907" h="399197">
                  <a:moveTo>
                    <a:pt x="286793" y="0"/>
                  </a:moveTo>
                  <a:cubicBezTo>
                    <a:pt x="397866" y="0"/>
                    <a:pt x="487907" y="89227"/>
                    <a:pt x="487907" y="199302"/>
                  </a:cubicBezTo>
                  <a:lnTo>
                    <a:pt x="487907" y="199894"/>
                  </a:lnTo>
                  <a:cubicBezTo>
                    <a:pt x="487907" y="309969"/>
                    <a:pt x="397866" y="399197"/>
                    <a:pt x="286793" y="399197"/>
                  </a:cubicBezTo>
                  <a:cubicBezTo>
                    <a:pt x="139645" y="399197"/>
                    <a:pt x="0" y="199598"/>
                    <a:pt x="0" y="199598"/>
                  </a:cubicBezTo>
                  <a:cubicBezTo>
                    <a:pt x="0" y="199598"/>
                    <a:pt x="139645" y="0"/>
                    <a:pt x="286793" y="0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7746" name="Group 17745">
              <a:extLst>
                <a:ext uri="{FF2B5EF4-FFF2-40B4-BE49-F238E27FC236}">
                  <a16:creationId xmlns:a16="http://schemas.microsoft.com/office/drawing/2014/main" id="{9B010E1B-813B-63AC-CED9-4D36EFD2B423}"/>
                </a:ext>
              </a:extLst>
            </p:cNvPr>
            <p:cNvGrpSpPr/>
            <p:nvPr/>
          </p:nvGrpSpPr>
          <p:grpSpPr>
            <a:xfrm>
              <a:off x="1907162" y="1516828"/>
              <a:ext cx="2247002" cy="266130"/>
              <a:chOff x="994258" y="1103984"/>
              <a:chExt cx="2541362" cy="266130"/>
            </a:xfrm>
          </p:grpSpPr>
          <p:sp>
            <p:nvSpPr>
              <p:cNvPr id="17761" name="TextBox 17760">
                <a:extLst>
                  <a:ext uri="{FF2B5EF4-FFF2-40B4-BE49-F238E27FC236}">
                    <a16:creationId xmlns:a16="http://schemas.microsoft.com/office/drawing/2014/main" id="{A40EAC5E-3BC0-A668-7BE6-8144CAF34A76}"/>
                  </a:ext>
                </a:extLst>
              </p:cNvPr>
              <p:cNvSpPr txBox="1"/>
              <p:nvPr/>
            </p:nvSpPr>
            <p:spPr>
              <a:xfrm>
                <a:off x="994258" y="1103984"/>
                <a:ext cx="2541362" cy="1330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>
                    <a:solidFill>
                      <a:srgbClr val="484848"/>
                    </a:solidFill>
                    <a:latin typeface="Roboto"/>
                  </a:rPr>
                  <a:t>"Newly built near a river" becomes an object,</a:t>
                </a:r>
              </a:p>
            </p:txBody>
          </p:sp>
          <p:sp>
            <p:nvSpPr>
              <p:cNvPr id="17762" name="TextBox 17761">
                <a:extLst>
                  <a:ext uri="{FF2B5EF4-FFF2-40B4-BE49-F238E27FC236}">
                    <a16:creationId xmlns:a16="http://schemas.microsoft.com/office/drawing/2014/main" id="{88DA28CA-981C-77FB-F885-BCCCA1167A46}"/>
                  </a:ext>
                </a:extLst>
              </p:cNvPr>
              <p:cNvSpPr txBox="1"/>
              <p:nvPr/>
            </p:nvSpPr>
            <p:spPr>
              <a:xfrm>
                <a:off x="994258" y="1237049"/>
                <a:ext cx="2541362" cy="1330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 dirty="0">
                    <a:solidFill>
                      <a:srgbClr val="484848"/>
                    </a:solidFill>
                    <a:latin typeface="Roboto"/>
                  </a:rPr>
                  <a:t>timed, placed and ranked offline.</a:t>
                </a:r>
              </a:p>
            </p:txBody>
          </p:sp>
        </p:grpSp>
        <p:sp>
          <p:nvSpPr>
            <p:cNvPr id="17747" name="Rounded Rectangle 22">
              <a:extLst>
                <a:ext uri="{FF2B5EF4-FFF2-40B4-BE49-F238E27FC236}">
                  <a16:creationId xmlns:a16="http://schemas.microsoft.com/office/drawing/2014/main" id="{1AE5331C-90D8-CB21-6B51-B022E8915078}"/>
                </a:ext>
              </a:extLst>
            </p:cNvPr>
            <p:cNvSpPr/>
            <p:nvPr/>
          </p:nvSpPr>
          <p:spPr>
            <a:xfrm>
              <a:off x="1309174" y="2063479"/>
              <a:ext cx="240617" cy="257813"/>
            </a:xfrm>
            <a:custGeom>
              <a:avLst/>
              <a:gdLst/>
              <a:ahLst/>
              <a:cxnLst/>
              <a:rect l="0" t="0" r="0" b="0"/>
              <a:pathLst>
                <a:path w="272138" h="257813">
                  <a:moveTo>
                    <a:pt x="143385" y="221219"/>
                  </a:moveTo>
                  <a:cubicBezTo>
                    <a:pt x="193161" y="221219"/>
                    <a:pt x="233511" y="182991"/>
                    <a:pt x="233511" y="135835"/>
                  </a:cubicBezTo>
                  <a:cubicBezTo>
                    <a:pt x="233511" y="88679"/>
                    <a:pt x="193161" y="50451"/>
                    <a:pt x="143385" y="50451"/>
                  </a:cubicBezTo>
                  <a:cubicBezTo>
                    <a:pt x="93609" y="50451"/>
                    <a:pt x="53257" y="88679"/>
                    <a:pt x="53257" y="135835"/>
                  </a:cubicBezTo>
                  <a:cubicBezTo>
                    <a:pt x="53257" y="182991"/>
                    <a:pt x="93609" y="221219"/>
                    <a:pt x="143385" y="221219"/>
                  </a:cubicBezTo>
                  <a:close/>
                  <a:moveTo>
                    <a:pt x="0" y="0"/>
                  </a:moveTo>
                  <a:moveTo>
                    <a:pt x="272138" y="257813"/>
                  </a:moveTo>
                  <a:lnTo>
                    <a:pt x="207762" y="195716"/>
                  </a:lnTo>
                  <a:moveTo>
                    <a:pt x="111781" y="121413"/>
                  </a:moveTo>
                  <a:cubicBezTo>
                    <a:pt x="95620" y="121413"/>
                    <a:pt x="82519" y="109002"/>
                    <a:pt x="82519" y="93691"/>
                  </a:cubicBezTo>
                  <a:cubicBezTo>
                    <a:pt x="82519" y="78381"/>
                    <a:pt x="95620" y="65969"/>
                    <a:pt x="111781" y="65969"/>
                  </a:cubicBezTo>
                  <a:cubicBezTo>
                    <a:pt x="127943" y="65969"/>
                    <a:pt x="141043" y="78381"/>
                    <a:pt x="141043" y="93691"/>
                  </a:cubicBezTo>
                  <a:cubicBezTo>
                    <a:pt x="141043" y="109002"/>
                    <a:pt x="127943" y="121413"/>
                    <a:pt x="111781" y="121413"/>
                  </a:cubicBezTo>
                  <a:close/>
                  <a:moveTo>
                    <a:pt x="29847" y="41583"/>
                  </a:moveTo>
                  <a:cubicBezTo>
                    <a:pt x="39544" y="41583"/>
                    <a:pt x="47405" y="34136"/>
                    <a:pt x="47405" y="24949"/>
                  </a:cubicBezTo>
                  <a:cubicBezTo>
                    <a:pt x="47405" y="15763"/>
                    <a:pt x="39544" y="8316"/>
                    <a:pt x="29847" y="8316"/>
                  </a:cubicBezTo>
                  <a:cubicBezTo>
                    <a:pt x="20151" y="8316"/>
                    <a:pt x="12290" y="15763"/>
                    <a:pt x="12290" y="24949"/>
                  </a:cubicBezTo>
                  <a:cubicBezTo>
                    <a:pt x="12290" y="34136"/>
                    <a:pt x="20151" y="41583"/>
                    <a:pt x="29847" y="41583"/>
                  </a:cubicBezTo>
                  <a:close/>
                  <a:moveTo>
                    <a:pt x="26335" y="224548"/>
                  </a:moveTo>
                  <a:cubicBezTo>
                    <a:pt x="36032" y="224548"/>
                    <a:pt x="43893" y="217101"/>
                    <a:pt x="43893" y="207915"/>
                  </a:cubicBezTo>
                  <a:cubicBezTo>
                    <a:pt x="43893" y="198729"/>
                    <a:pt x="36032" y="191281"/>
                    <a:pt x="26335" y="191281"/>
                  </a:cubicBezTo>
                  <a:cubicBezTo>
                    <a:pt x="16639" y="191281"/>
                    <a:pt x="8778" y="198729"/>
                    <a:pt x="8778" y="207915"/>
                  </a:cubicBezTo>
                  <a:cubicBezTo>
                    <a:pt x="8778" y="217101"/>
                    <a:pt x="16639" y="224548"/>
                    <a:pt x="26335" y="224548"/>
                  </a:cubicBezTo>
                  <a:close/>
                  <a:moveTo>
                    <a:pt x="111781" y="180193"/>
                  </a:moveTo>
                  <a:cubicBezTo>
                    <a:pt x="102085" y="180193"/>
                    <a:pt x="94224" y="172745"/>
                    <a:pt x="94224" y="163559"/>
                  </a:cubicBezTo>
                  <a:cubicBezTo>
                    <a:pt x="94224" y="154373"/>
                    <a:pt x="102085" y="146926"/>
                    <a:pt x="111781" y="146926"/>
                  </a:cubicBezTo>
                  <a:cubicBezTo>
                    <a:pt x="121478" y="146926"/>
                    <a:pt x="129338" y="154373"/>
                    <a:pt x="129338" y="163559"/>
                  </a:cubicBezTo>
                  <a:cubicBezTo>
                    <a:pt x="129338" y="172745"/>
                    <a:pt x="121478" y="180193"/>
                    <a:pt x="111781" y="180193"/>
                  </a:cubicBezTo>
                  <a:close/>
                  <a:moveTo>
                    <a:pt x="182010" y="160224"/>
                  </a:moveTo>
                  <a:cubicBezTo>
                    <a:pt x="172314" y="160224"/>
                    <a:pt x="164453" y="152777"/>
                    <a:pt x="164453" y="143591"/>
                  </a:cubicBezTo>
                  <a:cubicBezTo>
                    <a:pt x="164453" y="134405"/>
                    <a:pt x="172314" y="126957"/>
                    <a:pt x="182010" y="126957"/>
                  </a:cubicBezTo>
                  <a:cubicBezTo>
                    <a:pt x="191707" y="126957"/>
                    <a:pt x="199567" y="134405"/>
                    <a:pt x="199567" y="143591"/>
                  </a:cubicBezTo>
                  <a:cubicBezTo>
                    <a:pt x="199567" y="152777"/>
                    <a:pt x="191707" y="160224"/>
                    <a:pt x="182010" y="160224"/>
                  </a:cubicBezTo>
                  <a:close/>
                  <a:moveTo>
                    <a:pt x="0" y="0"/>
                  </a:moveTo>
                  <a:moveTo>
                    <a:pt x="165513" y="149233"/>
                  </a:moveTo>
                  <a:lnTo>
                    <a:pt x="128923" y="158982"/>
                  </a:lnTo>
                  <a:moveTo>
                    <a:pt x="111781" y="146926"/>
                  </a:moveTo>
                  <a:lnTo>
                    <a:pt x="111781" y="121413"/>
                  </a:lnTo>
                  <a:moveTo>
                    <a:pt x="0" y="0"/>
                  </a:moveTo>
                  <a:moveTo>
                    <a:pt x="43070" y="202761"/>
                  </a:moveTo>
                  <a:lnTo>
                    <a:pt x="72652" y="188748"/>
                  </a:lnTo>
                  <a:moveTo>
                    <a:pt x="0" y="0"/>
                  </a:moveTo>
                  <a:moveTo>
                    <a:pt x="42722" y="36038"/>
                  </a:moveTo>
                  <a:lnTo>
                    <a:pt x="62621" y="50453"/>
                  </a:lnTo>
                </a:path>
              </a:pathLst>
            </a:custGeom>
            <a:noFill/>
            <a:ln w="11088"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748" name="TextBox 17747">
              <a:extLst>
                <a:ext uri="{FF2B5EF4-FFF2-40B4-BE49-F238E27FC236}">
                  <a16:creationId xmlns:a16="http://schemas.microsoft.com/office/drawing/2014/main" id="{65F8858E-5753-47AA-0487-35880A3551C1}"/>
                </a:ext>
              </a:extLst>
            </p:cNvPr>
            <p:cNvSpPr txBox="1"/>
            <p:nvPr/>
          </p:nvSpPr>
          <p:spPr>
            <a:xfrm>
              <a:off x="1779755" y="1981138"/>
              <a:ext cx="1615598" cy="1774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200" b="0" dirty="0">
                  <a:solidFill>
                    <a:sysClr val="windowText" lastClr="000000"/>
                  </a:solidFill>
                  <a:latin typeface="Roboto"/>
                </a:rPr>
                <a:t>CONFOUNDER FIREWALL</a:t>
              </a:r>
            </a:p>
          </p:txBody>
        </p:sp>
        <p:grpSp>
          <p:nvGrpSpPr>
            <p:cNvPr id="17749" name="Group 17748">
              <a:extLst>
                <a:ext uri="{FF2B5EF4-FFF2-40B4-BE49-F238E27FC236}">
                  <a16:creationId xmlns:a16="http://schemas.microsoft.com/office/drawing/2014/main" id="{CF8AF1AA-DE02-C39D-82A3-68E1E5845331}"/>
                </a:ext>
              </a:extLst>
            </p:cNvPr>
            <p:cNvGrpSpPr/>
            <p:nvPr/>
          </p:nvGrpSpPr>
          <p:grpSpPr>
            <a:xfrm>
              <a:off x="1913745" y="2233945"/>
              <a:ext cx="2026762" cy="266130"/>
              <a:chOff x="1001704" y="1821101"/>
              <a:chExt cx="2292270" cy="266130"/>
            </a:xfrm>
          </p:grpSpPr>
          <p:sp>
            <p:nvSpPr>
              <p:cNvPr id="17759" name="TextBox 17758">
                <a:extLst>
                  <a:ext uri="{FF2B5EF4-FFF2-40B4-BE49-F238E27FC236}">
                    <a16:creationId xmlns:a16="http://schemas.microsoft.com/office/drawing/2014/main" id="{AD8C48DB-9FE8-9B43-3D6F-B0BA587FF64C}"/>
                  </a:ext>
                </a:extLst>
              </p:cNvPr>
              <p:cNvSpPr txBox="1"/>
              <p:nvPr/>
            </p:nvSpPr>
            <p:spPr>
              <a:xfrm>
                <a:off x="1001704" y="1821101"/>
                <a:ext cx="2292270" cy="1330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 dirty="0">
                    <a:solidFill>
                      <a:srgbClr val="484848"/>
                    </a:solidFill>
                    <a:latin typeface="Roboto"/>
                  </a:rPr>
                  <a:t>Season, illumination, cloud, radiometry and</a:t>
                </a:r>
              </a:p>
            </p:txBody>
          </p:sp>
          <p:sp>
            <p:nvSpPr>
              <p:cNvPr id="17760" name="TextBox 17759">
                <a:extLst>
                  <a:ext uri="{FF2B5EF4-FFF2-40B4-BE49-F238E27FC236}">
                    <a16:creationId xmlns:a16="http://schemas.microsoft.com/office/drawing/2014/main" id="{FC921694-D71C-2021-B626-0C33D46B8F7A}"/>
                  </a:ext>
                </a:extLst>
              </p:cNvPr>
              <p:cNvSpPr txBox="1"/>
              <p:nvPr/>
            </p:nvSpPr>
            <p:spPr>
              <a:xfrm>
                <a:off x="1001704" y="1954166"/>
                <a:ext cx="2292270" cy="1330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>
                    <a:solidFill>
                      <a:srgbClr val="484848"/>
                    </a:solidFill>
                    <a:latin typeface="Roboto"/>
                  </a:rPr>
                  <a:t>registration are eliminated before any alerts.</a:t>
                </a:r>
              </a:p>
            </p:txBody>
          </p:sp>
        </p:grpSp>
        <p:sp>
          <p:nvSpPr>
            <p:cNvPr id="17750" name="TextBox 17749">
              <a:extLst>
                <a:ext uri="{FF2B5EF4-FFF2-40B4-BE49-F238E27FC236}">
                  <a16:creationId xmlns:a16="http://schemas.microsoft.com/office/drawing/2014/main" id="{7FFCEC15-6660-2C3F-5D58-26BC0B35A1F4}"/>
                </a:ext>
              </a:extLst>
            </p:cNvPr>
            <p:cNvSpPr txBox="1"/>
            <p:nvPr/>
          </p:nvSpPr>
          <p:spPr>
            <a:xfrm>
              <a:off x="1773171" y="1255366"/>
              <a:ext cx="2131373" cy="1774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200" b="0" dirty="0">
                  <a:solidFill>
                    <a:sysClr val="windowText" lastClr="000000"/>
                  </a:solidFill>
                  <a:latin typeface="Roboto"/>
                </a:rPr>
                <a:t>COMPOSITIONAL SEARCH</a:t>
              </a:r>
            </a:p>
          </p:txBody>
        </p:sp>
        <p:sp>
          <p:nvSpPr>
            <p:cNvPr id="17751" name="Rounded Rectangle 28">
              <a:extLst>
                <a:ext uri="{FF2B5EF4-FFF2-40B4-BE49-F238E27FC236}">
                  <a16:creationId xmlns:a16="http://schemas.microsoft.com/office/drawing/2014/main" id="{6920F4C4-5F42-6937-99BB-5B84CE2B3C7B}"/>
                </a:ext>
              </a:extLst>
            </p:cNvPr>
            <p:cNvSpPr/>
            <p:nvPr/>
          </p:nvSpPr>
          <p:spPr>
            <a:xfrm>
              <a:off x="1309972" y="2781948"/>
              <a:ext cx="231443" cy="247276"/>
            </a:xfrm>
            <a:custGeom>
              <a:avLst/>
              <a:gdLst/>
              <a:ahLst/>
              <a:cxnLst/>
              <a:rect l="0" t="0" r="0" b="0"/>
              <a:pathLst>
                <a:path w="261762" h="247276">
                  <a:moveTo>
                    <a:pt x="159216" y="0"/>
                  </a:moveTo>
                  <a:cubicBezTo>
                    <a:pt x="172089" y="2571"/>
                    <a:pt x="184476" y="6975"/>
                    <a:pt x="195957" y="13062"/>
                  </a:cubicBezTo>
                  <a:moveTo>
                    <a:pt x="249636" y="66177"/>
                  </a:moveTo>
                  <a:cubicBezTo>
                    <a:pt x="255530" y="77332"/>
                    <a:pt x="259618" y="89265"/>
                    <a:pt x="261762" y="101573"/>
                  </a:cubicBezTo>
                  <a:moveTo>
                    <a:pt x="251286" y="174482"/>
                  </a:moveTo>
                  <a:cubicBezTo>
                    <a:pt x="245751" y="185806"/>
                    <a:pt x="238442" y="196273"/>
                    <a:pt x="229609" y="205531"/>
                  </a:cubicBezTo>
                  <a:moveTo>
                    <a:pt x="162938" y="243210"/>
                  </a:moveTo>
                  <a:cubicBezTo>
                    <a:pt x="150146" y="246155"/>
                    <a:pt x="136961" y="247276"/>
                    <a:pt x="123820" y="246537"/>
                  </a:cubicBezTo>
                  <a:moveTo>
                    <a:pt x="51133" y="220523"/>
                  </a:moveTo>
                  <a:cubicBezTo>
                    <a:pt x="40729" y="212887"/>
                    <a:pt x="31599" y="203811"/>
                    <a:pt x="24048" y="193599"/>
                  </a:cubicBezTo>
                  <a:moveTo>
                    <a:pt x="170" y="123618"/>
                  </a:moveTo>
                  <a:cubicBezTo>
                    <a:pt x="0" y="111149"/>
                    <a:pt x="1790" y="98727"/>
                    <a:pt x="5484" y="86758"/>
                  </a:cubicBezTo>
                  <a:moveTo>
                    <a:pt x="48417" y="25504"/>
                  </a:moveTo>
                  <a:cubicBezTo>
                    <a:pt x="58580" y="17579"/>
                    <a:pt x="69949" y="11156"/>
                    <a:pt x="82139" y="6453"/>
                  </a:cubicBezTo>
                  <a:moveTo>
                    <a:pt x="38199" y="121976"/>
                  </a:moveTo>
                  <a:cubicBezTo>
                    <a:pt x="38199" y="170970"/>
                    <a:pt x="80123" y="210687"/>
                    <a:pt x="131838" y="210687"/>
                  </a:cubicBezTo>
                  <a:cubicBezTo>
                    <a:pt x="183553" y="210687"/>
                    <a:pt x="225477" y="170970"/>
                    <a:pt x="225477" y="121976"/>
                  </a:cubicBezTo>
                  <a:cubicBezTo>
                    <a:pt x="225477" y="72983"/>
                    <a:pt x="183553" y="33266"/>
                    <a:pt x="131838" y="33266"/>
                  </a:cubicBezTo>
                  <a:cubicBezTo>
                    <a:pt x="80123" y="33266"/>
                    <a:pt x="38199" y="72983"/>
                    <a:pt x="38199" y="121976"/>
                  </a:cubicBezTo>
                  <a:moveTo>
                    <a:pt x="171201" y="156152"/>
                  </a:moveTo>
                  <a:lnTo>
                    <a:pt x="131850" y="121976"/>
                  </a:lnTo>
                  <a:lnTo>
                    <a:pt x="131850" y="78575"/>
                  </a:lnTo>
                </a:path>
              </a:pathLst>
            </a:custGeom>
            <a:noFill/>
            <a:ln w="11088"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7752" name="Group 17751">
              <a:extLst>
                <a:ext uri="{FF2B5EF4-FFF2-40B4-BE49-F238E27FC236}">
                  <a16:creationId xmlns:a16="http://schemas.microsoft.com/office/drawing/2014/main" id="{7A04212D-6B9A-32BB-C188-8E568AB4946F}"/>
                </a:ext>
              </a:extLst>
            </p:cNvPr>
            <p:cNvGrpSpPr/>
            <p:nvPr/>
          </p:nvGrpSpPr>
          <p:grpSpPr>
            <a:xfrm>
              <a:off x="1906924" y="2990040"/>
              <a:ext cx="2169331" cy="399196"/>
              <a:chOff x="993989" y="2577196"/>
              <a:chExt cx="2453516" cy="399196"/>
            </a:xfrm>
          </p:grpSpPr>
          <p:sp>
            <p:nvSpPr>
              <p:cNvPr id="17756" name="TextBox 17755">
                <a:extLst>
                  <a:ext uri="{FF2B5EF4-FFF2-40B4-BE49-F238E27FC236}">
                    <a16:creationId xmlns:a16="http://schemas.microsoft.com/office/drawing/2014/main" id="{A264A2EC-59F6-D395-4320-5022991BE2A5}"/>
                  </a:ext>
                </a:extLst>
              </p:cNvPr>
              <p:cNvSpPr txBox="1"/>
              <p:nvPr/>
            </p:nvSpPr>
            <p:spPr>
              <a:xfrm>
                <a:off x="993989" y="2577196"/>
                <a:ext cx="2453516" cy="1330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 dirty="0">
                    <a:solidFill>
                      <a:srgbClr val="484848"/>
                    </a:solidFill>
                    <a:latin typeface="Roboto"/>
                  </a:rPr>
                  <a:t>A change must persist in subsequent clear</a:t>
                </a:r>
              </a:p>
            </p:txBody>
          </p:sp>
          <p:sp>
            <p:nvSpPr>
              <p:cNvPr id="17757" name="TextBox 17756">
                <a:extLst>
                  <a:ext uri="{FF2B5EF4-FFF2-40B4-BE49-F238E27FC236}">
                    <a16:creationId xmlns:a16="http://schemas.microsoft.com/office/drawing/2014/main" id="{6A14F2CF-8EDC-E3C8-73CE-3AC44A5C0ABD}"/>
                  </a:ext>
                </a:extLst>
              </p:cNvPr>
              <p:cNvSpPr txBox="1"/>
              <p:nvPr/>
            </p:nvSpPr>
            <p:spPr>
              <a:xfrm>
                <a:off x="993989" y="2710261"/>
                <a:ext cx="2453516" cy="1330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 dirty="0">
                    <a:solidFill>
                      <a:srgbClr val="484848"/>
                    </a:solidFill>
                    <a:latin typeface="Roboto"/>
                  </a:rPr>
                  <a:t>images before it can be dated to the earliest</a:t>
                </a:r>
              </a:p>
            </p:txBody>
          </p:sp>
          <p:sp>
            <p:nvSpPr>
              <p:cNvPr id="17758" name="TextBox 17757">
                <a:extLst>
                  <a:ext uri="{FF2B5EF4-FFF2-40B4-BE49-F238E27FC236}">
                    <a16:creationId xmlns:a16="http://schemas.microsoft.com/office/drawing/2014/main" id="{CCA3F2B2-2985-D4CF-D30B-D0E76A1EC6CA}"/>
                  </a:ext>
                </a:extLst>
              </p:cNvPr>
              <p:cNvSpPr txBox="1"/>
              <p:nvPr/>
            </p:nvSpPr>
            <p:spPr>
              <a:xfrm>
                <a:off x="993989" y="2843327"/>
                <a:ext cx="2453516" cy="1330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000" b="0">
                    <a:solidFill>
                      <a:srgbClr val="484848"/>
                    </a:solidFill>
                    <a:latin typeface="Roboto"/>
                  </a:rPr>
                  <a:t>observation showing it.</a:t>
                </a:r>
              </a:p>
            </p:txBody>
          </p:sp>
        </p:grpSp>
        <p:sp>
          <p:nvSpPr>
            <p:cNvPr id="17753" name="Rounded Rectangle 36">
              <a:extLst>
                <a:ext uri="{FF2B5EF4-FFF2-40B4-BE49-F238E27FC236}">
                  <a16:creationId xmlns:a16="http://schemas.microsoft.com/office/drawing/2014/main" id="{06D77818-B00B-536E-27B1-69F6E72DEA42}"/>
                </a:ext>
              </a:extLst>
            </p:cNvPr>
            <p:cNvSpPr/>
            <p:nvPr/>
          </p:nvSpPr>
          <p:spPr>
            <a:xfrm>
              <a:off x="1328463" y="1372025"/>
              <a:ext cx="196633" cy="255042"/>
            </a:xfrm>
            <a:custGeom>
              <a:avLst/>
              <a:gdLst/>
              <a:ahLst/>
              <a:cxnLst/>
              <a:rect l="0" t="0" r="0" b="0"/>
              <a:pathLst>
                <a:path w="222392" h="255042">
                  <a:moveTo>
                    <a:pt x="222392" y="232864"/>
                  </a:moveTo>
                  <a:cubicBezTo>
                    <a:pt x="222392" y="245113"/>
                    <a:pt x="211911" y="255042"/>
                    <a:pt x="198982" y="255042"/>
                  </a:cubicBezTo>
                  <a:lnTo>
                    <a:pt x="23409" y="255042"/>
                  </a:lnTo>
                  <a:cubicBezTo>
                    <a:pt x="10480" y="255042"/>
                    <a:pt x="0" y="245113"/>
                    <a:pt x="0" y="232864"/>
                  </a:cubicBezTo>
                  <a:lnTo>
                    <a:pt x="0" y="22177"/>
                  </a:lnTo>
                  <a:cubicBezTo>
                    <a:pt x="0" y="9929"/>
                    <a:pt x="10480" y="0"/>
                    <a:pt x="23409" y="0"/>
                  </a:cubicBezTo>
                  <a:lnTo>
                    <a:pt x="146310" y="0"/>
                  </a:lnTo>
                  <a:lnTo>
                    <a:pt x="222392" y="72077"/>
                  </a:lnTo>
                  <a:close/>
                  <a:moveTo>
                    <a:pt x="222392" y="72077"/>
                  </a:moveTo>
                  <a:lnTo>
                    <a:pt x="146310" y="0"/>
                  </a:lnTo>
                  <a:lnTo>
                    <a:pt x="146310" y="49899"/>
                  </a:lnTo>
                  <a:cubicBezTo>
                    <a:pt x="146310" y="62147"/>
                    <a:pt x="156791" y="72077"/>
                    <a:pt x="169720" y="72077"/>
                  </a:cubicBezTo>
                  <a:close/>
                  <a:moveTo>
                    <a:pt x="46819" y="110888"/>
                  </a:moveTo>
                  <a:lnTo>
                    <a:pt x="175572" y="110888"/>
                  </a:lnTo>
                  <a:moveTo>
                    <a:pt x="46819" y="146039"/>
                  </a:moveTo>
                  <a:lnTo>
                    <a:pt x="175572" y="146039"/>
                  </a:lnTo>
                  <a:moveTo>
                    <a:pt x="46819" y="181080"/>
                  </a:moveTo>
                  <a:lnTo>
                    <a:pt x="175572" y="181080"/>
                  </a:lnTo>
                  <a:moveTo>
                    <a:pt x="46819" y="216231"/>
                  </a:moveTo>
                  <a:lnTo>
                    <a:pt x="111196" y="216231"/>
                  </a:lnTo>
                </a:path>
              </a:pathLst>
            </a:custGeom>
            <a:noFill/>
            <a:ln w="11088"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754" name="TextBox 17753">
              <a:extLst>
                <a:ext uri="{FF2B5EF4-FFF2-40B4-BE49-F238E27FC236}">
                  <a16:creationId xmlns:a16="http://schemas.microsoft.com/office/drawing/2014/main" id="{8572D9BE-900E-4B77-E264-777449AC1424}"/>
                </a:ext>
              </a:extLst>
            </p:cNvPr>
            <p:cNvSpPr txBox="1"/>
            <p:nvPr/>
          </p:nvSpPr>
          <p:spPr>
            <a:xfrm>
              <a:off x="1118824" y="600213"/>
              <a:ext cx="1887327" cy="2217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600" b="1" dirty="0">
                  <a:solidFill>
                    <a:srgbClr val="484848"/>
                  </a:solidFill>
                  <a:latin typeface="Roboto"/>
                </a:rPr>
                <a:t>OUR CONTRIBUTIONS</a:t>
              </a:r>
            </a:p>
          </p:txBody>
        </p:sp>
        <p:sp>
          <p:nvSpPr>
            <p:cNvPr id="17755" name="TextBox 17754">
              <a:extLst>
                <a:ext uri="{FF2B5EF4-FFF2-40B4-BE49-F238E27FC236}">
                  <a16:creationId xmlns:a16="http://schemas.microsoft.com/office/drawing/2014/main" id="{5BC3188D-461A-6EDA-E062-69928DB4EF11}"/>
                </a:ext>
              </a:extLst>
            </p:cNvPr>
            <p:cNvSpPr txBox="1"/>
            <p:nvPr/>
          </p:nvSpPr>
          <p:spPr>
            <a:xfrm>
              <a:off x="1772934" y="2709737"/>
              <a:ext cx="1771691" cy="1774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200" b="0" dirty="0">
                  <a:solidFill>
                    <a:sysClr val="windowText" lastClr="000000"/>
                  </a:solidFill>
                  <a:latin typeface="Roboto"/>
                </a:rPr>
                <a:t>EARLIEST SUPPORTED DATE</a:t>
              </a:r>
            </a:p>
          </p:txBody>
        </p:sp>
      </p:grpSp>
      <p:sp>
        <p:nvSpPr>
          <p:cNvPr id="17764" name="TextBox 17763">
            <a:extLst>
              <a:ext uri="{FF2B5EF4-FFF2-40B4-BE49-F238E27FC236}">
                <a16:creationId xmlns:a16="http://schemas.microsoft.com/office/drawing/2014/main" id="{83770277-7364-1367-692C-BA26CE00163E}"/>
              </a:ext>
            </a:extLst>
          </p:cNvPr>
          <p:cNvSpPr txBox="1"/>
          <p:nvPr/>
        </p:nvSpPr>
        <p:spPr>
          <a:xfrm>
            <a:off x="8582184" y="4277242"/>
            <a:ext cx="1409382" cy="2531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1600" b="1" dirty="0">
                <a:solidFill>
                  <a:srgbClr val="484848"/>
                </a:solidFill>
                <a:latin typeface="Roboto"/>
              </a:rPr>
              <a:t>REFERENCES</a:t>
            </a:r>
            <a:endParaRPr sz="1400" b="1" dirty="0">
              <a:solidFill>
                <a:srgbClr val="484848"/>
              </a:solidFill>
              <a:latin typeface="Roboto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53E0236-F17D-C01A-1EAA-F270AD916015}"/>
              </a:ext>
            </a:extLst>
          </p:cNvPr>
          <p:cNvSpPr/>
          <p:nvPr/>
        </p:nvSpPr>
        <p:spPr>
          <a:xfrm>
            <a:off x="157559" y="6255411"/>
            <a:ext cx="2126475" cy="5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D756F1F-2B12-B69D-A2AB-5640EFC1AE28}"/>
              </a:ext>
            </a:extLst>
          </p:cNvPr>
          <p:cNvSpPr/>
          <p:nvPr/>
        </p:nvSpPr>
        <p:spPr>
          <a:xfrm>
            <a:off x="2446098" y="6255411"/>
            <a:ext cx="2126475" cy="5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52C31A1-70ED-07F9-1433-079FCD0E09A1}"/>
              </a:ext>
            </a:extLst>
          </p:cNvPr>
          <p:cNvSpPr/>
          <p:nvPr/>
        </p:nvSpPr>
        <p:spPr>
          <a:xfrm>
            <a:off x="4734637" y="6259469"/>
            <a:ext cx="2126475" cy="5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849632E-A627-005E-EFEF-8C8DD0B49124}"/>
              </a:ext>
            </a:extLst>
          </p:cNvPr>
          <p:cNvSpPr/>
          <p:nvPr/>
        </p:nvSpPr>
        <p:spPr>
          <a:xfrm>
            <a:off x="7023176" y="6262280"/>
            <a:ext cx="2126475" cy="5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104DF9F-3C11-CEF8-E109-09C55F5FCC30}"/>
              </a:ext>
            </a:extLst>
          </p:cNvPr>
          <p:cNvGrpSpPr/>
          <p:nvPr/>
        </p:nvGrpSpPr>
        <p:grpSpPr>
          <a:xfrm>
            <a:off x="4546764" y="1813762"/>
            <a:ext cx="3739506" cy="4286620"/>
            <a:chOff x="2250154" y="601441"/>
            <a:chExt cx="4487496" cy="4117759"/>
          </a:xfrm>
        </p:grpSpPr>
        <p:sp>
          <p:nvSpPr>
            <p:cNvPr id="13" name="Rounded Rectangle 4">
              <a:extLst>
                <a:ext uri="{FF2B5EF4-FFF2-40B4-BE49-F238E27FC236}">
                  <a16:creationId xmlns:a16="http://schemas.microsoft.com/office/drawing/2014/main" id="{1242C5A1-95AE-C24C-5658-74497EE5C3B4}"/>
                </a:ext>
              </a:extLst>
            </p:cNvPr>
            <p:cNvSpPr/>
            <p:nvPr/>
          </p:nvSpPr>
          <p:spPr>
            <a:xfrm>
              <a:off x="2267612" y="601441"/>
              <a:ext cx="4377933" cy="361212"/>
            </a:xfrm>
            <a:prstGeom prst="roundRect">
              <a:avLst>
                <a:gd name="adj" fmla="val 30946"/>
              </a:avLst>
            </a:prstGeom>
            <a:solidFill>
              <a:srgbClr val="000D1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0" name="Rounded Rectangle 10">
              <a:extLst>
                <a:ext uri="{FF2B5EF4-FFF2-40B4-BE49-F238E27FC236}">
                  <a16:creationId xmlns:a16="http://schemas.microsoft.com/office/drawing/2014/main" id="{45725052-4DA7-DCE8-6A02-FD34F809C457}"/>
                </a:ext>
              </a:extLst>
            </p:cNvPr>
            <p:cNvSpPr/>
            <p:nvPr/>
          </p:nvSpPr>
          <p:spPr>
            <a:xfrm>
              <a:off x="2267612" y="1062955"/>
              <a:ext cx="4470038" cy="3656245"/>
            </a:xfrm>
            <a:prstGeom prst="roundRect">
              <a:avLst>
                <a:gd name="adj" fmla="val 4108"/>
              </a:avLst>
            </a:prstGeom>
            <a:solidFill>
              <a:srgbClr val="000D1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B82D751-645F-4F62-F3D4-31745A012279}"/>
                </a:ext>
              </a:extLst>
            </p:cNvPr>
            <p:cNvGrpSpPr/>
            <p:nvPr/>
          </p:nvGrpSpPr>
          <p:grpSpPr>
            <a:xfrm>
              <a:off x="3356163" y="1256409"/>
              <a:ext cx="2244906" cy="464267"/>
              <a:chOff x="3722946" y="892585"/>
              <a:chExt cx="2244906" cy="464267"/>
            </a:xfrm>
          </p:grpSpPr>
          <p:sp>
            <p:nvSpPr>
              <p:cNvPr id="62" name="Rounded Rectangle 9">
                <a:extLst>
                  <a:ext uri="{FF2B5EF4-FFF2-40B4-BE49-F238E27FC236}">
                    <a16:creationId xmlns:a16="http://schemas.microsoft.com/office/drawing/2014/main" id="{561B64B9-771D-B904-15E7-08D69DDD5C94}"/>
                  </a:ext>
                </a:extLst>
              </p:cNvPr>
              <p:cNvSpPr/>
              <p:nvPr/>
            </p:nvSpPr>
            <p:spPr>
              <a:xfrm>
                <a:off x="3722946" y="892585"/>
                <a:ext cx="2209589" cy="464267"/>
              </a:xfrm>
              <a:custGeom>
                <a:avLst/>
                <a:gdLst/>
                <a:ahLst/>
                <a:cxnLst/>
                <a:rect l="0" t="0" r="0" b="0"/>
                <a:pathLst>
                  <a:path w="1546147" h="685800">
                    <a:moveTo>
                      <a:pt x="0" y="114300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14300" y="0"/>
                    </a:lnTo>
                    <a:moveTo>
                      <a:pt x="1546147" y="114300"/>
                    </a:moveTo>
                    <a:lnTo>
                      <a:pt x="1546147" y="571500"/>
                    </a:lnTo>
                    <a:moveTo>
                      <a:pt x="0" y="571500"/>
                    </a:moveTo>
                    <a:lnTo>
                      <a:pt x="0" y="114300"/>
                    </a:lnTo>
                    <a:moveTo>
                      <a:pt x="114300" y="0"/>
                    </a:moveTo>
                    <a:lnTo>
                      <a:pt x="1431847" y="0"/>
                    </a:lnTo>
                    <a:moveTo>
                      <a:pt x="0" y="571500"/>
                    </a:moveTo>
                    <a:lnTo>
                      <a:pt x="0" y="628650"/>
                    </a:lnTo>
                    <a:cubicBezTo>
                      <a:pt x="0" y="660212"/>
                      <a:pt x="25587" y="685800"/>
                      <a:pt x="57150" y="685800"/>
                    </a:cubicBezTo>
                    <a:lnTo>
                      <a:pt x="114300" y="685800"/>
                    </a:lnTo>
                    <a:moveTo>
                      <a:pt x="1546147" y="114300"/>
                    </a:moveTo>
                    <a:lnTo>
                      <a:pt x="1546147" y="57150"/>
                    </a:lnTo>
                    <a:cubicBezTo>
                      <a:pt x="1546147" y="25587"/>
                      <a:pt x="1520560" y="0"/>
                      <a:pt x="1488997" y="0"/>
                    </a:cubicBezTo>
                    <a:lnTo>
                      <a:pt x="1431847" y="0"/>
                    </a:lnTo>
                    <a:moveTo>
                      <a:pt x="1431847" y="685800"/>
                    </a:moveTo>
                    <a:lnTo>
                      <a:pt x="114300" y="685800"/>
                    </a:lnTo>
                    <a:moveTo>
                      <a:pt x="1546147" y="571500"/>
                    </a:moveTo>
                    <a:lnTo>
                      <a:pt x="1546147" y="628650"/>
                    </a:lnTo>
                    <a:cubicBezTo>
                      <a:pt x="1546147" y="660212"/>
                      <a:pt x="1520560" y="685800"/>
                      <a:pt x="1488997" y="685800"/>
                    </a:cubicBezTo>
                    <a:lnTo>
                      <a:pt x="1431847" y="685800"/>
                    </a:lnTo>
                  </a:path>
                </a:pathLst>
              </a:custGeom>
              <a:noFill/>
              <a:ln w="14287">
                <a:solidFill>
                  <a:srgbClr val="969696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F9EC053-47E8-0B67-3341-93F3641880BA}"/>
                  </a:ext>
                </a:extLst>
              </p:cNvPr>
              <p:cNvSpPr txBox="1"/>
              <p:nvPr/>
            </p:nvSpPr>
            <p:spPr>
              <a:xfrm>
                <a:off x="3758263" y="1006885"/>
                <a:ext cx="220958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sz="1500" b="0" dirty="0">
                    <a:solidFill>
                      <a:srgbClr val="F8E6D6"/>
                    </a:solidFill>
                    <a:latin typeface="Roboto"/>
                  </a:rPr>
                  <a:t>How We Use It</a:t>
                </a:r>
              </a:p>
              <a:p>
                <a:pPr algn="ctr"/>
                <a:endParaRPr sz="1500" b="0" dirty="0">
                  <a:solidFill>
                    <a:srgbClr val="1EABDA"/>
                  </a:solidFill>
                  <a:latin typeface="Roboto"/>
                </a:endParaRPr>
              </a:p>
            </p:txBody>
          </p:sp>
        </p:grpSp>
        <p:sp>
          <p:nvSpPr>
            <p:cNvPr id="24" name="Rounded Rectangle 28">
              <a:extLst>
                <a:ext uri="{FF2B5EF4-FFF2-40B4-BE49-F238E27FC236}">
                  <a16:creationId xmlns:a16="http://schemas.microsoft.com/office/drawing/2014/main" id="{D4342F4F-2E54-D063-2A67-E9F077C8408C}"/>
                </a:ext>
              </a:extLst>
            </p:cNvPr>
            <p:cNvSpPr/>
            <p:nvPr/>
          </p:nvSpPr>
          <p:spPr>
            <a:xfrm>
              <a:off x="2416087" y="673433"/>
              <a:ext cx="332185" cy="228045"/>
            </a:xfrm>
            <a:custGeom>
              <a:avLst/>
              <a:gdLst/>
              <a:ahLst/>
              <a:cxnLst/>
              <a:rect l="0" t="0" r="0" b="0"/>
              <a:pathLst>
                <a:path w="332184" h="332184">
                  <a:moveTo>
                    <a:pt x="10715" y="332184"/>
                  </a:moveTo>
                  <a:cubicBezTo>
                    <a:pt x="32052" y="332184"/>
                    <a:pt x="53388" y="332184"/>
                    <a:pt x="74724" y="310753"/>
                  </a:cubicBezTo>
                  <a:cubicBezTo>
                    <a:pt x="96061" y="332184"/>
                    <a:pt x="117397" y="332184"/>
                    <a:pt x="123087" y="332184"/>
                  </a:cubicBezTo>
                  <a:cubicBezTo>
                    <a:pt x="128777" y="332184"/>
                    <a:pt x="150113" y="332184"/>
                    <a:pt x="171450" y="310753"/>
                  </a:cubicBezTo>
                  <a:cubicBezTo>
                    <a:pt x="192786" y="332184"/>
                    <a:pt x="214122" y="332184"/>
                    <a:pt x="219813" y="332184"/>
                  </a:cubicBezTo>
                  <a:cubicBezTo>
                    <a:pt x="225502" y="332184"/>
                    <a:pt x="246837" y="332184"/>
                    <a:pt x="268174" y="310753"/>
                  </a:cubicBezTo>
                  <a:cubicBezTo>
                    <a:pt x="289511" y="332184"/>
                    <a:pt x="310847" y="332184"/>
                    <a:pt x="332184" y="332184"/>
                  </a:cubicBezTo>
                  <a:moveTo>
                    <a:pt x="10715" y="279320"/>
                  </a:moveTo>
                  <a:cubicBezTo>
                    <a:pt x="32052" y="279320"/>
                    <a:pt x="53388" y="279320"/>
                    <a:pt x="74724" y="257889"/>
                  </a:cubicBezTo>
                  <a:cubicBezTo>
                    <a:pt x="96061" y="279320"/>
                    <a:pt x="117397" y="279320"/>
                    <a:pt x="123087" y="279320"/>
                  </a:cubicBezTo>
                  <a:cubicBezTo>
                    <a:pt x="128777" y="279320"/>
                    <a:pt x="150113" y="279320"/>
                    <a:pt x="171450" y="257889"/>
                  </a:cubicBezTo>
                  <a:cubicBezTo>
                    <a:pt x="192786" y="279320"/>
                    <a:pt x="214122" y="279320"/>
                    <a:pt x="219813" y="279320"/>
                  </a:cubicBezTo>
                  <a:cubicBezTo>
                    <a:pt x="225502" y="279320"/>
                    <a:pt x="246837" y="279320"/>
                    <a:pt x="268174" y="257889"/>
                  </a:cubicBezTo>
                  <a:cubicBezTo>
                    <a:pt x="289511" y="279320"/>
                    <a:pt x="310847" y="279320"/>
                    <a:pt x="332184" y="279320"/>
                  </a:cubicBezTo>
                  <a:moveTo>
                    <a:pt x="0" y="0"/>
                  </a:moveTo>
                  <a:moveTo>
                    <a:pt x="32527" y="27257"/>
                  </a:moveTo>
                  <a:lnTo>
                    <a:pt x="32527" y="85534"/>
                  </a:lnTo>
                  <a:moveTo>
                    <a:pt x="0" y="0"/>
                  </a:moveTo>
                  <a:moveTo>
                    <a:pt x="13102" y="41826"/>
                  </a:moveTo>
                  <a:lnTo>
                    <a:pt x="17958" y="41826"/>
                  </a:lnTo>
                  <a:cubicBezTo>
                    <a:pt x="26005" y="41826"/>
                    <a:pt x="32527" y="35303"/>
                    <a:pt x="32527" y="27257"/>
                  </a:cubicBezTo>
                  <a:lnTo>
                    <a:pt x="32527" y="27257"/>
                  </a:lnTo>
                  <a:moveTo>
                    <a:pt x="51953" y="85534"/>
                  </a:moveTo>
                  <a:lnTo>
                    <a:pt x="13102" y="85534"/>
                  </a:lnTo>
                  <a:moveTo>
                    <a:pt x="0" y="0"/>
                  </a:moveTo>
                  <a:moveTo>
                    <a:pt x="100795" y="136172"/>
                  </a:moveTo>
                  <a:lnTo>
                    <a:pt x="100795" y="194450"/>
                  </a:lnTo>
                  <a:moveTo>
                    <a:pt x="0" y="0"/>
                  </a:moveTo>
                  <a:moveTo>
                    <a:pt x="81369" y="150741"/>
                  </a:moveTo>
                  <a:lnTo>
                    <a:pt x="86226" y="150741"/>
                  </a:lnTo>
                  <a:cubicBezTo>
                    <a:pt x="94272" y="150741"/>
                    <a:pt x="100795" y="144219"/>
                    <a:pt x="100795" y="136172"/>
                  </a:cubicBezTo>
                  <a:lnTo>
                    <a:pt x="100795" y="136172"/>
                  </a:lnTo>
                  <a:moveTo>
                    <a:pt x="120221" y="194450"/>
                  </a:moveTo>
                  <a:lnTo>
                    <a:pt x="81369" y="194450"/>
                  </a:lnTo>
                  <a:moveTo>
                    <a:pt x="0" y="0"/>
                  </a:moveTo>
                  <a:moveTo>
                    <a:pt x="171097" y="136172"/>
                  </a:moveTo>
                  <a:lnTo>
                    <a:pt x="171097" y="194450"/>
                  </a:lnTo>
                  <a:moveTo>
                    <a:pt x="0" y="0"/>
                  </a:moveTo>
                  <a:moveTo>
                    <a:pt x="151671" y="150741"/>
                  </a:moveTo>
                  <a:lnTo>
                    <a:pt x="156528" y="150741"/>
                  </a:lnTo>
                  <a:cubicBezTo>
                    <a:pt x="164574" y="150741"/>
                    <a:pt x="171097" y="144219"/>
                    <a:pt x="171097" y="136172"/>
                  </a:cubicBezTo>
                  <a:lnTo>
                    <a:pt x="171097" y="136172"/>
                  </a:lnTo>
                  <a:moveTo>
                    <a:pt x="190523" y="194450"/>
                  </a:moveTo>
                  <a:lnTo>
                    <a:pt x="151671" y="194450"/>
                  </a:lnTo>
                  <a:moveTo>
                    <a:pt x="0" y="0"/>
                  </a:moveTo>
                  <a:moveTo>
                    <a:pt x="239717" y="27257"/>
                  </a:moveTo>
                  <a:lnTo>
                    <a:pt x="239717" y="85534"/>
                  </a:lnTo>
                  <a:moveTo>
                    <a:pt x="0" y="0"/>
                  </a:moveTo>
                  <a:moveTo>
                    <a:pt x="220291" y="41826"/>
                  </a:moveTo>
                  <a:lnTo>
                    <a:pt x="225148" y="41826"/>
                  </a:lnTo>
                  <a:cubicBezTo>
                    <a:pt x="233194" y="41826"/>
                    <a:pt x="239717" y="35303"/>
                    <a:pt x="239717" y="27257"/>
                  </a:cubicBezTo>
                  <a:lnTo>
                    <a:pt x="239717" y="27257"/>
                  </a:lnTo>
                  <a:moveTo>
                    <a:pt x="259143" y="85534"/>
                  </a:moveTo>
                  <a:lnTo>
                    <a:pt x="220291" y="85534"/>
                  </a:lnTo>
                  <a:moveTo>
                    <a:pt x="80528" y="46683"/>
                  </a:moveTo>
                  <a:lnTo>
                    <a:pt x="80528" y="66108"/>
                  </a:lnTo>
                  <a:cubicBezTo>
                    <a:pt x="80528" y="76837"/>
                    <a:pt x="89225" y="85534"/>
                    <a:pt x="99954" y="85534"/>
                  </a:cubicBezTo>
                  <a:cubicBezTo>
                    <a:pt x="110682" y="85534"/>
                    <a:pt x="119379" y="76837"/>
                    <a:pt x="119379" y="66108"/>
                  </a:cubicBezTo>
                  <a:lnTo>
                    <a:pt x="119379" y="46683"/>
                  </a:lnTo>
                  <a:cubicBezTo>
                    <a:pt x="119379" y="35954"/>
                    <a:pt x="110682" y="27257"/>
                    <a:pt x="99954" y="27257"/>
                  </a:cubicBezTo>
                  <a:cubicBezTo>
                    <a:pt x="89225" y="27257"/>
                    <a:pt x="80528" y="35954"/>
                    <a:pt x="80528" y="46683"/>
                  </a:cubicBezTo>
                  <a:close/>
                  <a:moveTo>
                    <a:pt x="13102" y="155598"/>
                  </a:moveTo>
                  <a:lnTo>
                    <a:pt x="13102" y="175023"/>
                  </a:lnTo>
                  <a:cubicBezTo>
                    <a:pt x="13102" y="185751"/>
                    <a:pt x="21799" y="194450"/>
                    <a:pt x="32528" y="194450"/>
                  </a:cubicBezTo>
                  <a:cubicBezTo>
                    <a:pt x="43256" y="194450"/>
                    <a:pt x="51953" y="185751"/>
                    <a:pt x="51953" y="175023"/>
                  </a:cubicBezTo>
                  <a:lnTo>
                    <a:pt x="51953" y="155598"/>
                  </a:lnTo>
                  <a:cubicBezTo>
                    <a:pt x="51953" y="144869"/>
                    <a:pt x="43256" y="136172"/>
                    <a:pt x="32528" y="136172"/>
                  </a:cubicBezTo>
                  <a:cubicBezTo>
                    <a:pt x="21799" y="136172"/>
                    <a:pt x="13102" y="144869"/>
                    <a:pt x="13102" y="155598"/>
                  </a:cubicBezTo>
                  <a:close/>
                  <a:moveTo>
                    <a:pt x="220291" y="155598"/>
                  </a:moveTo>
                  <a:lnTo>
                    <a:pt x="220291" y="175023"/>
                  </a:lnTo>
                  <a:cubicBezTo>
                    <a:pt x="220291" y="185751"/>
                    <a:pt x="228988" y="194450"/>
                    <a:pt x="239717" y="194450"/>
                  </a:cubicBezTo>
                  <a:cubicBezTo>
                    <a:pt x="250445" y="194450"/>
                    <a:pt x="259143" y="185751"/>
                    <a:pt x="259143" y="175023"/>
                  </a:cubicBezTo>
                  <a:lnTo>
                    <a:pt x="259143" y="155598"/>
                  </a:lnTo>
                  <a:cubicBezTo>
                    <a:pt x="259143" y="144869"/>
                    <a:pt x="250445" y="136172"/>
                    <a:pt x="239717" y="136172"/>
                  </a:cubicBezTo>
                  <a:cubicBezTo>
                    <a:pt x="228988" y="136172"/>
                    <a:pt x="220291" y="144869"/>
                    <a:pt x="220291" y="155598"/>
                  </a:cubicBezTo>
                  <a:close/>
                  <a:moveTo>
                    <a:pt x="290946" y="155598"/>
                  </a:moveTo>
                  <a:lnTo>
                    <a:pt x="290946" y="175023"/>
                  </a:lnTo>
                  <a:cubicBezTo>
                    <a:pt x="290946" y="185751"/>
                    <a:pt x="299643" y="194450"/>
                    <a:pt x="310371" y="194450"/>
                  </a:cubicBezTo>
                  <a:cubicBezTo>
                    <a:pt x="321100" y="194450"/>
                    <a:pt x="329798" y="185751"/>
                    <a:pt x="329798" y="175023"/>
                  </a:cubicBezTo>
                  <a:lnTo>
                    <a:pt x="329798" y="155598"/>
                  </a:lnTo>
                  <a:cubicBezTo>
                    <a:pt x="329798" y="144869"/>
                    <a:pt x="321100" y="136172"/>
                    <a:pt x="310371" y="136172"/>
                  </a:cubicBezTo>
                  <a:cubicBezTo>
                    <a:pt x="299643" y="136172"/>
                    <a:pt x="290946" y="144869"/>
                    <a:pt x="290946" y="155598"/>
                  </a:cubicBezTo>
                  <a:close/>
                  <a:moveTo>
                    <a:pt x="149988" y="46683"/>
                  </a:moveTo>
                  <a:lnTo>
                    <a:pt x="149988" y="66108"/>
                  </a:lnTo>
                  <a:cubicBezTo>
                    <a:pt x="149988" y="76837"/>
                    <a:pt x="158685" y="85534"/>
                    <a:pt x="169415" y="85534"/>
                  </a:cubicBezTo>
                  <a:cubicBezTo>
                    <a:pt x="180143" y="85534"/>
                    <a:pt x="188840" y="76837"/>
                    <a:pt x="188840" y="66108"/>
                  </a:cubicBezTo>
                  <a:lnTo>
                    <a:pt x="188840" y="46683"/>
                  </a:lnTo>
                  <a:cubicBezTo>
                    <a:pt x="188840" y="35954"/>
                    <a:pt x="180143" y="27257"/>
                    <a:pt x="169415" y="27257"/>
                  </a:cubicBezTo>
                  <a:cubicBezTo>
                    <a:pt x="158685" y="27257"/>
                    <a:pt x="149988" y="35954"/>
                    <a:pt x="149988" y="46683"/>
                  </a:cubicBezTo>
                  <a:close/>
                  <a:moveTo>
                    <a:pt x="290946" y="46683"/>
                  </a:moveTo>
                  <a:lnTo>
                    <a:pt x="290946" y="66108"/>
                  </a:lnTo>
                  <a:cubicBezTo>
                    <a:pt x="290946" y="76837"/>
                    <a:pt x="299643" y="85534"/>
                    <a:pt x="310371" y="85534"/>
                  </a:cubicBezTo>
                  <a:cubicBezTo>
                    <a:pt x="321100" y="85534"/>
                    <a:pt x="329798" y="76837"/>
                    <a:pt x="329798" y="66108"/>
                  </a:cubicBezTo>
                  <a:lnTo>
                    <a:pt x="329798" y="46683"/>
                  </a:lnTo>
                  <a:cubicBezTo>
                    <a:pt x="329798" y="35954"/>
                    <a:pt x="321100" y="27257"/>
                    <a:pt x="310371" y="27257"/>
                  </a:cubicBezTo>
                  <a:cubicBezTo>
                    <a:pt x="299643" y="27257"/>
                    <a:pt x="290946" y="35954"/>
                    <a:pt x="290946" y="46683"/>
                  </a:cubicBezTo>
                  <a:close/>
                </a:path>
              </a:pathLst>
            </a:custGeom>
            <a:noFill/>
            <a:ln w="14287">
              <a:solidFill>
                <a:srgbClr val="1EABDA"/>
              </a:solidFill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0129797-8447-4437-4AC0-16B3D488E0D8}"/>
                </a:ext>
              </a:extLst>
            </p:cNvPr>
            <p:cNvSpPr txBox="1"/>
            <p:nvPr/>
          </p:nvSpPr>
          <p:spPr>
            <a:xfrm>
              <a:off x="3003253" y="662220"/>
              <a:ext cx="1172598" cy="1569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 dirty="0">
                  <a:solidFill>
                    <a:srgbClr val="1EABDA"/>
                  </a:solidFill>
                  <a:latin typeface="Roboto"/>
                </a:rPr>
                <a:t>RemoteCLIP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0F08A38-2B65-A94B-3A36-56815E5D2ED8}"/>
                </a:ext>
              </a:extLst>
            </p:cNvPr>
            <p:cNvGrpSpPr/>
            <p:nvPr/>
          </p:nvGrpSpPr>
          <p:grpSpPr>
            <a:xfrm>
              <a:off x="2250154" y="1952775"/>
              <a:ext cx="1792549" cy="704159"/>
              <a:chOff x="2226927" y="1931959"/>
              <a:chExt cx="1695944" cy="704159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D36E8C0-8108-E3DC-FCFE-BC7C55A6D59A}"/>
                  </a:ext>
                </a:extLst>
              </p:cNvPr>
              <p:cNvSpPr txBox="1"/>
              <p:nvPr/>
            </p:nvSpPr>
            <p:spPr>
              <a:xfrm>
                <a:off x="2543379" y="1931959"/>
                <a:ext cx="1379492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marL="171450" indent="-171450" algn="ctr">
                  <a:buFont typeface="Arial" panose="020B0604020202020204" pitchFamily="34" charset="0"/>
                  <a:buChar char="•"/>
                </a:pPr>
                <a:r>
                  <a:rPr sz="1200" b="0" dirty="0">
                    <a:solidFill>
                      <a:srgbClr val="1EABDA"/>
                    </a:solidFill>
                    <a:latin typeface="Roboto"/>
                  </a:rPr>
                  <a:t>Text-to-tile search,</a:t>
                </a:r>
              </a:p>
              <a:p>
                <a:pPr algn="ctr"/>
                <a:r>
                  <a:rPr lang="en-US" sz="1200" dirty="0">
                    <a:solidFill>
                      <a:srgbClr val="1EABDA"/>
                    </a:solidFill>
                    <a:latin typeface="Roboto"/>
                  </a:rPr>
                  <a:t>zero-shot concepts.</a:t>
                </a:r>
              </a:p>
              <a:p>
                <a:pPr marL="171450" indent="-171450" algn="ctr">
                  <a:buFont typeface="Arial" panose="020B0604020202020204" pitchFamily="34" charset="0"/>
                  <a:buChar char="•"/>
                </a:pPr>
                <a:endParaRPr lang="en-IN" sz="1200" dirty="0">
                  <a:solidFill>
                    <a:srgbClr val="1EABDA"/>
                  </a:solidFill>
                  <a:latin typeface="Roboto"/>
                </a:endParaRPr>
              </a:p>
              <a:p>
                <a:pPr marL="171450" indent="-171450" algn="ctr">
                  <a:buFont typeface="Arial" panose="020B0604020202020204" pitchFamily="34" charset="0"/>
                  <a:buChar char="•"/>
                </a:pPr>
                <a:endParaRPr sz="1200" b="0" dirty="0">
                  <a:solidFill>
                    <a:srgbClr val="1EABDA"/>
                  </a:solidFill>
                  <a:latin typeface="Roboto"/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D32CDBE-8AB9-CED5-FD64-2FE8D029709F}"/>
                  </a:ext>
                </a:extLst>
              </p:cNvPr>
              <p:cNvSpPr txBox="1"/>
              <p:nvPr/>
            </p:nvSpPr>
            <p:spPr>
              <a:xfrm>
                <a:off x="2226927" y="2343150"/>
                <a:ext cx="1379492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endParaRPr sz="1100" b="0" dirty="0">
                  <a:solidFill>
                    <a:srgbClr val="484848"/>
                  </a:solidFill>
                  <a:latin typeface="Roboto"/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D147E64-B7E2-7B3B-32F7-0907523ACFC0}"/>
                  </a:ext>
                </a:extLst>
              </p:cNvPr>
              <p:cNvSpPr txBox="1"/>
              <p:nvPr/>
            </p:nvSpPr>
            <p:spPr>
              <a:xfrm>
                <a:off x="2460632" y="2464668"/>
                <a:ext cx="1379492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marL="171450" indent="-171450" algn="ctr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rgbClr val="1EABDA"/>
                    </a:solidFill>
                    <a:latin typeface="Roboto"/>
                  </a:rPr>
                  <a:t>Image-to-image</a:t>
                </a:r>
              </a:p>
              <a:p>
                <a:pPr algn="ctr"/>
                <a:r>
                  <a:rPr lang="en-IN" sz="1200" dirty="0">
                    <a:solidFill>
                      <a:srgbClr val="1EABDA"/>
                    </a:solidFill>
                    <a:latin typeface="Roboto"/>
                  </a:rPr>
                  <a:t>similar-site search.</a:t>
                </a:r>
              </a:p>
              <a:p>
                <a:pPr marL="171450" indent="-171450" algn="ctr">
                  <a:buFont typeface="Arial" panose="020B0604020202020204" pitchFamily="34" charset="0"/>
                  <a:buChar char="•"/>
                </a:pPr>
                <a:endParaRPr sz="1200" b="0" dirty="0">
                  <a:solidFill>
                    <a:srgbClr val="1EABDA"/>
                  </a:solidFill>
                  <a:latin typeface="Roboto"/>
                </a:endParaRP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78E205F-D6F4-8A9F-4D66-09F8FDB9742E}"/>
                </a:ext>
              </a:extLst>
            </p:cNvPr>
            <p:cNvSpPr txBox="1"/>
            <p:nvPr/>
          </p:nvSpPr>
          <p:spPr>
            <a:xfrm>
              <a:off x="5479304" y="662220"/>
              <a:ext cx="1172598" cy="1569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r>
                <a:rPr lang="en-IN" sz="1500" dirty="0">
                  <a:solidFill>
                    <a:srgbClr val="01CF7C"/>
                  </a:solidFill>
                  <a:latin typeface="Roboto"/>
                </a:rPr>
                <a:t>CCDC</a:t>
              </a:r>
            </a:p>
          </p:txBody>
        </p:sp>
        <p:sp>
          <p:nvSpPr>
            <p:cNvPr id="35" name="Rounded Rectangle 41">
              <a:extLst>
                <a:ext uri="{FF2B5EF4-FFF2-40B4-BE49-F238E27FC236}">
                  <a16:creationId xmlns:a16="http://schemas.microsoft.com/office/drawing/2014/main" id="{2AC221A3-5F5A-E06B-644E-123871B43CDE}"/>
                </a:ext>
              </a:extLst>
            </p:cNvPr>
            <p:cNvSpPr/>
            <p:nvPr/>
          </p:nvSpPr>
          <p:spPr>
            <a:xfrm>
              <a:off x="4881076" y="621865"/>
              <a:ext cx="281851" cy="269990"/>
            </a:xfrm>
            <a:custGeom>
              <a:avLst/>
              <a:gdLst/>
              <a:ahLst/>
              <a:cxnLst/>
              <a:rect l="0" t="0" r="0" b="0"/>
              <a:pathLst>
                <a:path w="329098" h="329085">
                  <a:moveTo>
                    <a:pt x="157595" y="80197"/>
                  </a:moveTo>
                  <a:cubicBezTo>
                    <a:pt x="151481" y="79280"/>
                    <a:pt x="145222" y="78804"/>
                    <a:pt x="138849" y="78804"/>
                  </a:cubicBezTo>
                  <a:cubicBezTo>
                    <a:pt x="69871" y="78804"/>
                    <a:pt x="13813" y="134654"/>
                    <a:pt x="13813" y="203841"/>
                  </a:cubicBezTo>
                  <a:lnTo>
                    <a:pt x="13813" y="204049"/>
                  </a:lnTo>
                  <a:cubicBezTo>
                    <a:pt x="13813" y="273028"/>
                    <a:pt x="69662" y="329085"/>
                    <a:pt x="138849" y="329085"/>
                  </a:cubicBezTo>
                  <a:cubicBezTo>
                    <a:pt x="207828" y="329085"/>
                    <a:pt x="263885" y="273237"/>
                    <a:pt x="263885" y="204049"/>
                  </a:cubicBezTo>
                  <a:cubicBezTo>
                    <a:pt x="263885" y="199554"/>
                    <a:pt x="263650" y="195117"/>
                    <a:pt x="263191" y="190745"/>
                  </a:cubicBezTo>
                  <a:moveTo>
                    <a:pt x="186991" y="165144"/>
                  </a:moveTo>
                  <a:cubicBezTo>
                    <a:pt x="188603" y="177390"/>
                    <a:pt x="189475" y="190466"/>
                    <a:pt x="189475" y="204049"/>
                  </a:cubicBezTo>
                  <a:cubicBezTo>
                    <a:pt x="189475" y="273237"/>
                    <a:pt x="166780" y="329085"/>
                    <a:pt x="138855" y="329085"/>
                  </a:cubicBezTo>
                  <a:cubicBezTo>
                    <a:pt x="110846" y="329085"/>
                    <a:pt x="88236" y="273028"/>
                    <a:pt x="88236" y="204049"/>
                  </a:cubicBezTo>
                  <a:lnTo>
                    <a:pt x="88236" y="203841"/>
                  </a:lnTo>
                  <a:cubicBezTo>
                    <a:pt x="88236" y="134654"/>
                    <a:pt x="110930" y="78804"/>
                    <a:pt x="138855" y="78804"/>
                  </a:cubicBezTo>
                  <a:moveTo>
                    <a:pt x="13813" y="203986"/>
                  </a:moveTo>
                  <a:lnTo>
                    <a:pt x="263888" y="203986"/>
                  </a:lnTo>
                  <a:moveTo>
                    <a:pt x="237858" y="50620"/>
                  </a:moveTo>
                  <a:lnTo>
                    <a:pt x="300523" y="50620"/>
                  </a:lnTo>
                  <a:cubicBezTo>
                    <a:pt x="300523" y="50620"/>
                    <a:pt x="329098" y="50620"/>
                    <a:pt x="329098" y="79195"/>
                  </a:cubicBezTo>
                  <a:lnTo>
                    <a:pt x="329098" y="115257"/>
                  </a:lnTo>
                  <a:cubicBezTo>
                    <a:pt x="329098" y="115257"/>
                    <a:pt x="329098" y="143832"/>
                    <a:pt x="300523" y="143832"/>
                  </a:cubicBezTo>
                  <a:lnTo>
                    <a:pt x="237858" y="143832"/>
                  </a:lnTo>
                  <a:cubicBezTo>
                    <a:pt x="237858" y="143832"/>
                    <a:pt x="209283" y="143832"/>
                    <a:pt x="209283" y="115257"/>
                  </a:cubicBezTo>
                  <a:lnTo>
                    <a:pt x="209283" y="79195"/>
                  </a:lnTo>
                  <a:cubicBezTo>
                    <a:pt x="209283" y="79195"/>
                    <a:pt x="209283" y="50620"/>
                    <a:pt x="237858" y="50620"/>
                  </a:cubicBezTo>
                  <a:moveTo>
                    <a:pt x="0" y="0"/>
                  </a:moveTo>
                  <a:moveTo>
                    <a:pt x="269187" y="13855"/>
                  </a:moveTo>
                  <a:lnTo>
                    <a:pt x="269187" y="50620"/>
                  </a:lnTo>
                  <a:moveTo>
                    <a:pt x="0" y="0"/>
                  </a:moveTo>
                  <a:moveTo>
                    <a:pt x="249542" y="88938"/>
                  </a:moveTo>
                  <a:lnTo>
                    <a:pt x="249542" y="105537"/>
                  </a:lnTo>
                  <a:moveTo>
                    <a:pt x="0" y="0"/>
                  </a:moveTo>
                  <a:moveTo>
                    <a:pt x="288833" y="88938"/>
                  </a:moveTo>
                  <a:lnTo>
                    <a:pt x="288833" y="105537"/>
                  </a:lnTo>
                </a:path>
              </a:pathLst>
            </a:custGeom>
            <a:noFill/>
            <a:ln w="14287">
              <a:solidFill>
                <a:srgbClr val="01CF7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12EEC01F-F5E0-FBF6-C79E-79EA5CC64966}"/>
                </a:ext>
              </a:extLst>
            </p:cNvPr>
            <p:cNvGrpSpPr/>
            <p:nvPr/>
          </p:nvGrpSpPr>
          <p:grpSpPr>
            <a:xfrm>
              <a:off x="3276664" y="3057005"/>
              <a:ext cx="2439221" cy="464267"/>
              <a:chOff x="3643447" y="956950"/>
              <a:chExt cx="2439221" cy="464267"/>
            </a:xfrm>
          </p:grpSpPr>
          <p:sp>
            <p:nvSpPr>
              <p:cNvPr id="56" name="Rounded Rectangle 9">
                <a:extLst>
                  <a:ext uri="{FF2B5EF4-FFF2-40B4-BE49-F238E27FC236}">
                    <a16:creationId xmlns:a16="http://schemas.microsoft.com/office/drawing/2014/main" id="{40502C68-2549-13CC-FA9A-AAC8828B7753}"/>
                  </a:ext>
                </a:extLst>
              </p:cNvPr>
              <p:cNvSpPr/>
              <p:nvPr/>
            </p:nvSpPr>
            <p:spPr>
              <a:xfrm>
                <a:off x="3643447" y="956950"/>
                <a:ext cx="2439221" cy="464267"/>
              </a:xfrm>
              <a:custGeom>
                <a:avLst/>
                <a:gdLst/>
                <a:ahLst/>
                <a:cxnLst/>
                <a:rect l="0" t="0" r="0" b="0"/>
                <a:pathLst>
                  <a:path w="1546147" h="685800">
                    <a:moveTo>
                      <a:pt x="0" y="114300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14300" y="0"/>
                    </a:lnTo>
                    <a:moveTo>
                      <a:pt x="1546147" y="114300"/>
                    </a:moveTo>
                    <a:lnTo>
                      <a:pt x="1546147" y="571500"/>
                    </a:lnTo>
                    <a:moveTo>
                      <a:pt x="0" y="571500"/>
                    </a:moveTo>
                    <a:lnTo>
                      <a:pt x="0" y="114300"/>
                    </a:lnTo>
                    <a:moveTo>
                      <a:pt x="114300" y="0"/>
                    </a:moveTo>
                    <a:lnTo>
                      <a:pt x="1431847" y="0"/>
                    </a:lnTo>
                    <a:moveTo>
                      <a:pt x="0" y="571500"/>
                    </a:moveTo>
                    <a:lnTo>
                      <a:pt x="0" y="628650"/>
                    </a:lnTo>
                    <a:cubicBezTo>
                      <a:pt x="0" y="660212"/>
                      <a:pt x="25587" y="685800"/>
                      <a:pt x="57150" y="685800"/>
                    </a:cubicBezTo>
                    <a:lnTo>
                      <a:pt x="114300" y="685800"/>
                    </a:lnTo>
                    <a:moveTo>
                      <a:pt x="1546147" y="114300"/>
                    </a:moveTo>
                    <a:lnTo>
                      <a:pt x="1546147" y="57150"/>
                    </a:lnTo>
                    <a:cubicBezTo>
                      <a:pt x="1546147" y="25587"/>
                      <a:pt x="1520560" y="0"/>
                      <a:pt x="1488997" y="0"/>
                    </a:cubicBezTo>
                    <a:lnTo>
                      <a:pt x="1431847" y="0"/>
                    </a:lnTo>
                    <a:moveTo>
                      <a:pt x="1431847" y="685800"/>
                    </a:moveTo>
                    <a:lnTo>
                      <a:pt x="114300" y="685800"/>
                    </a:lnTo>
                    <a:moveTo>
                      <a:pt x="1546147" y="571500"/>
                    </a:moveTo>
                    <a:lnTo>
                      <a:pt x="1546147" y="628650"/>
                    </a:lnTo>
                    <a:cubicBezTo>
                      <a:pt x="1546147" y="660212"/>
                      <a:pt x="1520560" y="685800"/>
                      <a:pt x="1488997" y="685800"/>
                    </a:cubicBezTo>
                    <a:lnTo>
                      <a:pt x="1431847" y="685800"/>
                    </a:lnTo>
                  </a:path>
                </a:pathLst>
              </a:custGeom>
              <a:noFill/>
              <a:ln w="14287">
                <a:solidFill>
                  <a:srgbClr val="969696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88BEB30-78DD-702A-4BCD-CF971AACBD55}"/>
                  </a:ext>
                </a:extLst>
              </p:cNvPr>
              <p:cNvSpPr txBox="1"/>
              <p:nvPr/>
            </p:nvSpPr>
            <p:spPr>
              <a:xfrm>
                <a:off x="3758263" y="1072591"/>
                <a:ext cx="220958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lang="en-IN" sz="1500" dirty="0">
                    <a:solidFill>
                      <a:srgbClr val="F8E6D6"/>
                    </a:solidFill>
                    <a:latin typeface="Roboto"/>
                  </a:rPr>
                  <a:t>Core Technical Focus</a:t>
                </a:r>
              </a:p>
              <a:p>
                <a:pPr algn="ctr"/>
                <a:endParaRPr lang="en-IN" sz="1500" dirty="0">
                  <a:solidFill>
                    <a:srgbClr val="01CF7C"/>
                  </a:solidFill>
                  <a:latin typeface="Roboto"/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0548771-4FA7-5503-3471-0CD5471A5A84}"/>
                </a:ext>
              </a:extLst>
            </p:cNvPr>
            <p:cNvGrpSpPr/>
            <p:nvPr/>
          </p:nvGrpSpPr>
          <p:grpSpPr>
            <a:xfrm>
              <a:off x="4561459" y="1955806"/>
              <a:ext cx="1815327" cy="745796"/>
              <a:chOff x="1888922" y="1927899"/>
              <a:chExt cx="1717497" cy="745796"/>
            </a:xfrm>
          </p:grpSpPr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9F3CBD0-635B-9B3D-FFAF-C161D8339A1C}"/>
                  </a:ext>
                </a:extLst>
              </p:cNvPr>
              <p:cNvSpPr txBox="1"/>
              <p:nvPr/>
            </p:nvSpPr>
            <p:spPr>
              <a:xfrm>
                <a:off x="2073279" y="1927899"/>
                <a:ext cx="1379492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marL="171450" indent="-171450" algn="ctr">
                  <a:buFont typeface="Arial" panose="020B0604020202020204" pitchFamily="34" charset="0"/>
                  <a:buChar char="•"/>
                </a:pPr>
                <a:r>
                  <a:rPr lang="en-US" sz="1200" b="0" dirty="0">
                    <a:solidFill>
                      <a:srgbClr val="01CF7C"/>
                    </a:solidFill>
                    <a:latin typeface="Roboto"/>
                  </a:rPr>
                  <a:t>Seasonal model of</a:t>
                </a:r>
                <a:endParaRPr lang="en-IN" sz="1200" dirty="0">
                  <a:solidFill>
                    <a:srgbClr val="01CF7C"/>
                  </a:solidFill>
                  <a:latin typeface="Roboto"/>
                </a:endParaRPr>
              </a:p>
              <a:p>
                <a:pPr algn="ctr"/>
                <a:r>
                  <a:rPr lang="en-IN" sz="1200" dirty="0">
                    <a:solidFill>
                      <a:srgbClr val="01CF7C"/>
                    </a:solidFill>
                    <a:latin typeface="Roboto"/>
                  </a:rPr>
                  <a:t>every clear pixel.</a:t>
                </a:r>
                <a:endParaRPr sz="1200" b="0" dirty="0">
                  <a:solidFill>
                    <a:srgbClr val="01CF7C"/>
                  </a:solidFill>
                  <a:latin typeface="Roboto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33D3DCA-AC2B-FC38-F02C-F6D5399C3B81}"/>
                  </a:ext>
                </a:extLst>
              </p:cNvPr>
              <p:cNvSpPr txBox="1"/>
              <p:nvPr/>
            </p:nvSpPr>
            <p:spPr>
              <a:xfrm>
                <a:off x="2226927" y="2343150"/>
                <a:ext cx="1379492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endParaRPr sz="1100" b="0" dirty="0">
                  <a:solidFill>
                    <a:srgbClr val="484848"/>
                  </a:solidFill>
                  <a:latin typeface="Roboto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5DD44EA-E12E-98D6-1586-4542B9374CF9}"/>
                  </a:ext>
                </a:extLst>
              </p:cNvPr>
              <p:cNvSpPr txBox="1"/>
              <p:nvPr/>
            </p:nvSpPr>
            <p:spPr>
              <a:xfrm>
                <a:off x="1888922" y="2502245"/>
                <a:ext cx="1379491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marL="171450" indent="-171450" algn="ctr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rgbClr val="01CF7C"/>
                    </a:solidFill>
                    <a:latin typeface="Roboto"/>
                  </a:rPr>
                  <a:t>Earliest-date</a:t>
                </a:r>
              </a:p>
              <a:p>
                <a:pPr algn="ctr"/>
                <a:r>
                  <a:rPr lang="en-IN" sz="1200" dirty="0">
                    <a:solidFill>
                      <a:srgbClr val="01CF7C"/>
                    </a:solidFill>
                    <a:latin typeface="Roboto"/>
                  </a:rPr>
                  <a:t>             change estimate.</a:t>
                </a:r>
              </a:p>
              <a:p>
                <a:pPr marL="171450" indent="-171450" algn="ctr">
                  <a:buFont typeface="Arial" panose="020B0604020202020204" pitchFamily="34" charset="0"/>
                  <a:buChar char="•"/>
                </a:pPr>
                <a:endParaRPr sz="1200" b="0" dirty="0">
                  <a:solidFill>
                    <a:srgbClr val="01CF7C"/>
                  </a:solidFill>
                  <a:latin typeface="Roboto"/>
                </a:endParaRP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A0B9D3C-9511-A5EC-0D5B-681D7EF57578}"/>
                </a:ext>
              </a:extLst>
            </p:cNvPr>
            <p:cNvGrpSpPr/>
            <p:nvPr/>
          </p:nvGrpSpPr>
          <p:grpSpPr>
            <a:xfrm>
              <a:off x="2288070" y="3709994"/>
              <a:ext cx="1744699" cy="668366"/>
              <a:chOff x="2226927" y="1949854"/>
              <a:chExt cx="1650671" cy="668366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1BCD719-9041-AAE3-F0E1-C05D8ED4DA5A}"/>
                  </a:ext>
                </a:extLst>
              </p:cNvPr>
              <p:cNvSpPr txBox="1"/>
              <p:nvPr/>
            </p:nvSpPr>
            <p:spPr>
              <a:xfrm>
                <a:off x="2424761" y="1949854"/>
                <a:ext cx="1379493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marL="171450" indent="-171450" algn="ctr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rgbClr val="1EABDA"/>
                    </a:solidFill>
                    <a:latin typeface="Roboto"/>
                  </a:rPr>
                  <a:t>CLIP trained on RS</a:t>
                </a:r>
              </a:p>
              <a:p>
                <a:pPr algn="ctr"/>
                <a:r>
                  <a:rPr lang="en-IN" sz="1200" dirty="0">
                    <a:solidFill>
                      <a:srgbClr val="1EABDA"/>
                    </a:solidFill>
                    <a:latin typeface="Roboto"/>
                  </a:rPr>
                  <a:t>image-text pairs.</a:t>
                </a:r>
              </a:p>
              <a:p>
                <a:pPr marL="171450" indent="-171450" algn="ctr">
                  <a:buFont typeface="Arial" panose="020B0604020202020204" pitchFamily="34" charset="0"/>
                  <a:buChar char="•"/>
                </a:pPr>
                <a:endParaRPr lang="en-IN" sz="1200" dirty="0">
                  <a:solidFill>
                    <a:srgbClr val="1EABDA"/>
                  </a:solidFill>
                  <a:latin typeface="Roboto"/>
                </a:endParaRPr>
              </a:p>
              <a:p>
                <a:pPr marL="171450" indent="-171450" algn="ctr">
                  <a:buFont typeface="Arial" panose="020B0604020202020204" pitchFamily="34" charset="0"/>
                  <a:buChar char="•"/>
                </a:pPr>
                <a:endParaRPr sz="1200" b="0" dirty="0">
                  <a:solidFill>
                    <a:srgbClr val="1EABDA"/>
                  </a:solidFill>
                  <a:latin typeface="Roboto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CAB8293-EA36-82F2-75D1-0285E86937F3}"/>
                  </a:ext>
                </a:extLst>
              </p:cNvPr>
              <p:cNvSpPr txBox="1"/>
              <p:nvPr/>
            </p:nvSpPr>
            <p:spPr>
              <a:xfrm>
                <a:off x="2226927" y="2343150"/>
                <a:ext cx="1379492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endParaRPr sz="1100" b="0" dirty="0">
                  <a:solidFill>
                    <a:srgbClr val="484848"/>
                  </a:solidFill>
                  <a:latin typeface="Roboto"/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7557E21-BE2A-5864-8B51-5D4145461DBC}"/>
                  </a:ext>
                </a:extLst>
              </p:cNvPr>
              <p:cNvSpPr txBox="1"/>
              <p:nvPr/>
            </p:nvSpPr>
            <p:spPr>
              <a:xfrm>
                <a:off x="2498105" y="2446770"/>
                <a:ext cx="1379493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marL="171450" indent="-171450" algn="ctr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rgbClr val="1EABDA"/>
                    </a:solidFill>
                    <a:latin typeface="Roboto"/>
                  </a:rPr>
                  <a:t>Apache-2.0 weights,</a:t>
                </a:r>
              </a:p>
              <a:p>
                <a:pPr algn="ctr"/>
                <a:r>
                  <a:rPr lang="en-IN" sz="1200" dirty="0">
                    <a:solidFill>
                      <a:srgbClr val="1EABDA"/>
                    </a:solidFill>
                    <a:latin typeface="Roboto"/>
                  </a:rPr>
                  <a:t>runs fully offline.</a:t>
                </a:r>
              </a:p>
              <a:p>
                <a:pPr marL="171450" indent="-171450" algn="ctr">
                  <a:buFont typeface="Arial" panose="020B0604020202020204" pitchFamily="34" charset="0"/>
                  <a:buChar char="•"/>
                </a:pPr>
                <a:endParaRPr sz="1200" b="0" dirty="0">
                  <a:solidFill>
                    <a:srgbClr val="1EABDA"/>
                  </a:solidFill>
                  <a:latin typeface="Roboto"/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74FE2DBD-E772-FDF5-AF1D-6DE24C24F597}"/>
                </a:ext>
              </a:extLst>
            </p:cNvPr>
            <p:cNvGrpSpPr/>
            <p:nvPr/>
          </p:nvGrpSpPr>
          <p:grpSpPr>
            <a:xfrm>
              <a:off x="4691195" y="3728746"/>
              <a:ext cx="1523190" cy="649614"/>
              <a:chOff x="2014990" y="1968606"/>
              <a:chExt cx="1441104" cy="649614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8C7844A-50D2-0B6A-E292-7A06AE3B2EBC}"/>
                  </a:ext>
                </a:extLst>
              </p:cNvPr>
              <p:cNvSpPr txBox="1"/>
              <p:nvPr/>
            </p:nvSpPr>
            <p:spPr>
              <a:xfrm>
                <a:off x="2014990" y="1968606"/>
                <a:ext cx="1379492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marL="171450" indent="-171450" algn="ctr">
                  <a:buFont typeface="Arial" panose="020B0604020202020204" pitchFamily="34" charset="0"/>
                  <a:buChar char="•"/>
                </a:pPr>
                <a:r>
                  <a:rPr lang="en-US" sz="1200" b="0" dirty="0">
                    <a:solidFill>
                      <a:srgbClr val="01CF7C"/>
                    </a:solidFill>
                    <a:latin typeface="Roboto"/>
                  </a:rPr>
                  <a:t>Harmonic fit on all</a:t>
                </a:r>
              </a:p>
              <a:p>
                <a:pPr algn="ctr"/>
                <a:r>
                  <a:rPr lang="en-US" sz="1200" b="0" dirty="0">
                    <a:solidFill>
                      <a:srgbClr val="01CF7C"/>
                    </a:solidFill>
                    <a:latin typeface="Roboto"/>
                  </a:rPr>
                  <a:t>         usable observations.</a:t>
                </a:r>
                <a:endParaRPr sz="1200" b="0" dirty="0">
                  <a:solidFill>
                    <a:srgbClr val="01CF7C"/>
                  </a:solidFill>
                  <a:latin typeface="Roboto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DFCA519-B5BA-114C-9429-8FFDAD722500}"/>
                  </a:ext>
                </a:extLst>
              </p:cNvPr>
              <p:cNvSpPr txBox="1"/>
              <p:nvPr/>
            </p:nvSpPr>
            <p:spPr>
              <a:xfrm>
                <a:off x="2076602" y="2343150"/>
                <a:ext cx="1379492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endParaRPr sz="1100" b="0" dirty="0">
                  <a:solidFill>
                    <a:srgbClr val="484848"/>
                  </a:solidFill>
                  <a:latin typeface="Roboto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5CC34AE-32AF-1FF7-4D1E-A216DACE4256}"/>
                  </a:ext>
                </a:extLst>
              </p:cNvPr>
              <p:cNvSpPr txBox="1"/>
              <p:nvPr/>
            </p:nvSpPr>
            <p:spPr>
              <a:xfrm>
                <a:off x="2044826" y="2446770"/>
                <a:ext cx="1379492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marL="171450" indent="-171450" algn="ctr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rgbClr val="01CF7C"/>
                    </a:solidFill>
                    <a:latin typeface="Roboto"/>
                  </a:rPr>
                  <a:t>Change proven by</a:t>
                </a:r>
                <a:endParaRPr lang="en-IN" sz="1200" dirty="0">
                  <a:solidFill>
                    <a:srgbClr val="01CF7C"/>
                  </a:solidFill>
                  <a:latin typeface="Roboto"/>
                </a:endParaRPr>
              </a:p>
              <a:p>
                <a:pPr algn="ctr"/>
                <a:r>
                  <a:rPr lang="en-US" sz="1200" dirty="0">
                    <a:solidFill>
                      <a:srgbClr val="01CF7C"/>
                    </a:solidFill>
                    <a:latin typeface="Roboto"/>
                  </a:rPr>
                  <a:t>           persistent anomalies.</a:t>
                </a:r>
              </a:p>
              <a:p>
                <a:pPr marL="171450" indent="-171450" algn="ctr">
                  <a:buFont typeface="Arial" panose="020B0604020202020204" pitchFamily="34" charset="0"/>
                  <a:buChar char="•"/>
                </a:pPr>
                <a:endParaRPr sz="1200" b="0" dirty="0">
                  <a:solidFill>
                    <a:srgbClr val="01CF7C"/>
                  </a:solidFill>
                  <a:latin typeface="Roboto"/>
                </a:endParaRPr>
              </a:p>
            </p:txBody>
          </p:sp>
        </p:grpSp>
      </p:grpSp>
      <p:sp>
        <p:nvSpPr>
          <p:cNvPr id="17474" name="TextBox 17473">
            <a:extLst>
              <a:ext uri="{FF2B5EF4-FFF2-40B4-BE49-F238E27FC236}">
                <a16:creationId xmlns:a16="http://schemas.microsoft.com/office/drawing/2014/main" id="{4E32AC89-DD4F-511D-D837-E633033ACB65}"/>
              </a:ext>
            </a:extLst>
          </p:cNvPr>
          <p:cNvSpPr txBox="1"/>
          <p:nvPr/>
        </p:nvSpPr>
        <p:spPr>
          <a:xfrm>
            <a:off x="5262279" y="1263434"/>
            <a:ext cx="2246269" cy="221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IN" sz="1600" b="1" dirty="0">
                <a:solidFill>
                  <a:srgbClr val="4848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RESEARCH FOUNDATION</a:t>
            </a:r>
            <a:endParaRPr sz="1600" b="1" dirty="0">
              <a:solidFill>
                <a:srgbClr val="4848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7478" name="TextBox 17477">
            <a:extLst>
              <a:ext uri="{FF2B5EF4-FFF2-40B4-BE49-F238E27FC236}">
                <a16:creationId xmlns:a16="http://schemas.microsoft.com/office/drawing/2014/main" id="{59480791-5424-DD48-CCFE-EAA66BF5B1CA}"/>
              </a:ext>
            </a:extLst>
          </p:cNvPr>
          <p:cNvSpPr txBox="1"/>
          <p:nvPr/>
        </p:nvSpPr>
        <p:spPr>
          <a:xfrm>
            <a:off x="1160899" y="1231419"/>
            <a:ext cx="2246269" cy="221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IN" sz="1600" b="1" dirty="0">
                <a:solidFill>
                  <a:srgbClr val="4848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SATQUERY ARC – UI Design</a:t>
            </a:r>
            <a:endParaRPr sz="1600" b="1" dirty="0">
              <a:solidFill>
                <a:srgbClr val="4848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CF80FA8-771F-024B-1D07-EBC44CCC62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669" y="4223228"/>
            <a:ext cx="2843543" cy="1637423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CE5A8AF8-3847-7A18-1D43-F81FDD68C570}"/>
              </a:ext>
            </a:extLst>
          </p:cNvPr>
          <p:cNvGrpSpPr/>
          <p:nvPr/>
        </p:nvGrpSpPr>
        <p:grpSpPr>
          <a:xfrm>
            <a:off x="170512" y="1483100"/>
            <a:ext cx="4252471" cy="2336731"/>
            <a:chOff x="259630" y="1912485"/>
            <a:chExt cx="3722645" cy="201633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F978A9C-89D5-CE66-A06C-14DE955DFF4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9630" y="1912485"/>
              <a:ext cx="3722645" cy="2016330"/>
            </a:xfrm>
            <a:prstGeom prst="rect">
              <a:avLst/>
            </a:prstGeom>
          </p:spPr>
        </p:pic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5013880-321D-B5AF-E053-EEAF27968E1F}"/>
                </a:ext>
              </a:extLst>
            </p:cNvPr>
            <p:cNvGrpSpPr/>
            <p:nvPr/>
          </p:nvGrpSpPr>
          <p:grpSpPr>
            <a:xfrm>
              <a:off x="687359" y="2043291"/>
              <a:ext cx="2855853" cy="1680791"/>
              <a:chOff x="687359" y="2043291"/>
              <a:chExt cx="2855853" cy="1680791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E5D1EB82-87B1-3390-2939-CE6523D27E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94409" y="2060243"/>
                <a:ext cx="2848803" cy="1663839"/>
              </a:xfrm>
              <a:prstGeom prst="rect">
                <a:avLst/>
              </a:prstGeom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576519CE-6B98-A02B-6898-155B01B3EB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87359" y="2043291"/>
                <a:ext cx="1841405" cy="1123127"/>
              </a:xfrm>
              <a:prstGeom prst="rect">
                <a:avLst/>
              </a:prstGeom>
            </p:spPr>
          </p:pic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8B63D25-C4E3-A9D6-3772-BDEB5A965D68}"/>
              </a:ext>
            </a:extLst>
          </p:cNvPr>
          <p:cNvGrpSpPr/>
          <p:nvPr/>
        </p:nvGrpSpPr>
        <p:grpSpPr>
          <a:xfrm>
            <a:off x="88490" y="3790255"/>
            <a:ext cx="4376785" cy="2316104"/>
            <a:chOff x="279098" y="4090028"/>
            <a:chExt cx="3722645" cy="201633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9E5D0DE-3562-85DC-F3A0-C9F23560E7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79098" y="4090028"/>
              <a:ext cx="3722645" cy="2016330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CF323292-673F-5585-9522-14F9E17BB7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29622" y="4241052"/>
              <a:ext cx="2869666" cy="1637423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D7BF9C1-A6E1-5E5E-4B1B-532C2BE9723A}"/>
              </a:ext>
            </a:extLst>
          </p:cNvPr>
          <p:cNvSpPr txBox="1"/>
          <p:nvPr/>
        </p:nvSpPr>
        <p:spPr>
          <a:xfrm>
            <a:off x="8512617" y="5561871"/>
            <a:ext cx="3657155" cy="5207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cs typeface="Times New Roman" panose="02020603050405020304" pitchFamily="18" charset="0"/>
              </a:rPr>
              <a:t>Website Hosted URL –  </a:t>
            </a:r>
            <a:r>
              <a:rPr lang="en-US" sz="1200" b="1" dirty="0">
                <a:cs typeface="Times New Roman" panose="02020603050405020304" pitchFamily="18" charset="0"/>
                <a:hlinkClick r:id="rId13"/>
              </a:rPr>
              <a:t>https://satquery-arc.vercel.app</a:t>
            </a:r>
            <a:endParaRPr lang="en-US" sz="1200" b="1" dirty="0"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cs typeface="Times New Roman" panose="02020603050405020304" pitchFamily="18" charset="0"/>
              </a:rPr>
              <a:t>YouTube Demo URL –  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8678</TotalTime>
  <Words>1018</Words>
  <Application>Microsoft Office PowerPoint</Application>
  <PresentationFormat>Widescreen</PresentationFormat>
  <Paragraphs>328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ＭＳ Ｐゴシック</vt:lpstr>
      <vt:lpstr>Arial</vt:lpstr>
      <vt:lpstr>Calibri</vt:lpstr>
      <vt:lpstr>Garamond</vt:lpstr>
      <vt:lpstr>Montserrat</vt:lpstr>
      <vt:lpstr>Roboto</vt:lpstr>
      <vt:lpstr>Shantell Sans</vt:lpstr>
      <vt:lpstr>Times New Roman</vt:lpstr>
      <vt:lpstr>TradeGothic</vt:lpstr>
      <vt:lpstr>Office Theme</vt:lpstr>
      <vt:lpstr>SMART INDIA HACKATHON 2026</vt:lpstr>
      <vt:lpstr>SatQuery ARC  Archive Search &amp; Verified Change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Shamanth MS</cp:lastModifiedBy>
  <cp:revision>180</cp:revision>
  <dcterms:created xsi:type="dcterms:W3CDTF">2013-12-12T18:46:50Z</dcterms:created>
  <dcterms:modified xsi:type="dcterms:W3CDTF">2026-09-29T13:10:17Z</dcterms:modified>
  <cp:category/>
</cp:coreProperties>
</file>